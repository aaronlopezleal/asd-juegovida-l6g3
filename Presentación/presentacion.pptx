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Speedup versiones CPU (escala lineal, sin CUDA)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Speedup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V3 (8h)</c:v>
                </c:pt>
                <c:pt idx="3">
                  <c:v>V4 (8p)</c:v>
                </c:pt>
                <c:pt idx="4">
                  <c:v>V5 (4p×2h)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1.24</c:v>
                </c:pt>
                <c:pt idx="2">
                  <c:v>6.27</c:v>
                </c:pt>
                <c:pt idx="3">
                  <c:v>6.19</c:v>
                </c:pt>
                <c:pt idx="4">
                  <c:v>10.32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Codigo/V1_secuencial_base.c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Resultados/resultados.xlsx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Codigo/V2_memoria_contigua.cp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Codigo/V3_openmp.cpp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Codigo/V4_mpi.c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Codigo/V5_hibrida_mpi_openmp.c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gonta/Desktop/ASD-JuegoVida-L6G3-main (1)/ASD-JuegoVida-L6G3-main/Codigo/V6_cuda.cu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file:///C:/Users/gonta/Desktop/ASD-JuegoVida-L6G3-main (1)/ASD-JuegoVida-L6G3-main/Resultados/resultados.xlsx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88952" cy="30175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429000"/>
            <a:ext cx="12188952" cy="128016"/>
          </a:xfrm>
          <a:prstGeom prst="rect">
            <a:avLst/>
          </a:prstGeom>
          <a:solidFill>
            <a:srgbClr val="7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Optimización y Paralelización 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E4F7"/>
                </a:solidFill>
                <a:latin typeface="Calibri"/>
              </a:rPr>
              <a:t>Juego de la Vida de Conway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Arquitectura de Sistemas Distribuidos  |  Grupo L6G3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Aaron López Leal   ·   Gonzalo Benítez Barquero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4F7"/>
                </a:solidFill>
                <a:latin typeface="Calibri"/>
              </a:rP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07008"/>
            <a:ext cx="539496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1.  Arquitectura utilizada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83664"/>
            <a:ext cx="539496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5681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2.  El Juego de la Vida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539496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3347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3.  Solución Secuencial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36976"/>
            <a:ext cx="539496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7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4.  Análisis de Dependencias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13632"/>
            <a:ext cx="539496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986783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5.  Ley de Amdahl · Modelo del Tejado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90288"/>
            <a:ext cx="539496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6.  Overview de Técnicas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266944"/>
            <a:ext cx="539496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3400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7.  Metodología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207008"/>
            <a:ext cx="548640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2801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8.   V2 · Memoria Contigua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883664"/>
            <a:ext cx="54864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956815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9.   V3 · OpenMP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560320"/>
            <a:ext cx="548640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6334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10. V4 · MPI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236976"/>
            <a:ext cx="54864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11. V5 · MPI + OpenMP  (Combinadas)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913632"/>
            <a:ext cx="548640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9867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12. V6 · CUDA GPU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90288"/>
            <a:ext cx="54864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663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13. Resultados: Comparación y Discusión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266944"/>
            <a:ext cx="5486400" cy="6400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3400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564"/>
                </a:solidFill>
                <a:latin typeface="Calibri"/>
              </a:rPr>
              <a:t>14. 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Arquitectura Utilizada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Plataforma de experimentación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  <a:latin typeface="Calibri"/>
              </a:rPr>
              <a:t>Plataforma Local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81328"/>
          <a:ext cx="71323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Especificación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CPU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Intel Core i5-14600KF  (~3.5 GHz, Turbo 5.3 GHz)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Núcleos / Hilos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14 núcleos (6P + 8E)  /  20 hilos lógicos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Caché L1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48 KB datos + 32 KB instruc. por P-core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Caché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 MB por P-core  ·  4 MB por 4 E-cores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Caché L3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24 MB compartida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32 GB DDR5 4800 MHz (Corsair)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GPU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NVIDIA GeForce RTX 4060  ·  3072 CUDA cores  ·  8 GB GDDR6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SO / Compilador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Windows 11 Home  ·  Visual Studio Release x64  ·  /O2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1704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  <a:latin typeface="Calibri"/>
              </a:rPr>
              <a:t>Plataforma Clúster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481328"/>
          <a:ext cx="4114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Entorno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Clúster de la asignatura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 VMs Ubuntu 24.04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L6G3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Compilador 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mpicxx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Ejecución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mpirun + hostfile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OpenMP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-fopenmp · OMP_NUM_THREADS=2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30368"/>
            <a:ext cx="11430000" cy="475488"/>
          </a:xfrm>
          <a:prstGeom prst="rect">
            <a:avLst/>
          </a:prstGeom>
          <a:solidFill>
            <a:srgbClr val="1F3564"/>
          </a:solidFill>
          <a:ln w="12700">
            <a:solidFill>
              <a:srgbClr val="7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285231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Local: Intel i5-14600KF · 20 hilos lógicos · 24 MB L3 · RTX 4060 · Windows 11 · MSVC /O2     |     Clúster: 3 VMs Ubuntu 24.04 · gcc -O2 · 4 proc. MPI · 2 hilos OMP/proc.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Juego de la Vida de Conway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Definición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  <a:latin typeface="Calibri"/>
              </a:rPr>
              <a:t>¿Qué 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17904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Calibri"/>
              </a:rPr>
              <a:t>Autómata celular 2D sobre una matriz N×N.
Cada celda: VIVA (1) o MUERTA (0).
Estado actualizado cada generación según sus 8 vecinos.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50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  <a:latin typeface="Calibri"/>
              </a:rPr>
              <a:t>Reglas de Conway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61488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Viva + 2 ó 3 vecinas vivas  →  sobrevive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Viva + &lt; 2 vecinas  →  muere (soledad)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Viva + &gt; 3 vecinas  →  muere (sobrepoblación)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Muerta + exactamente 3 vecinas  →  nace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8646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  <a:latin typeface="Calibri"/>
              </a:rPr>
              <a:t>Objetivo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75504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Calibri"/>
              </a:rPr>
              <a:t>Analizar, optimizar y paralelizar la simulación.
Comparar rendimiento de distintas técnicas.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07008"/>
            <a:ext cx="5852160" cy="5166360"/>
          </a:xfrm>
          <a:prstGeom prst="rect">
            <a:avLst/>
          </a:prstGeom>
          <a:solidFill>
            <a:srgbClr val="F2F2F2"/>
          </a:solidFill>
          <a:ln w="6350">
            <a:solidFill>
              <a:srgbClr val="D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29844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  <a:latin typeface="Calibri"/>
              </a:rPr>
              <a:t>Parámetros de simulación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27632"/>
            <a:ext cx="5669280" cy="47548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71907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050"/>
                </a:solidFill>
                <a:latin typeface="Calibri"/>
              </a:rPr>
              <a:t>N (tamaño de la matriz)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17190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564"/>
                </a:solidFill>
                <a:latin typeface="Calibri"/>
              </a:rPr>
              <a:t>1 000 × 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121408"/>
            <a:ext cx="5669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2212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050"/>
                </a:solidFill>
                <a:latin typeface="Calibri"/>
              </a:rPr>
              <a:t>Generaciones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22128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564"/>
                </a:solidFill>
                <a:latin typeface="Calibri"/>
              </a:rPr>
              <a:t>1 000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615184"/>
            <a:ext cx="5669280" cy="47548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70662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050"/>
                </a:solidFill>
                <a:latin typeface="Calibri"/>
              </a:rPr>
              <a:t>Repeticiones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7066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564"/>
                </a:solidFill>
                <a:latin typeface="Calibri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108960"/>
            <a:ext cx="5669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2004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050"/>
                </a:solidFill>
                <a:latin typeface="Calibri"/>
              </a:rPr>
              <a:t>Semilla aleatoria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2004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564"/>
                </a:solidFill>
                <a:latin typeface="Calibri"/>
              </a:rPr>
              <a:t>12 345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602736"/>
            <a:ext cx="5669280" cy="47548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69417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050"/>
                </a:solidFill>
                <a:latin typeface="Calibri"/>
              </a:rPr>
              <a:t>Prob. celda viva inicial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369417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564"/>
                </a:solidFill>
                <a:latin typeface="Calibri"/>
              </a:rPr>
              <a:t>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096512"/>
            <a:ext cx="5669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41879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050"/>
                </a:solidFill>
                <a:latin typeface="Calibri"/>
              </a:rPr>
              <a:t>Células vivas finales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41879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564"/>
                </a:solidFill>
                <a:latin typeface="Calibri"/>
              </a:rPr>
              <a:t>43 306  ← validación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6451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Vecindad de Moore: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4937760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04304" y="4937760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4928" y="4937760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0" y="5358384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04304" y="5358384"/>
            <a:ext cx="384048" cy="384048"/>
          </a:xfrm>
          <a:prstGeom prst="rect">
            <a:avLst/>
          </a:prstGeom>
          <a:solidFill>
            <a:srgbClr val="1F3564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04304" y="53583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24928" y="5358384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0" y="5779008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04304" y="5779008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24928" y="5779008"/>
            <a:ext cx="384048" cy="384048"/>
          </a:xfrm>
          <a:prstGeom prst="rect">
            <a:avLst/>
          </a:prstGeom>
          <a:solidFill>
            <a:srgbClr val="D6E4F7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7" y="51206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F3564"/>
                </a:solidFill>
                <a:latin typeface="Calibri"/>
              </a:rPr>
              <a:t>← celda objetivo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Solución Secuencial —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Implementación base con vector&lt;vector&lt;int&gt;&gt;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389120" cy="25603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16152"/>
            <a:ext cx="42428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Pseudocódigo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4389120" cy="274320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4206240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Inicializar matriz (interior al 30%; bordes = 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PARA g = 0 .. 999: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PARA cada celda interior (i, j):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  vecinosVivos = suma 8 vecinos en grid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  APLICAR reglas de Conway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  → escribir resultado en nextGrid[i][j]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std::swap(grid, nextGrid)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Contar células vivas finales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188720"/>
            <a:ext cx="6858000" cy="25603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56632" y="1216152"/>
            <a:ext cx="67116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Código clave — V1_secuencial_base.cpp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463040"/>
            <a:ext cx="6858000" cy="384048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536192"/>
            <a:ext cx="6675120" cy="3694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// Doble buffer: sin condiciones de carrera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std::vector&lt;std::vector&lt;int&gt;&gt; grid(N, std::vector&lt;int&gt;(N,0));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std::vector&lt;std::vector&lt;int&gt;&gt; nextGrid(N, std::vector&lt;int&gt;(N,0));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// Núcleo del cálculo (celda interior)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int vecinosVivos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  actual[i-1][j-1] + actual[i-1][j] + actual[i-1][j+1] 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  actual[i  ][j-1]                  + actual[i  ][j+1] 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  actual[i+1][j-1] + actual[i+1][j] + actual[i+1][j+1];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if (actual[i][j]==1 &amp;&amp; (vecinosVivos==2 || vecinosVivos==3))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    siguiente[i][j] = 1;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else if (actual[i][j]==0 &amp;&amp; vecinosVivos==3)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    siguiente[i][j] = 1;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else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    siguiente[i][j] = 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// Intercambio O(1) sin copiar la matriz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CBD2E0"/>
                </a:solidFill>
                <a:latin typeface="Consolas"/>
              </a:rPr>
              <a:t>std::swap(grid, nextGrid);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1596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Limitación de V1: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99432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vector&lt;vector&lt;int&gt;&gt;: filas no contiguas en memoria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Saltos de puntero en cada acceso → fallo de caché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Solución: V2 aplana a un único vector&lt;int&gt;</a:t>
            </a:r>
          </a:p>
        </p:txBody>
      </p:sp>
      <p:sp>
        <p:nvSpPr>
          <p:cNvPr id="15" name="Rectangle 14">
            <a:hlinkClick r:id="rId2"/>
          </p:cNvPr>
          <p:cNvSpPr/>
          <p:nvPr/>
        </p:nvSpPr>
        <p:spPr>
          <a:xfrm>
            <a:off x="4983480" y="5577840"/>
            <a:ext cx="6858000" cy="320040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V1_secuencial_base.cpp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Análisis de Dependencias y Paralelismo Disponible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  <a:latin typeface="Calibri"/>
              </a:rPr>
              <a:t>Dependencia temporal (no paralelizable entre generaciones)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99616"/>
            <a:ext cx="11430000" cy="96012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72768"/>
            <a:ext cx="11247120" cy="813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Generación g   →   Generación g + 1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No se puede calcular g+1 sin completar íntegramente 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7860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240"/>
                </a:solidFill>
                <a:latin typeface="Calibri"/>
              </a:rPr>
              <a:t>Independencia intra-generación — paralelismo de datos disponible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8950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Con doble buffer, cada celda (i,j) de la generación g solo lee de grid y escribe en nextGrid en una posición distinta para cada hilo. No existe condición de carrera.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478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  <a:latin typeface="Calibri"/>
              </a:rPr>
              <a:t>Tipos de paralelismo explotados en el proyecto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858768"/>
          <a:ext cx="11430000" cy="275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Aplicación en el proyecto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ILP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Instrucción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Operaciones independientes al contar vecinos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DLP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Datos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Mismo cálculo aplicado a todas las celdas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TLP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Hilos (OMP)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Reparto de filas entre hilos OpenMP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Distrib.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Procesos (MPI)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Bloques de filas entre procesos 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Híbrido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 + OpenMP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 entre nodos · OMP dentro de cada proceso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CUDA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 hilo lógico CUDA por celda — paralelismo masivo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Ley de Amdahl y Modelo del Tejado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4114800" cy="25603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197864"/>
            <a:ext cx="39684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Ley de Amdahl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4114800" cy="1600199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3931920" cy="14538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>        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>S(n) = 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>       (1–P) + P/n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>P = fracción paralelizable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>n = unidades de ejecución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CBD2E0"/>
                </a:solidFill>
                <a:latin typeface="Consolas"/>
              </a:rPr>
              <a:t>1–P = parte siempre secuencial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272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Partes no paralelizables: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19856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Inicialización y conteo final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Sincronización entre generaciones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Intercambio de filas fantasma (MPI)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Transferencias CPU↔GPU si se mide ejecución completa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MPI_Reduce para resultado global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170432"/>
            <a:ext cx="7132320" cy="25603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1197864"/>
            <a:ext cx="6986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Modelo del Tejado — Intensidad Aritmética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444752"/>
            <a:ext cx="7132320" cy="1828799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1517904"/>
            <a:ext cx="6949440" cy="16824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Por celda: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Lecturas:  9 enteros × 4 B = 36 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Escritura: 1 entero  × 4 B =  4 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Total:                    ≈ 40 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Ops: ~8 sumas + 2 comparaciones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Intensidad aritmética aproximada ≈ 10 ops / 40 B = 0.25 ops/byte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  → Limitado por ancho de banda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64992"/>
            <a:ext cx="7132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Rendimiento limitado por ancho de banda de memoria, no por CPU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V2 mejora localidad espacial → mejor aprovechamiento de caché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Añadir más hilos/procesos no produce aceleración lineal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CUDA aporta paralelismo masivo y alto ancho de banda de memoria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10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Speedup teórico máximo — Ley de Amdahl  (valores calculados)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303520"/>
          <a:ext cx="11430000" cy="1344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22402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Hilos / Procesos (n)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 = 0.90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 = 0.95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 = 0.99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 = 0.999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1.82×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1.98×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2.00×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3.08×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3.48×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3.88×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3.99×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4.71×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5.93×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7.48×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7.94×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6.40×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9.14×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13.91×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15.75×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∞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10.00×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20.00×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100.00×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∞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Overview de Técnicas de Paralelización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07008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Tiempo (local)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Secuencial base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vector&lt;vector&lt;int&gt;&gt;, doble buffer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1.927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Memoria contigua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vector&lt;int&gt; plano, acceso i*N+j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1.560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1.24×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OpenMP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#pragma omp parallel for, 8 hilos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0.307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6.27×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Reparto de filas + filas fantasma, 8 proc.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0.311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V5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 + OpenMP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Híbrida: 8 proc. MPI × 2 hilos OMP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0.187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10.32×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CUDA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RTX 4060 — 1 hilo lógico CUDA por celda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0.018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106.17×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572000"/>
            <a:ext cx="11430000" cy="566928"/>
          </a:xfrm>
          <a:prstGeom prst="rect">
            <a:avLst/>
          </a:prstGeom>
          <a:solidFill>
            <a:srgbClr val="1F3564"/>
          </a:solidFill>
          <a:ln w="12700">
            <a:solidFill>
              <a:srgbClr val="7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62686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Todas las versiones producen exactamente 43 306 células vivas con los mismos parámetros (N=1000, generaciones=1000, semilla=12345, P_viva=30%).  La validación cruzada garantiza la corrección de cada implementación.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2852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Progresión del speedup: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596128"/>
            <a:ext cx="733044" cy="16002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591556"/>
            <a:ext cx="105156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V1 · Secuencial  1.0×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74436"/>
            <a:ext cx="906780" cy="160020"/>
          </a:xfrm>
          <a:prstGeom prst="rect">
            <a:avLst/>
          </a:prstGeom>
          <a:solidFill>
            <a:srgbClr val="50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769864"/>
            <a:ext cx="105156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V2 · Memoria  1.24×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952744"/>
            <a:ext cx="4547996" cy="1600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48172"/>
            <a:ext cx="105156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V3 · OpenMP  6.27×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131052"/>
            <a:ext cx="4490085" cy="160020"/>
          </a:xfrm>
          <a:prstGeom prst="rect">
            <a:avLst/>
          </a:prstGeom>
          <a:solidFill>
            <a:srgbClr val="2E9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126480"/>
            <a:ext cx="105156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V4 · MPI  6.19×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6309360"/>
            <a:ext cx="7479792" cy="160020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04788"/>
            <a:ext cx="105156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V5 · Híbrida  10.32×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87668"/>
            <a:ext cx="8695944" cy="160020"/>
          </a:xfrm>
          <a:prstGeom prst="rect">
            <a:avLst/>
          </a:prstGeom>
          <a:solidFill>
            <a:srgbClr val="C0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83096"/>
            <a:ext cx="105156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V6 · CUDA  106.17×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Parámetros fijos y medición de tiempos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486400" cy="25603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16152"/>
            <a:ext cx="5340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Parámetros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486400" cy="224028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303520" cy="2093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const int N            = 1000;   // matriz 1000×1000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const int GENERACIONES = 1000;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const int REPETICIONES =    5;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const int SEMILLA      = 12345;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const double PROB_VIVA =  0.30;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// Resultado esperado en todos los experimentos: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//   Células vivas finales = 43 306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79476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Método de medición del tiempo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V1, V2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std::chrono::high_resolution_clock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omp_get_wtime()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V4, V5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MPI_Wtime()  +  MPI_Reduce MPI_MAX (proceso más lento = tiempo total)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cudaEventElapsedTime() — kernels GPU (transferencias no incluidas)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0" y="1188720"/>
            <a:ext cx="5943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Se toma el mejor tiempo de 5 repeticiones para reducir ruido térmico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Compilación Release con /O2 en Windows · -O2 en Linux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MPI local: Microsoft MPI · Clúster: mpicxx + mpirun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Mismo estado inicial garantizado por semilla fija (SEMILLA=12345)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Comandos de ejecución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944368"/>
            <a:ext cx="5943600" cy="242316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017520"/>
            <a:ext cx="5760720" cy="22768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# Ejemplos de ejecución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g++ V3_openmp.cpp -O2 -fopenmp -o v3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OMP_NUM_THREADS=8 ./v3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mpicxx V4_mpi.cpp -O2 -o v4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mpirun -np 8 ./v4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nvcc V6_cuda.cu -O2 -o v6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CBD2E0"/>
                </a:solidFill>
                <a:latin typeface="Consolas"/>
              </a:rPr>
              <a:t>./v6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365760" y="6291072"/>
            <a:ext cx="11430000" cy="347472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resultados completos — resultados.xlsx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V2 — Optimización de Memoria Contigua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Decisiones de implementación y riesgos evitados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577840" cy="256032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97864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Código Implementado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5577840" cy="356616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94959" cy="34198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vector&lt;int&gt; plano — memoria CONTIGUA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std::vector&lt;int&gt; grid(N * N, 0);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std::vector&lt;int&gt; nextGrid(N * N, 0);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inline int idx(int i, int j)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return i * N + j;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Precálculo de offsets de fila (una vez por i)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int filaAnterior  = (i - 1) * 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int filaActual    = i * 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int filaSiguiente = (i + 1) * 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int vecinosVivos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actual[filaAnterior+j-1] + actual[filaAnterior+j]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+ actual[filaAnterior+j+1] + actual[filaActual+j-1]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+ actual[filaActual+j+1]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+ actual[filaSiguiente+j-1]+ actual[filaSiguiente+j]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+ actual[filaSiguiente+j+1];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70432"/>
            <a:ext cx="5669280" cy="256032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197864"/>
            <a:ext cx="5522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Alternativa descartada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44752"/>
            <a:ext cx="5669280" cy="356616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17904"/>
            <a:ext cx="5486400" cy="34198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Alternativa: raw pointer con new/delete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int* grid = new int[N * N]();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int* next = new int[N * N]();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for (int i = 1; i &lt; N-1; i++)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for (int j = 1; j &lt; N-1; j++)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// Sin precálculo de offsets de fila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int n = grid[(i-1)*N+j-1]+grid[(i-1)*N+j]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   +grid[(i-1)*N+j+1]+grid[i*N+j-1]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   +grid[i*N+j+1]+grid[(i+1)*N+j-1]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   +grid[(i+1)*N+j]+grid[(i+1)*N+j+1];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// Ternario poco legible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next[i*N+j]=(grid[i*N+j]?(n==2||n==3):(n==3))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         ? 1 : 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⚠ Sin RAII — liberar manualmente: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delete[] grid; delete[] next;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084064"/>
            <a:ext cx="5577840" cy="219456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Ventajas del código implementado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321808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RAII con std::vector: sin fugas de memoria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Precálculo i*N fuera del bucle interior: menos multiplicaciones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std::fill para inicializar toda la memoria de golpe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84064"/>
            <a:ext cx="5669280" cy="219456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5102352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Riesgos de la alternativa descartada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321808"/>
            <a:ext cx="5669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Raw pointer: si hay excepción, fuga de memoria garantizada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Recalcula (i-1)*N, i*N, (i+1)*N en cada iteración de j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Condición ternaria dificulta legibilidad y mantenimiento</a:t>
            </a:r>
          </a:p>
        </p:txBody>
      </p:sp>
      <p:sp>
        <p:nvSpPr>
          <p:cNvPr id="19" name="Rectangle 18">
            <a:hlinkClick r:id="rId2"/>
          </p:cNvPr>
          <p:cNvSpPr/>
          <p:nvPr/>
        </p:nvSpPr>
        <p:spPr>
          <a:xfrm>
            <a:off x="365760" y="6492240"/>
            <a:ext cx="5577840" cy="292608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V2_memoria_contigua.cpp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V3 — OpenMP: Paralelismo de Hilos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Decisiones de implementación y riesgos evitados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577840" cy="256032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97864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Código Implementado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5577840" cy="388620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94959" cy="3739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Configuración explícita de hilos: 1, 2, 4, 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omp_set_num_threads(numThreads);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Paralelizar solo el bucle exterior (por filas)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#pragma omp parallel for schedule(static)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for (int i = 1; i &lt; N - 1; ++i)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int filaAnterior  = (i - 1) * 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int filaActual    = i * 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int filaSiguiente = (i + 1) * 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for (int j = 1; j &lt; N - 1; ++j)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// Escribe en siguiente[filaActual+j]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// → distintas posiciones por hilo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// → sin condición de carrera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Conteo final también paralelo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#pragma omp parallel for reduction(+:total)\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schedule(static)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for (int i = 0; i &lt; N * N; ++i)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total += grid[i];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70432"/>
            <a:ext cx="5669280" cy="256032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197864"/>
            <a:ext cx="5522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Alternativa descartada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44752"/>
            <a:ext cx="5669280" cy="388620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17904"/>
            <a:ext cx="5486400" cy="3739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Alternativa: collapse(2) sobre ambos bucles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#pragma omp parallel for collapse(2)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    schedule(dynamic)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for (int i = 1; i &lt; N-1; i++)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for (int j = 1; j &lt; N-1; j++)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// ⚠ Con collapse(2), las variables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//   filaAnterior, filaActual, filaSiguiente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//   deben declararse DENTRO del bucle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//   si no → race condition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int fa = (i-1)*N, fc = i*N, fs = (i+1)*N;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int n = actual[fa+j-1]+actual[fa+j]+...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  siguiente[fc+j] = ...;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⚠ schedule(dynamic): overhead innecesario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  para carga uniforme (todas las filas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  tienen exactamente el mismo trabajo)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⚠ Sin omp_set_num_threads: usa todos los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>
                <a:solidFill>
                  <a:srgbClr val="CBD2E0"/>
                </a:solidFill>
                <a:latin typeface="Consolas"/>
              </a:rPr>
              <a:t>//   disponibles — dificulta la comparación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94960"/>
            <a:ext cx="5577840" cy="219456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4132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Ventajas del código implementado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632704"/>
            <a:ext cx="5577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schedule(static): sin overhead — carga perfectamente uniforme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Num. hilos configurable para medir escalabilidad 1→2→4→8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394960"/>
            <a:ext cx="5669280" cy="219456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541324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Riesgos de la alternativa descartada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632704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collapse(2) con vars precalculadas fuera del bucle → race condition si no son privadas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schedule(dynamic) añade overhead de ~15–30% en trabajo uniforme</a:t>
            </a:r>
          </a:p>
        </p:txBody>
      </p:sp>
      <p:sp>
        <p:nvSpPr>
          <p:cNvPr id="19" name="Rectangle 18">
            <a:hlinkClick r:id="rId2"/>
          </p:cNvPr>
          <p:cNvSpPr/>
          <p:nvPr/>
        </p:nvSpPr>
        <p:spPr>
          <a:xfrm>
            <a:off x="365760" y="6492240"/>
            <a:ext cx="5577840" cy="292608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V3_openmp.cpp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V4 — MPI: Paralelismo Distribuido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Decisiones de implementación y riesgos evitados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577840" cy="256032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97864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Código Implementado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5577840" cy="416052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94959" cy="4014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Intercambio de filas fantasma con Sendrecv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(operación atómica — evita deadlocks)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if (rank &gt; 0)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MPI_Sendrecv(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&amp;gridLocal[idx(1,0)],       N, MPI_INT, rank-1,0,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&amp;gridLocal[idx(0,0)],       N, MPI_INT, rank-1,1,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MPI_COMM_WORLD, MPI_STATUS_IGNORE);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if (rank &lt; size-1)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MPI_Sendrecv(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&amp;gridLocal[idx(filasLocales,0)],  N,MPI_INT,rank+1,1,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&amp;gridLocal[idx(filasLocales+1,0)],N,MPI_INT,rank+1,0,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MPI_COMM_WORLD, MPI_STATUS_IGNORE);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Tiempo = máximo entre todos los procesos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MPI_Reduce(&amp;tiempoLocal,&amp;tiempoMaximo,1,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   MPI_DOUBLE,MPI_MAX,0,MPI_COMM_WORLD);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Células = suma global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MPI_Reduce(&amp;vivasLocales,&amp;vivasTotales,1,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   MPI_INT,MPI_SUM,0,MPI_COMM_WORLD);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70432"/>
            <a:ext cx="5669280" cy="256032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197864"/>
            <a:ext cx="5522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Alternativa descartada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44752"/>
            <a:ext cx="5669280" cy="416052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17904"/>
            <a:ext cx="5486400" cy="4014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Alternativa: Send+Recv por separado → riesgo deadlock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if (rank &gt; 0)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MPI_Send(&amp;grid[N], N, MPI_INT,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   rank-1, 0, MPI_COMM_WORLD);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MPI_Recv(&amp;grid[0], N, MPI_INT,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   rank-1, 1, MPI_COMM_WORLD, &amp;st);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if (rank &lt; size-1)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MPI_Recv(&amp;grid[(r+1)*N], N, MPI_INT,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   rank+1, 0, MPI_COMM_WORLD, &amp;st);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MPI_Send(&amp;grid[r*N], N, MPI_INT,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   rank+1, 1, MPI_COMM_WORLD);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⚠ rank=0 y rank=1 pueden bloquear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simultáneamente en MPI_Send si los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buffers del sistema están llenos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⚠ Solo guarda el tiempo local del rank 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no el máximo global — métrica incorrecta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669280"/>
            <a:ext cx="5577840" cy="219456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68756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Ventajas del código implementado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916168"/>
            <a:ext cx="5577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MPI_Sendrecv: atómico, imposible deadlock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MPI_Reduce MAX: mide el tiempo real de la simulación distribuida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669280"/>
            <a:ext cx="5669280" cy="219456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568756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Riesgos de la alternativa descartada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916168"/>
            <a:ext cx="5669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Deadlock real con ciertos schedulers y buffers pequeños de MPI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Tiempo local no refleja el cuello de botella del sistema distribuido</a:t>
            </a:r>
          </a:p>
        </p:txBody>
      </p:sp>
      <p:sp>
        <p:nvSpPr>
          <p:cNvPr id="19" name="Rectangle 18">
            <a:hlinkClick r:id="rId2"/>
          </p:cNvPr>
          <p:cNvSpPr/>
          <p:nvPr/>
        </p:nvSpPr>
        <p:spPr>
          <a:xfrm>
            <a:off x="365760" y="6492240"/>
            <a:ext cx="5577840" cy="292608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V4_mpi.cpp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V5 — MPI + OpenMP: Técnicas Combinadas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Decisiones de implementación y riesgos evitados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577840" cy="256032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97864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Código Implementado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5577840" cy="429768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94959" cy="4151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2 hilos OMP por proceso MPI (ajustado al HW)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const int THREADS_POR_PROCESO = 2;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omp_set_num_threads(THREADS_POR_PROCESO);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MPI distribuye bloques de filas entre procesos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OMP paraleliza el cálculo dentro de cada proceso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#pragma omp parallel for schedule(static)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for (int i=primeraFila; i&lt;=ultimaFila; ++i)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// Cada hilo calcula un subconjunto de filas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// de la porción local del proceso MPI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Conteo local también paralelo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#pragma omp parallel for reduction(+:total)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schedule(static)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for (int i = 1; i &lt;= filasLocales; ++i)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int sumaFila = 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for (int j = 0; j &lt; N; ++j)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sumaFila += gridLocal[idx(i,j)];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total += sumaFila;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Luego: MPI_Reduce para suma global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70432"/>
            <a:ext cx="5669280" cy="256032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197864"/>
            <a:ext cx="5522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Alternativa descartada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44752"/>
            <a:ext cx="5669280" cy="429768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17904"/>
            <a:ext cx="5486400" cy="4151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Alternativa: usa todos los hilos disponibles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sin considerar el entorno MPI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#pragma omp parallel for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schedule(dynamic)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    num_threads(omp_get_max_threads())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for (int i=primeraFila; i&lt;=ultimaFila; ++i)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    // 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⚠ schedule(dynamic): overhead innecesario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para carga uniforme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⚠ omp_get_max_threads() puede devolver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todos los cores del nodo aunque MPI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ya esté usando varios procesos en él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→ competición por CPU entre procesos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⚠ No especifica MPI_THREAD_FUNNELED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en MPI_Init_thread → posible UB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CBD2E0"/>
                </a:solidFill>
                <a:latin typeface="Consolas"/>
              </a:rPr>
              <a:t>//   si OMP lanza hilos que llaman MPI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806440"/>
            <a:ext cx="5577840" cy="219456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82472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Ventajas del código implementado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53328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2 hilos por proceso: ajustado a VMs del clúster, sin oversubscription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schedule(static) evita overhead con carga perfectamente uniforme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806440"/>
            <a:ext cx="5669280" cy="219456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582472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Riesgos de la alternativa descartada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6053328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Oversubscription en VMs → context switching degrada rendimiento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Sin nivel de thread-safety MPI → comportamiento indefinido</a:t>
            </a:r>
          </a:p>
        </p:txBody>
      </p:sp>
      <p:sp>
        <p:nvSpPr>
          <p:cNvPr id="19" name="Rectangle 18">
            <a:hlinkClick r:id="rId2"/>
          </p:cNvPr>
          <p:cNvSpPr/>
          <p:nvPr/>
        </p:nvSpPr>
        <p:spPr>
          <a:xfrm>
            <a:off x="365760" y="6492240"/>
            <a:ext cx="5577840" cy="292608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V5_hibrida_mpi_openmp.cpp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V6 — CUDA: Paralelismo Masivo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Decisiones de implementación y riesgos evitados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577840" cy="256032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97864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Código Implementado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5577840" cy="434340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94959" cy="4197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__global__ void calcularSiguienteGeneracionCUDA(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    const int* actual, int* siguiente)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j = blockIdx.x*blockDim.x + threadIdx.x;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i = blockIdx.y*blockDim.y + threadIdx.y;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if (i &gt;= N || j &gt;= N) return; // guarda límites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pos = i * N + j;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if (i==0||i==N-1||j==0||j==N-1)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{ siguiente[pos]=0; return; } // bordes muertos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n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actual[(i-1)*N+(j-1)]+actual[(i-1)*N+j]+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actual[(i-1)*N+(j+1)]+actual[i*N+(j-1)]+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actual[i*N+(j+1)]+actual[(i+1)*N+(j-1)]+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actual[(i+1)*N+j]+actual[(i+1)*N+(j+1)];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c = actual[pos];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siguiente[pos]=(c&amp;&amp;(n==2||n==3))||(!c&amp;&amp;n==3)?1:0;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// Lanzamiento con división techo (ceiling)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dim3 bloque(16, 16);   // 256 hilos/bloque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dim3 grid((N+15)/16, (N+15)/16);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calcularSiguienteGeneracionCUDA&lt;&lt;&lt;grid,bloque&gt;&gt;&gt;(...);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comprobarCuda(cudaGetLastError(), "kernel");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70432"/>
            <a:ext cx="5669280" cy="256032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197864"/>
            <a:ext cx="5522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Alternativa descartada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44752"/>
            <a:ext cx="5669280" cy="4343400"/>
          </a:xfrm>
          <a:prstGeom prst="rect">
            <a:avLst/>
          </a:prstGeom>
          <a:solidFill>
            <a:srgbClr val="1E1E2E"/>
          </a:solidFill>
          <a:ln w="9525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17904"/>
            <a:ext cx="5486400" cy="4197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__global__ void stepKernel(int* in, int* out)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x = blockIdx.x*blockDim.x + threadIdx.x;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y = blockIdx.y*blockDim.y + threadIdx.y;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// ⚠ Sin guarda if(x&gt;=N||y&gt;=N):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//   acceso fuera de memoria GPU → crash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int n = in[(y-1)*N+x-1]+in[(y-1)*N+x]+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      in[(y-1)*N+x+1]+in[y*N+x-1]+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      in[y*N+x+1]+in[(y+1)*N+x-1]+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        in[(y+1)*N+x]+in[(y+1)*N+x+1];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// ⚠ Sin manejo de bordes: celdas del borde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//   leen memoria fuera del array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  out[y*N+x]=(in[y*N+x]?(n==2||n==3):(n==3))?1:0;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// ⚠ Bloques 32×32 = 1024 hilos: al límite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// ⚠ División entera N/32: pierde celdas borde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dim3 blk(32,32); dim3 g(N/32, N/32);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stepKernel&lt;&lt;&lt;g,blk&gt;&gt;&gt;(d_in, d_out);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>
                <a:solidFill>
                  <a:srgbClr val="CBD2E0"/>
                </a:solidFill>
                <a:latin typeface="Consolas"/>
              </a:rPr>
              <a:t>// ⚠ Sin cudaGetLastError ni sincronización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852160"/>
            <a:ext cx="5577840" cy="219456"/>
          </a:xfrm>
          <a:prstGeom prst="rect">
            <a:avLst/>
          </a:prstGeom>
          <a:solidFill>
            <a:srgbClr val="00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8704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✔  Ventajas del código implementado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89904"/>
            <a:ext cx="5577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Guarda i&gt;=N||j&gt;=N: cero accesos fuera de los límites de memoria GPU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Bloques 16×16=256 hilos: mejor ocupancia que 32×32 en RTX 4060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cudaGetLastError tras cada kernel: errores detectados inmediatamente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852160"/>
            <a:ext cx="5669280" cy="219456"/>
          </a:xfrm>
          <a:prstGeom prst="rect">
            <a:avLst/>
          </a:prstGeom>
          <a:solidFill>
            <a:srgbClr val="C8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587044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⚠  Riesgos de la alternativa descartada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6089904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Sin guarda: undefined behavior en los threads del borde del CUDA grid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000000"/>
                </a:solidFill>
                <a:latin typeface="Calibri"/>
              </a:rPr>
              <a:t>• N/32 entero: celdas finales nunca se calculan si N no es múltiplo de 32</a:t>
            </a:r>
          </a:p>
        </p:txBody>
      </p:sp>
      <p:sp>
        <p:nvSpPr>
          <p:cNvPr id="19" name="Rectangle 18">
            <a:hlinkClick r:id="rId2"/>
          </p:cNvPr>
          <p:cNvSpPr/>
          <p:nvPr/>
        </p:nvSpPr>
        <p:spPr>
          <a:xfrm>
            <a:off x="365760" y="6492240"/>
            <a:ext cx="5577840" cy="292608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V6_cuda.cu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Resultados: Comparación y Discusión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N=1000 · Generaciones=1000 · Mejor de 5 repeticiones · Plataforma local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498079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615"/>
                <a:gridCol w="1499615"/>
                <a:gridCol w="1499615"/>
                <a:gridCol w="1499615"/>
                <a:gridCol w="1499619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Configuración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Mejor Tiempo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Células Vivas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Speedup vs V1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V1 · Secuencial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Base vector&lt;vector&gt;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1.927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V2 · Mem. Contigua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vector&lt;int&gt; plano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1.560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1.24×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V3 · OpenMP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 hilos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0.307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6.27×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V4 · 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 procesos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0.311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V5 · MPI + OpenMP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 proc. × 2 hilos OMP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0.187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10.32×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V6 · CUDA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RTX 4060 · bloques 16×16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0.018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106.17×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4133087"/>
          <a:ext cx="7315200" cy="25786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818120" y="1188720"/>
            <a:ext cx="4041648" cy="4846320"/>
          </a:xfrm>
          <a:prstGeom prst="rect">
            <a:avLst/>
          </a:prstGeom>
          <a:solidFill>
            <a:srgbClr val="D6E4F7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280160"/>
            <a:ext cx="3858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  <a:latin typeface="Calibri"/>
              </a:rPr>
              <a:t>CUDA — Speedup destacado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600200"/>
            <a:ext cx="3675887" cy="1417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367588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E4F7"/>
                </a:solidFill>
                <a:latin typeface="Calibri"/>
              </a:rPr>
              <a:t>106×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090672"/>
            <a:ext cx="3675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050"/>
                </a:solidFill>
                <a:latin typeface="Calibri"/>
              </a:rPr>
              <a:t>NVIDIA RTX 4060 vs V1 Secuencial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447288"/>
            <a:ext cx="40416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1.927 s  →  0.018 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3 072 CUDA cores disponibles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~10⁶ hilos CUDA lanzados por generación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Tiempo de kernels GPU; transferencias fuera de la medida principal</a:t>
            </a:r>
          </a:p>
        </p:txBody>
      </p:sp>
      <p:sp>
        <p:nvSpPr>
          <p:cNvPr id="13" name="Rectangle 12">
            <a:hlinkClick r:id="rId3"/>
          </p:cNvPr>
          <p:cNvSpPr/>
          <p:nvPr/>
        </p:nvSpPr>
        <p:spPr>
          <a:xfrm>
            <a:off x="7818120" y="6108192"/>
            <a:ext cx="4041648" cy="347472"/>
          </a:xfrm>
          <a:prstGeom prst="rect">
            <a:avLst/>
          </a:prstGeom>
          <a:solidFill>
            <a:srgbClr val="2E74B5"/>
          </a:solidFill>
          <a:ln w="635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 datos completos — resultados.xlsx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en Clúster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1323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  <a:latin typeface="Calibri"/>
              </a:rPr>
              <a:t>3 VMs Ubuntu 24.04 — Grupo L6G3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Configuración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Mejor Tiempo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Células Vivas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V4 · MPI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 procesos MPI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1.015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✔ Correcto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V5 · MPI + OpenMP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 proc. × 2 hilos 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4.025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43 306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⚠ Más lento que 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3408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  <a:latin typeface="Calibri"/>
              </a:rPr>
              <a:t>¿Por qué V5 es más lento que V4 en el clúster?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Recursos virtualizados: los cores de las VMs no son núcleos físicos dedicados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Oversubscription: procesos MPI + hilos OMP compiten por los mismos cores virtuales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Overhead de planificación del SO: el scheduler de la VM añade latencia variable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Coordinación doble: sincronización MPI y OMP simultánea amplifica la latencia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651760"/>
            <a:ext cx="5577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En la plataforma local, V5 sí superó a V4; en el clúster virtualizado no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Resultado relevante: el entorno de ejecución importa tanto como el código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Calibri"/>
              </a:rPr>
              <a:t>• Ambas versiones producen 43 306 células — corrección verificada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6227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  <a:latin typeface="Calibri"/>
              </a:rPr>
              <a:t>Comparativa Local vs. Clúster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75488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Entorno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Config.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Speedup vs V1 local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V4 · MPI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 proc.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0.311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6.19×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V4 · 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Clúster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 proc.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1.015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V5 · MPI+OMP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8p×2h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0.187 s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10.32×</a:t>
                      </a:r>
                    </a:p>
                  </a:txBody>
                  <a:tcPr>
                    <a:solidFill>
                      <a:srgbClr val="D6E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V5 · MPI+OMP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Clúster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4p×2h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4.025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0.48×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6419088"/>
            <a:ext cx="11430000" cy="365760"/>
          </a:xfrm>
          <a:prstGeom prst="rect">
            <a:avLst/>
          </a:prstGeom>
          <a:solidFill>
            <a:srgbClr val="1F3564"/>
          </a:solidFill>
          <a:ln w="12700">
            <a:solidFill>
              <a:srgbClr val="7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Conclusión del clúster: el hardware virtualizado y la sobrecarga de coordinación limitan el rendimiento híbrido. El speedup de V4 en clúster (1.90×) es inferior al local (6.19×) por la diferencia en el número de procesos (4 vs 8) y el overhead de virtualización.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5669280" cy="1600200"/>
          </a:xfrm>
          <a:prstGeom prst="rect">
            <a:avLst/>
          </a:prstGeom>
          <a:solidFill>
            <a:srgbClr val="D6E4F7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669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07008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V2 · Memoria contigua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517904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La memoria contigua mejora la localidad de caché: +19% sobre V1. Base imprescindible para las versiones paralelas.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170432"/>
            <a:ext cx="566928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170432"/>
            <a:ext cx="5669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207008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V3 · OpenMP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Speedup 6.27× con 8 hilos. Paralelismo TLP eficiente. schedule(static) adecuado para carga uniforme.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5669280" cy="1600200"/>
          </a:xfrm>
          <a:prstGeom prst="rect">
            <a:avLst/>
          </a:prstGeom>
          <a:solidFill>
            <a:srgbClr val="D6E4F7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834640"/>
            <a:ext cx="5669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87121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V4 · MPI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182112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Speedup similar a OMP (6.19×) con 8 procesos. Escalable a múltiples nodos; la sobrecarga de comunicación limita más que OMP.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834640"/>
            <a:ext cx="566928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834640"/>
            <a:ext cx="5669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87121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V5 · MPI + OpenMP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3182112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Mejor CPU local: 10.32×. Combina procesos MPI e hilos OpenMP. En clúster con VMs la sobrecarga puede invertir la ganancia.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98848"/>
            <a:ext cx="5669280" cy="1600200"/>
          </a:xfrm>
          <a:prstGeom prst="rect">
            <a:avLst/>
          </a:prstGeom>
          <a:solidFill>
            <a:srgbClr val="D6E4F7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498848"/>
            <a:ext cx="5669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5354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V6 · CUDA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846320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Aceleración 106×. El paralelismo masivo de GPU supera con creces cualquier solución CPU para este tipo de problema.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98848"/>
            <a:ext cx="566928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498848"/>
            <a:ext cx="5669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45354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Lección general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4846320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Más paralelismo ≠ más velocidad siempre. La plataforma, el ancho de banda de memoria y los costes de coordinación son determinantes.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6309360"/>
            <a:ext cx="11430000" cy="41148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336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El Juego de la Vida demuestra, en un problema sencillo, todos los niveles de paralelismo: memoria · hilos · procesos ·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