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06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8BDF8"/>
                </a:solidFill>
              </a:rPr>
              <a:t>Optimización y paralelización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</a:rPr>
              <a:t>Juego de la Vida de Conway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76072" y="1938528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OpenMP · MPI · MPI+OpenMP · CUDA · Clúster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487168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40080" y="2551176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B1020"/>
                </a:solidFill>
              </a:rPr>
              <a:t>Grupo L6G3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029968" y="2487168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F97316">
              <a:alpha val="90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103120" y="255117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B1020"/>
                </a:solidFill>
              </a:rPr>
              <a:t>ASD 2025/26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576072" y="30449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Aaron López Leal · Gonzalo Benítez Barquero</a:t>
            </a:r>
            <a:endParaRPr lang="en-US" sz="1500" dirty="0"/>
          </a:p>
        </p:txBody>
      </p:sp>
      <p:pic>
        <p:nvPicPr>
          <p:cNvPr id="10" name="Image 0" descr="/mnt/data/glider_g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416463"/>
            <a:ext cx="3291840" cy="96183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0" y="2788920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8558784" y="2788920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8887968" y="2788920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9217152" y="2788920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9546336" y="2788920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9875520" y="2788920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10204704" y="2788920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8229600" y="3118104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8558784" y="3118104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8887968" y="3118104"/>
            <a:ext cx="310896" cy="310896"/>
          </a:xfrm>
          <a:prstGeom prst="rect">
            <a:avLst/>
          </a:prstGeom>
          <a:solidFill>
            <a:srgbClr val="F97316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9217152" y="3118104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9546336" y="3118104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9875520" y="3118104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10204704" y="3118104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8229600" y="3447288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8558784" y="3447288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8887968" y="3447288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9217152" y="3447288"/>
            <a:ext cx="310896" cy="310896"/>
          </a:xfrm>
          <a:prstGeom prst="rect">
            <a:avLst/>
          </a:prstGeom>
          <a:solidFill>
            <a:srgbClr val="F97316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6"/>
          <p:cNvSpPr/>
          <p:nvPr/>
        </p:nvSpPr>
        <p:spPr>
          <a:xfrm>
            <a:off x="9546336" y="3447288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9875520" y="3447288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8"/>
          <p:cNvSpPr/>
          <p:nvPr/>
        </p:nvSpPr>
        <p:spPr>
          <a:xfrm>
            <a:off x="10204704" y="3447288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29"/>
          <p:cNvSpPr/>
          <p:nvPr/>
        </p:nvSpPr>
        <p:spPr>
          <a:xfrm>
            <a:off x="8229600" y="3776472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0"/>
          <p:cNvSpPr/>
          <p:nvPr/>
        </p:nvSpPr>
        <p:spPr>
          <a:xfrm>
            <a:off x="8558784" y="3776472"/>
            <a:ext cx="310896" cy="310896"/>
          </a:xfrm>
          <a:prstGeom prst="rect">
            <a:avLst/>
          </a:prstGeom>
          <a:solidFill>
            <a:srgbClr val="F97316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1"/>
          <p:cNvSpPr/>
          <p:nvPr/>
        </p:nvSpPr>
        <p:spPr>
          <a:xfrm>
            <a:off x="8887968" y="3776472"/>
            <a:ext cx="310896" cy="310896"/>
          </a:xfrm>
          <a:prstGeom prst="rect">
            <a:avLst/>
          </a:prstGeom>
          <a:solidFill>
            <a:srgbClr val="F97316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2"/>
          <p:cNvSpPr/>
          <p:nvPr/>
        </p:nvSpPr>
        <p:spPr>
          <a:xfrm>
            <a:off x="9217152" y="3776472"/>
            <a:ext cx="310896" cy="310896"/>
          </a:xfrm>
          <a:prstGeom prst="rect">
            <a:avLst/>
          </a:prstGeom>
          <a:solidFill>
            <a:srgbClr val="F97316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3"/>
          <p:cNvSpPr/>
          <p:nvPr/>
        </p:nvSpPr>
        <p:spPr>
          <a:xfrm>
            <a:off x="9546336" y="3776472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4"/>
          <p:cNvSpPr/>
          <p:nvPr/>
        </p:nvSpPr>
        <p:spPr>
          <a:xfrm>
            <a:off x="9875520" y="3776472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5"/>
          <p:cNvSpPr/>
          <p:nvPr/>
        </p:nvSpPr>
        <p:spPr>
          <a:xfrm>
            <a:off x="10204704" y="3776472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6"/>
          <p:cNvSpPr/>
          <p:nvPr/>
        </p:nvSpPr>
        <p:spPr>
          <a:xfrm>
            <a:off x="8229600" y="4105656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7"/>
          <p:cNvSpPr/>
          <p:nvPr/>
        </p:nvSpPr>
        <p:spPr>
          <a:xfrm>
            <a:off x="8558784" y="4105656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8"/>
          <p:cNvSpPr/>
          <p:nvPr/>
        </p:nvSpPr>
        <p:spPr>
          <a:xfrm>
            <a:off x="8887968" y="4105656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39"/>
          <p:cNvSpPr/>
          <p:nvPr/>
        </p:nvSpPr>
        <p:spPr>
          <a:xfrm>
            <a:off x="9217152" y="4105656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0"/>
          <p:cNvSpPr/>
          <p:nvPr/>
        </p:nvSpPr>
        <p:spPr>
          <a:xfrm>
            <a:off x="9546336" y="4105656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1"/>
          <p:cNvSpPr/>
          <p:nvPr/>
        </p:nvSpPr>
        <p:spPr>
          <a:xfrm>
            <a:off x="9875520" y="4105656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2"/>
          <p:cNvSpPr/>
          <p:nvPr/>
        </p:nvSpPr>
        <p:spPr>
          <a:xfrm>
            <a:off x="10204704" y="4105656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3"/>
          <p:cNvSpPr/>
          <p:nvPr/>
        </p:nvSpPr>
        <p:spPr>
          <a:xfrm>
            <a:off x="8229600" y="4434840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Shape 44"/>
          <p:cNvSpPr/>
          <p:nvPr/>
        </p:nvSpPr>
        <p:spPr>
          <a:xfrm>
            <a:off x="8558784" y="4434840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45"/>
          <p:cNvSpPr/>
          <p:nvPr/>
        </p:nvSpPr>
        <p:spPr>
          <a:xfrm>
            <a:off x="8887968" y="4434840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Shape 46"/>
          <p:cNvSpPr/>
          <p:nvPr/>
        </p:nvSpPr>
        <p:spPr>
          <a:xfrm>
            <a:off x="9217152" y="4434840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7"/>
          <p:cNvSpPr/>
          <p:nvPr/>
        </p:nvSpPr>
        <p:spPr>
          <a:xfrm>
            <a:off x="9546336" y="4434840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Shape 48"/>
          <p:cNvSpPr/>
          <p:nvPr/>
        </p:nvSpPr>
        <p:spPr>
          <a:xfrm>
            <a:off x="9875520" y="4434840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49"/>
          <p:cNvSpPr/>
          <p:nvPr/>
        </p:nvSpPr>
        <p:spPr>
          <a:xfrm>
            <a:off x="10204704" y="4434840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Shape 50"/>
          <p:cNvSpPr/>
          <p:nvPr/>
        </p:nvSpPr>
        <p:spPr>
          <a:xfrm>
            <a:off x="8229600" y="4764024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1"/>
          <p:cNvSpPr/>
          <p:nvPr/>
        </p:nvSpPr>
        <p:spPr>
          <a:xfrm>
            <a:off x="8558784" y="4764024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Shape 52"/>
          <p:cNvSpPr/>
          <p:nvPr/>
        </p:nvSpPr>
        <p:spPr>
          <a:xfrm>
            <a:off x="8887968" y="4764024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3"/>
          <p:cNvSpPr/>
          <p:nvPr/>
        </p:nvSpPr>
        <p:spPr>
          <a:xfrm>
            <a:off x="9217152" y="4764024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Shape 54"/>
          <p:cNvSpPr/>
          <p:nvPr/>
        </p:nvSpPr>
        <p:spPr>
          <a:xfrm>
            <a:off x="9546336" y="4764024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Shape 55"/>
          <p:cNvSpPr/>
          <p:nvPr/>
        </p:nvSpPr>
        <p:spPr>
          <a:xfrm>
            <a:off x="9875520" y="4764024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Shape 56"/>
          <p:cNvSpPr/>
          <p:nvPr/>
        </p:nvSpPr>
        <p:spPr>
          <a:xfrm>
            <a:off x="10204704" y="4764024"/>
            <a:ext cx="310896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7"/>
          <p:cNvSpPr/>
          <p:nvPr/>
        </p:nvSpPr>
        <p:spPr>
          <a:xfrm>
            <a:off x="7818120" y="5440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</a:rPr>
              <a:t>Problema simple, paralelismo real</a:t>
            </a:r>
            <a:endParaRPr lang="en-US" sz="1900" dirty="0"/>
          </a:p>
        </p:txBody>
      </p:sp>
      <p:sp>
        <p:nvSpPr>
          <p:cNvPr id="61" name="Shape 58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59"/>
          <p:cNvSpPr/>
          <p:nvPr/>
        </p:nvSpPr>
        <p:spPr>
          <a:xfrm>
            <a:off x="530352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ASD · Juego de la Vida · L6G3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1. Problema elegido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Un autómata celular con dependencia temporal y paralelismo por celda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84123" y="1417320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255014" y="1417320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525905" y="1417320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796796" y="1417320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067687" y="1417320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338578" y="1417320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609469" y="1417320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713232" y="1688211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984123" y="1688211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1255014" y="1688211"/>
            <a:ext cx="252603" cy="252603"/>
          </a:xfrm>
          <a:prstGeom prst="rect">
            <a:avLst/>
          </a:prstGeom>
          <a:solidFill>
            <a:srgbClr val="22C55E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1525905" y="1688211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1796796" y="1688211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067687" y="1688211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2338578" y="1688211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609469" y="1688211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713232" y="1959102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984123" y="1959102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1255014" y="1959102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1525905" y="1959102"/>
            <a:ext cx="252603" cy="252603"/>
          </a:xfrm>
          <a:prstGeom prst="rect">
            <a:avLst/>
          </a:prstGeom>
          <a:solidFill>
            <a:srgbClr val="22C55E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1796796" y="1959102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2067687" y="1959102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2338578" y="1959102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2609469" y="1959102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713232" y="2229993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984123" y="2229993"/>
            <a:ext cx="252603" cy="252603"/>
          </a:xfrm>
          <a:prstGeom prst="rect">
            <a:avLst/>
          </a:prstGeom>
          <a:solidFill>
            <a:srgbClr val="22C55E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1255014" y="2229993"/>
            <a:ext cx="252603" cy="252603"/>
          </a:xfrm>
          <a:prstGeom prst="rect">
            <a:avLst/>
          </a:prstGeom>
          <a:solidFill>
            <a:srgbClr val="22C55E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1525905" y="2229993"/>
            <a:ext cx="252603" cy="252603"/>
          </a:xfrm>
          <a:prstGeom prst="rect">
            <a:avLst/>
          </a:prstGeom>
          <a:solidFill>
            <a:srgbClr val="22C55E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1796796" y="2229993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2067687" y="2229993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2338578" y="2229993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2609469" y="2229993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713232" y="2500884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984123" y="2500884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1255014" y="2500884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1525905" y="2500884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1796796" y="2500884"/>
            <a:ext cx="252603" cy="252603"/>
          </a:xfrm>
          <a:prstGeom prst="rect">
            <a:avLst/>
          </a:prstGeom>
          <a:solidFill>
            <a:srgbClr val="22C55E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2067687" y="2500884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2338578" y="2500884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2609469" y="2500884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713232" y="2771775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984123" y="2771775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1255014" y="2771775"/>
            <a:ext cx="252603" cy="252603"/>
          </a:xfrm>
          <a:prstGeom prst="rect">
            <a:avLst/>
          </a:prstGeom>
          <a:solidFill>
            <a:srgbClr val="22C55E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1525905" y="2771775"/>
            <a:ext cx="252603" cy="252603"/>
          </a:xfrm>
          <a:prstGeom prst="rect">
            <a:avLst/>
          </a:prstGeom>
          <a:solidFill>
            <a:srgbClr val="22C55E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1796796" y="2771775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Shape 47"/>
          <p:cNvSpPr/>
          <p:nvPr/>
        </p:nvSpPr>
        <p:spPr>
          <a:xfrm>
            <a:off x="2067687" y="2771775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2338578" y="2771775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Shape 49"/>
          <p:cNvSpPr/>
          <p:nvPr/>
        </p:nvSpPr>
        <p:spPr>
          <a:xfrm>
            <a:off x="2609469" y="2771775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713232" y="3042666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984123" y="3042666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1255014" y="3042666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Shape 53"/>
          <p:cNvSpPr/>
          <p:nvPr/>
        </p:nvSpPr>
        <p:spPr>
          <a:xfrm>
            <a:off x="1525905" y="3042666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1796796" y="3042666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Shape 55"/>
          <p:cNvSpPr/>
          <p:nvPr/>
        </p:nvSpPr>
        <p:spPr>
          <a:xfrm>
            <a:off x="2067687" y="3042666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2338578" y="3042666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2609469" y="3042666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Shape 58"/>
          <p:cNvSpPr/>
          <p:nvPr/>
        </p:nvSpPr>
        <p:spPr>
          <a:xfrm>
            <a:off x="713232" y="3313557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Shape 59"/>
          <p:cNvSpPr/>
          <p:nvPr/>
        </p:nvSpPr>
        <p:spPr>
          <a:xfrm>
            <a:off x="984123" y="3313557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1255014" y="3313557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Shape 61"/>
          <p:cNvSpPr/>
          <p:nvPr/>
        </p:nvSpPr>
        <p:spPr>
          <a:xfrm>
            <a:off x="1525905" y="3313557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Shape 62"/>
          <p:cNvSpPr/>
          <p:nvPr/>
        </p:nvSpPr>
        <p:spPr>
          <a:xfrm>
            <a:off x="1796796" y="3313557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Shape 63"/>
          <p:cNvSpPr/>
          <p:nvPr/>
        </p:nvSpPr>
        <p:spPr>
          <a:xfrm>
            <a:off x="2067687" y="3313557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Shape 64"/>
          <p:cNvSpPr/>
          <p:nvPr/>
        </p:nvSpPr>
        <p:spPr>
          <a:xfrm>
            <a:off x="2338578" y="3313557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Shape 65"/>
          <p:cNvSpPr/>
          <p:nvPr/>
        </p:nvSpPr>
        <p:spPr>
          <a:xfrm>
            <a:off x="2609469" y="3313557"/>
            <a:ext cx="252603" cy="252603"/>
          </a:xfrm>
          <a:prstGeom prst="rect">
            <a:avLst/>
          </a:prstGeom>
          <a:solidFill>
            <a:srgbClr val="111827"/>
          </a:solidFill>
          <a:ln w="5080">
            <a:solidFill>
              <a:srgbClr val="2530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Text 66"/>
          <p:cNvSpPr/>
          <p:nvPr/>
        </p:nvSpPr>
        <p:spPr>
          <a:xfrm>
            <a:off x="3246120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Reglas locales</a:t>
            </a:r>
            <a:endParaRPr lang="en-US" sz="2000" dirty="0"/>
          </a:p>
        </p:txBody>
      </p:sp>
      <p:sp>
        <p:nvSpPr>
          <p:cNvPr id="69" name="Shape 67"/>
          <p:cNvSpPr/>
          <p:nvPr/>
        </p:nvSpPr>
        <p:spPr>
          <a:xfrm>
            <a:off x="3291840" y="186537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Text 68"/>
          <p:cNvSpPr/>
          <p:nvPr/>
        </p:nvSpPr>
        <p:spPr>
          <a:xfrm>
            <a:off x="3456432" y="1783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Una celda lee sus 8 vecinas.</a:t>
            </a:r>
            <a:endParaRPr lang="en-US" sz="1700" dirty="0"/>
          </a:p>
        </p:txBody>
      </p:sp>
      <p:sp>
        <p:nvSpPr>
          <p:cNvPr id="71" name="Shape 69"/>
          <p:cNvSpPr/>
          <p:nvPr/>
        </p:nvSpPr>
        <p:spPr>
          <a:xfrm>
            <a:off x="3291840" y="223113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Text 70"/>
          <p:cNvSpPr/>
          <p:nvPr/>
        </p:nvSpPr>
        <p:spPr>
          <a:xfrm>
            <a:off x="3456432" y="2148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Sobrevive con 2 o 3 vecinas vivas.</a:t>
            </a:r>
            <a:endParaRPr lang="en-US" sz="1700" dirty="0"/>
          </a:p>
        </p:txBody>
      </p:sp>
      <p:sp>
        <p:nvSpPr>
          <p:cNvPr id="73" name="Shape 71"/>
          <p:cNvSpPr/>
          <p:nvPr/>
        </p:nvSpPr>
        <p:spPr>
          <a:xfrm>
            <a:off x="3291840" y="2596896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Text 72"/>
          <p:cNvSpPr/>
          <p:nvPr/>
        </p:nvSpPr>
        <p:spPr>
          <a:xfrm>
            <a:off x="3456432" y="2514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Nace si está muerta y tiene 3 vecinas vivas.</a:t>
            </a:r>
            <a:endParaRPr lang="en-US" sz="1700" dirty="0"/>
          </a:p>
        </p:txBody>
      </p:sp>
      <p:sp>
        <p:nvSpPr>
          <p:cNvPr id="75" name="Shape 73"/>
          <p:cNvSpPr/>
          <p:nvPr/>
        </p:nvSpPr>
        <p:spPr>
          <a:xfrm>
            <a:off x="3291840" y="2962656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6" name="Text 74"/>
          <p:cNvSpPr/>
          <p:nvPr/>
        </p:nvSpPr>
        <p:spPr>
          <a:xfrm>
            <a:off x="3456432" y="28803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Los bordes permanecen siempre muertos.</a:t>
            </a:r>
            <a:endParaRPr lang="en-US" sz="1700" dirty="0"/>
          </a:p>
        </p:txBody>
      </p:sp>
      <p:sp>
        <p:nvSpPr>
          <p:cNvPr id="77" name="Shape 75"/>
          <p:cNvSpPr/>
          <p:nvPr/>
        </p:nvSpPr>
        <p:spPr>
          <a:xfrm>
            <a:off x="3291840" y="3520440"/>
            <a:ext cx="4343400" cy="731520"/>
          </a:xfrm>
          <a:prstGeom prst="roundRect">
            <a:avLst>
              <a:gd name="adj" fmla="val 10000"/>
            </a:avLst>
          </a:prstGeom>
          <a:solidFill>
            <a:srgbClr val="050816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76"/>
          <p:cNvSpPr/>
          <p:nvPr/>
        </p:nvSpPr>
        <p:spPr>
          <a:xfrm>
            <a:off x="3419856" y="3630168"/>
            <a:ext cx="4087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grid      -&gt; generación actual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nextGrid  -&gt; generación siguiente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8275320" y="1417320"/>
            <a:ext cx="2834640" cy="123444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Text 78"/>
          <p:cNvSpPr/>
          <p:nvPr/>
        </p:nvSpPr>
        <p:spPr>
          <a:xfrm>
            <a:off x="8439912" y="1545336"/>
            <a:ext cx="25054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Dentro de una generación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cada celda es independiente</a:t>
            </a:r>
            <a:endParaRPr lang="en-US" sz="1700" dirty="0"/>
          </a:p>
        </p:txBody>
      </p:sp>
      <p:sp>
        <p:nvSpPr>
          <p:cNvPr id="81" name="Shape 79"/>
          <p:cNvSpPr/>
          <p:nvPr/>
        </p:nvSpPr>
        <p:spPr>
          <a:xfrm>
            <a:off x="9692640" y="2788920"/>
            <a:ext cx="0" cy="91440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2" name="Shape 80"/>
          <p:cNvSpPr/>
          <p:nvPr/>
        </p:nvSpPr>
        <p:spPr>
          <a:xfrm>
            <a:off x="8275320" y="3886200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172033"/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Text 81"/>
          <p:cNvSpPr/>
          <p:nvPr/>
        </p:nvSpPr>
        <p:spPr>
          <a:xfrm>
            <a:off x="8439912" y="4014216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Entre generaciones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existe dependencia</a:t>
            </a:r>
            <a:endParaRPr lang="en-US" sz="1700" dirty="0"/>
          </a:p>
        </p:txBody>
      </p:sp>
      <p:sp>
        <p:nvSpPr>
          <p:cNvPr id="84" name="Shape 8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5" name="Text 83"/>
          <p:cNvSpPr/>
          <p:nvPr/>
        </p:nvSpPr>
        <p:spPr>
          <a:xfrm>
            <a:off x="530352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ASD · Juego de la Vida · L6G3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2. Ruta de versiones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De un código secuencial simple a paralelismo masivo en GPU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51560" y="2176272"/>
            <a:ext cx="9372600" cy="0"/>
          </a:xfrm>
          <a:prstGeom prst="line">
            <a:avLst/>
          </a:prstGeom>
          <a:noFill/>
          <a:ln w="381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685800" y="1627632"/>
            <a:ext cx="1097280" cy="10972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020"/>
                </a:solidFill>
              </a:rPr>
              <a:t>V1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Secuencial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1627632"/>
            <a:ext cx="1097280" cy="10972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51460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020"/>
                </a:solidFill>
              </a:rPr>
              <a:t>V2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86000" y="29077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Memoria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contigua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1627632"/>
            <a:ext cx="1097280" cy="10972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34340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020"/>
                </a:solidFill>
              </a:rPr>
              <a:t>V3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0" y="29077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OpenMP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1627632"/>
            <a:ext cx="1097280" cy="10972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17220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020"/>
                </a:solidFill>
              </a:rPr>
              <a:t>V4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0" y="29077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MPI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01000" y="1627632"/>
            <a:ext cx="1097280" cy="10972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00100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020"/>
                </a:solidFill>
              </a:rPr>
              <a:t>V5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0" y="29077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Híbrida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829800" y="1627632"/>
            <a:ext cx="1097280" cy="10972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982980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020"/>
                </a:solidFill>
              </a:rPr>
              <a:t>V6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0" y="29077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CUDA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25196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</a:rPr>
              <a:t>La clave metodológica: mismo problema, mismos parámetros, misma validación.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566160" y="4892040"/>
            <a:ext cx="5029200" cy="822960"/>
          </a:xfrm>
          <a:prstGeom prst="roundRect">
            <a:avLst>
              <a:gd name="adj" fmla="val 13333"/>
            </a:avLst>
          </a:prstGeom>
          <a:solidFill>
            <a:srgbClr val="172033"/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730752" y="5020056"/>
            <a:ext cx="4700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Resultado esperado en todas las versiones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43306 células vivas finales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30352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ASD · Juego de la Vida · L6G3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3. V1 → V2: optimización secuencial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La primera mejora no es paralela: es memoria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4206240" cy="1965960"/>
          </a:xfrm>
          <a:prstGeom prst="roundRect">
            <a:avLst>
              <a:gd name="adj" fmla="val 3721"/>
            </a:avLst>
          </a:prstGeom>
          <a:solidFill>
            <a:srgbClr val="050816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59536" y="1435608"/>
            <a:ext cx="3950208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std::vector&lt;std::vector&lt;int&gt;&gt;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std::vector&lt;int&gt; grid(N * N);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idx(i,j) = i * N + j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7784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Debilidades corregidas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623560" y="181965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788152" y="17373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Menos indirecciones en memoria.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23560" y="218541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788152" y="2103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Mejor localidad espacial por filas.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23560" y="2551176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788152" y="24688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Doble buffer y swap para evitar copias.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23560" y="2916936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788152" y="2834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Inicialización reproducible con semilla.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3886200"/>
            <a:ext cx="2194560" cy="658368"/>
          </a:xfrm>
          <a:prstGeom prst="roundRect">
            <a:avLst>
              <a:gd name="adj" fmla="val 16667"/>
            </a:avLst>
          </a:prstGeom>
          <a:solidFill>
            <a:srgbClr val="172033"/>
          </a:solidFill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078992" y="401421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V1: 1.92701 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520440" y="3886200"/>
            <a:ext cx="2194560" cy="658368"/>
          </a:xfrm>
          <a:prstGeom prst="roundRect">
            <a:avLst>
              <a:gd name="adj" fmla="val 16667"/>
            </a:avLst>
          </a:prstGeom>
          <a:solidFill>
            <a:srgbClr val="172033"/>
          </a:solidFill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85032" y="401421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V2: 1.56022 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126480" y="3886200"/>
            <a:ext cx="2194560" cy="658368"/>
          </a:xfrm>
          <a:prstGeom prst="roundRect">
            <a:avLst>
              <a:gd name="adj" fmla="val 16667"/>
            </a:avLst>
          </a:prstGeom>
          <a:solidFill>
            <a:srgbClr val="172033"/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291072" y="401421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Speedup: 1.24x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05840" y="5035601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V1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2715768" y="5026457"/>
            <a:ext cx="4845659" cy="201625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836408" y="5026457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1.93 s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005840" y="5515661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V2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2715768" y="5506517"/>
            <a:ext cx="3923329" cy="201625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836408" y="5506517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1.56 s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30352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ASD · Juego de la Vida · L6G3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4. V3: OpenMP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Paralelismo de hilos sobre memoria compartida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49808" y="1353312"/>
            <a:ext cx="4754880" cy="1170432"/>
          </a:xfrm>
          <a:prstGeom prst="roundRect">
            <a:avLst>
              <a:gd name="adj" fmla="val 6250"/>
            </a:avLst>
          </a:prstGeom>
          <a:solidFill>
            <a:srgbClr val="050816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77824" y="1463040"/>
            <a:ext cx="44988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#pragma omp parallel for schedule(static)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(int i = 1; i &lt; N - 1; ++i)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// cada hilo calcula filas interiores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8076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Escalabilidad OpenMP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72200" y="188732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1 hilo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882128" y="1878178"/>
            <a:ext cx="1700159" cy="21122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710928" y="187817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1.57 s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172200" y="239024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2 hilos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7882128" y="2381098"/>
            <a:ext cx="887773" cy="21122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9710928" y="238109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0.82 s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172200" y="289316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4 hilos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882128" y="2884018"/>
            <a:ext cx="518698" cy="21122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710928" y="288401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0.48 s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172200" y="339608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8 hilos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882128" y="3386938"/>
            <a:ext cx="333846" cy="21122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9710928" y="338693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0.31 s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68680" y="314553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033272" y="30632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Cada hilo escribe en posiciones distintas de nextGrid.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8680" y="351129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1033272" y="3429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La corrección se valida con 43306 células vivas.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4297680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172033"/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1078992" y="4425696"/>
            <a:ext cx="18196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8 hilos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0.307451 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3520440" y="4297680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172033"/>
          </a:solidFill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685032" y="4425696"/>
            <a:ext cx="18196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Speedup vs V1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6.27x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126480" y="4297680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172033"/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291072" y="4425696"/>
            <a:ext cx="18196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Eficiencia vs V2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63.4%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30352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ASD · Juego de la Vida · L6G3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5. V4: MPI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Descomposición por filas y comunicación de fronteras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78408" y="1499616"/>
            <a:ext cx="3986784" cy="749808"/>
          </a:xfrm>
          <a:prstGeom prst="rect">
            <a:avLst/>
          </a:prstGeom>
          <a:solidFill>
            <a:srgbClr val="3B82F6">
              <a:alpha val="82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188720" y="17099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Proceso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78408" y="2322576"/>
            <a:ext cx="3986784" cy="749808"/>
          </a:xfrm>
          <a:prstGeom prst="rect">
            <a:avLst/>
          </a:prstGeom>
          <a:solidFill>
            <a:srgbClr val="22C55E">
              <a:alpha val="82000"/>
            </a:srgbClr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188720" y="25328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Proceso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78408" y="3145536"/>
            <a:ext cx="3986784" cy="749808"/>
          </a:xfrm>
          <a:prstGeom prst="rect">
            <a:avLst/>
          </a:prstGeom>
          <a:solidFill>
            <a:srgbClr val="A78BFA">
              <a:alpha val="82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188720" y="33558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Proceso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78408" y="3968496"/>
            <a:ext cx="3986784" cy="749808"/>
          </a:xfrm>
          <a:prstGeom prst="rect">
            <a:avLst/>
          </a:prstGeom>
          <a:solidFill>
            <a:srgbClr val="F97316">
              <a:alpha val="82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188720" y="4178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Proceso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8346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filas fantasma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3127248"/>
            <a:ext cx="10058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760720" y="146304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050816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888736" y="1572768"/>
            <a:ext cx="46817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MPI_Sendrecv  -&gt; intercambio de filas frontera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MPI_Reduce    -&gt; suma global de células vivas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MPI_Wtime     -&gt; tiempo del proceso más lento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5577840" y="32918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1 proc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287768" y="3282696"/>
            <a:ext cx="2173542" cy="1920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9665208" y="32826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1.62 s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577840" y="37490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2 proc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287768" y="3739896"/>
            <a:ext cx="1094956" cy="1920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9665208" y="37398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0.81 s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5577840" y="42062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4 proc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287768" y="4197096"/>
            <a:ext cx="563549" cy="1920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9665208" y="41970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0.42 s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5577840" y="46634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8 proc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287768" y="4654296"/>
            <a:ext cx="418622" cy="1920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9665208" y="46542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0.31 s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1143000" y="516636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172033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1307592" y="5294376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MPI 8 procesos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0.311311 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703320" y="516636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172033"/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3867912" y="5294376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Speedup vs V1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6.19x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30352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ASD · Juego de la Vida · L6G3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6. V5: MPI + OpenMP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La mejor versión CPU local combina procesos e hilos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4572000" cy="2834640"/>
          </a:xfrm>
          <a:prstGeom prst="roundRect">
            <a:avLst>
              <a:gd name="adj" fmla="val 387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60120" y="17373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MPI 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91640" y="1691640"/>
            <a:ext cx="1417320" cy="292608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246120" y="1691640"/>
            <a:ext cx="1417320" cy="292608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783080" y="17556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FAFC"/>
                </a:solidFill>
              </a:rPr>
              <a:t>OMP hilo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337560" y="17556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FAFC"/>
                </a:solidFill>
              </a:rPr>
              <a:t>OMP hilo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MPI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91640" y="2286000"/>
            <a:ext cx="1417320" cy="292608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46120" y="2286000"/>
            <a:ext cx="1417320" cy="292608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783080" y="23500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FAFC"/>
                </a:solidFill>
              </a:rPr>
              <a:t>OMP hilo 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37560" y="23500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FAFC"/>
                </a:solidFill>
              </a:rPr>
              <a:t>OMP hilo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60120" y="29260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MPI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91640" y="2880360"/>
            <a:ext cx="1417320" cy="292608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246120" y="2880360"/>
            <a:ext cx="1417320" cy="292608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783080" y="2944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FAFC"/>
                </a:solidFill>
              </a:rPr>
              <a:t>OMP hilo 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2944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FAFC"/>
                </a:solidFill>
              </a:rPr>
              <a:t>OMP hilo 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60120" y="35204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MPI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91640" y="3474720"/>
            <a:ext cx="1417320" cy="292608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246120" y="3474720"/>
            <a:ext cx="1417320" cy="292608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1783080" y="35387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FAFC"/>
                </a:solidFill>
              </a:rPr>
              <a:t>OMP hilo 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37560" y="35387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FAFC"/>
                </a:solidFill>
              </a:rPr>
              <a:t>OMP hilo 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05840" y="3840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2 hilos OpenMP por proceso MPI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06440" y="166512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1x2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516368" y="1655978"/>
            <a:ext cx="2131006" cy="2208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9802368" y="165597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0.87 s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5806440" y="219090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2x2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516368" y="2181758"/>
            <a:ext cx="1133949" cy="2208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9802368" y="218175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0.47 s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5806440" y="271668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4x2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7516368" y="2707538"/>
            <a:ext cx="828007" cy="2208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9802368" y="270753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0.34 s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5806440" y="324246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8x2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7516368" y="3233318"/>
            <a:ext cx="455444" cy="2208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9802368" y="323331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0.19 s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1051560" y="4709160"/>
            <a:ext cx="2560320" cy="749808"/>
          </a:xfrm>
          <a:prstGeom prst="roundRect">
            <a:avLst>
              <a:gd name="adj" fmla="val 14634"/>
            </a:avLst>
          </a:prstGeom>
          <a:solidFill>
            <a:srgbClr val="172033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1216152" y="4837176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Mejor tiempo CPU local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0.186780 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69080" y="4709160"/>
            <a:ext cx="2560320" cy="749808"/>
          </a:xfrm>
          <a:prstGeom prst="roundRect">
            <a:avLst>
              <a:gd name="adj" fmla="val 14634"/>
            </a:avLst>
          </a:prstGeom>
          <a:solidFill>
            <a:srgbClr val="172033"/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4233672" y="4837176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Speedup vs V1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10.32x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086600" y="4709160"/>
            <a:ext cx="2560320" cy="749808"/>
          </a:xfrm>
          <a:prstGeom prst="roundRect">
            <a:avLst>
              <a:gd name="adj" fmla="val 14634"/>
            </a:avLst>
          </a:prstGeom>
          <a:solidFill>
            <a:srgbClr val="172033"/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7251192" y="4837176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Resultado validado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43306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530352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ASD · Juego de la Vida · L6G3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7. V6: CUDA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Paralelismo masivo de datos en GPU NVIDIA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051560" y="1691640"/>
            <a:ext cx="640080" cy="438912"/>
          </a:xfrm>
          <a:prstGeom prst="rect">
            <a:avLst/>
          </a:prstGeom>
          <a:solidFill>
            <a:srgbClr val="FACC15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810512" y="1691640"/>
            <a:ext cx="640080" cy="438912"/>
          </a:xfrm>
          <a:prstGeom prst="rect">
            <a:avLst/>
          </a:prstGeom>
          <a:solidFill>
            <a:srgbClr val="F97316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569464" y="1691640"/>
            <a:ext cx="640080" cy="438912"/>
          </a:xfrm>
          <a:prstGeom prst="rect">
            <a:avLst/>
          </a:prstGeom>
          <a:solidFill>
            <a:srgbClr val="FACC15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328416" y="1691640"/>
            <a:ext cx="640080" cy="438912"/>
          </a:xfrm>
          <a:prstGeom prst="rect">
            <a:avLst/>
          </a:prstGeom>
          <a:solidFill>
            <a:srgbClr val="F97316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51560" y="2258568"/>
            <a:ext cx="640080" cy="438912"/>
          </a:xfrm>
          <a:prstGeom prst="rect">
            <a:avLst/>
          </a:prstGeom>
          <a:solidFill>
            <a:srgbClr val="F97316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810512" y="2258568"/>
            <a:ext cx="640080" cy="438912"/>
          </a:xfrm>
          <a:prstGeom prst="rect">
            <a:avLst/>
          </a:prstGeom>
          <a:solidFill>
            <a:srgbClr val="FACC15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569464" y="2258568"/>
            <a:ext cx="640080" cy="438912"/>
          </a:xfrm>
          <a:prstGeom prst="rect">
            <a:avLst/>
          </a:prstGeom>
          <a:solidFill>
            <a:srgbClr val="F97316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328416" y="2258568"/>
            <a:ext cx="640080" cy="438912"/>
          </a:xfrm>
          <a:prstGeom prst="rect">
            <a:avLst/>
          </a:prstGeom>
          <a:solidFill>
            <a:srgbClr val="FACC15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051560" y="2825496"/>
            <a:ext cx="640080" cy="438912"/>
          </a:xfrm>
          <a:prstGeom prst="rect">
            <a:avLst/>
          </a:prstGeom>
          <a:solidFill>
            <a:srgbClr val="FACC15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1810512" y="2825496"/>
            <a:ext cx="640080" cy="438912"/>
          </a:xfrm>
          <a:prstGeom prst="rect">
            <a:avLst/>
          </a:prstGeom>
          <a:solidFill>
            <a:srgbClr val="F97316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569464" y="2825496"/>
            <a:ext cx="640080" cy="438912"/>
          </a:xfrm>
          <a:prstGeom prst="rect">
            <a:avLst/>
          </a:prstGeom>
          <a:solidFill>
            <a:srgbClr val="FACC15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328416" y="2825496"/>
            <a:ext cx="640080" cy="438912"/>
          </a:xfrm>
          <a:prstGeom prst="rect">
            <a:avLst/>
          </a:prstGeom>
          <a:solidFill>
            <a:srgbClr val="F97316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1051560" y="3392424"/>
            <a:ext cx="640080" cy="438912"/>
          </a:xfrm>
          <a:prstGeom prst="rect">
            <a:avLst/>
          </a:prstGeom>
          <a:solidFill>
            <a:srgbClr val="F97316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1810512" y="3392424"/>
            <a:ext cx="640080" cy="438912"/>
          </a:xfrm>
          <a:prstGeom prst="rect">
            <a:avLst/>
          </a:prstGeom>
          <a:solidFill>
            <a:srgbClr val="FACC15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569464" y="3392424"/>
            <a:ext cx="640080" cy="438912"/>
          </a:xfrm>
          <a:prstGeom prst="rect">
            <a:avLst/>
          </a:prstGeom>
          <a:solidFill>
            <a:srgbClr val="F97316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328416" y="3392424"/>
            <a:ext cx="640080" cy="438912"/>
          </a:xfrm>
          <a:prstGeom prst="rect">
            <a:avLst/>
          </a:prstGeom>
          <a:solidFill>
            <a:srgbClr val="FACC15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1005840" y="40965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</a:rPr>
              <a:t>bloques 16×16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</a:rPr>
              <a:t>hilos CUDA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577840" y="1371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Cada hilo calcula una celda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669280" y="209397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833872" y="20116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Se copia la matriz inicial a GPU.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69280" y="2459736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833872" y="23774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Cada generación lanza un kernel CUDA.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69280" y="282549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833872" y="27432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Al final se copia el resultado y se valida.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15000" y="370332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172033"/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879592" y="3831336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RTX 4060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0.0181502 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49640" y="370332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172033"/>
          </a:solidFill>
          <a:ln w="1524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8714232" y="3831336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Speedup vs V1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106.17x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69280" y="49834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La mejora muestra el encaje del problema con paralelismo masivo regular.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30352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ASD · Juego de la Vida · L6G3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8. Resultados globales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Todas las versiones producen 43306 células vivas finales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Tiempo por versión local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V1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2368296" y="1819656"/>
            <a:ext cx="1850161" cy="19202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379976" y="18196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1.93 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V2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2368296" y="2276856"/>
            <a:ext cx="1497998" cy="19202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379976" y="22768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1.56 s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658368" y="27432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V3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2368296" y="2734056"/>
            <a:ext cx="295190" cy="19202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379976" y="27340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0.31 s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58368" y="32004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V4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368296" y="3191256"/>
            <a:ext cx="298896" cy="19202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379976" y="31912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0.31 s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58368" y="3657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V5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2368296" y="3648456"/>
            <a:ext cx="179331" cy="19202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379976" y="36484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0.19 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58368" y="41148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V6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2368296" y="4105656"/>
            <a:ext cx="18288" cy="19202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379976" y="41056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0.018 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400800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Speedup vs V1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82512" y="4319715"/>
            <a:ext cx="477317" cy="23685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309360" y="4063683"/>
            <a:ext cx="617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1.00x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44348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V1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05472" y="4314031"/>
            <a:ext cx="477317" cy="29369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7132320" y="4057999"/>
            <a:ext cx="617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1.24x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44348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V2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28432" y="4194897"/>
            <a:ext cx="477317" cy="1485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7955280" y="3938865"/>
            <a:ext cx="617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6.27x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0" y="44348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V3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851392" y="4196792"/>
            <a:ext cx="477317" cy="146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8778240" y="3940760"/>
            <a:ext cx="617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6.19x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86800" y="44348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V4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674352" y="4098974"/>
            <a:ext cx="477317" cy="24442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9601200" y="3842942"/>
            <a:ext cx="617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10.3x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509760" y="44348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V5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497312" y="1828800"/>
            <a:ext cx="477317" cy="2514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10424160" y="1572768"/>
            <a:ext cx="617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106.2x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332720" y="44348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V6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22960" y="5212080"/>
            <a:ext cx="3657600" cy="566928"/>
          </a:xfrm>
          <a:prstGeom prst="roundRect">
            <a:avLst>
              <a:gd name="adj" fmla="val 19355"/>
            </a:avLst>
          </a:prstGeom>
          <a:solidFill>
            <a:srgbClr val="172033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987552" y="5340096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Mejor CPU: V5 híbrida · 0.186780 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617720" y="5212080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172033"/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4782312" y="5340096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Mejor global: V6 CUDA · 0.0181502 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686800" y="521208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172033"/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8851392" y="534009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Validación común: 43306 células vivas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530352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ASD · Juego de la Vida · L6G3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9. Clúster y conclusiones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No todo paralelismo mejora: la plataforma importa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Ejecución distribuida real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1143000" cy="731520"/>
          </a:xfrm>
          <a:prstGeom prst="roundRect">
            <a:avLst>
              <a:gd name="adj" fmla="val 15000"/>
            </a:avLst>
          </a:prstGeom>
          <a:solidFill>
            <a:srgbClr val="172033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78992" y="1956816"/>
            <a:ext cx="813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node1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2 proc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828800"/>
            <a:ext cx="1143000" cy="731520"/>
          </a:xfrm>
          <a:prstGeom prst="roundRect">
            <a:avLst>
              <a:gd name="adj" fmla="val 15000"/>
            </a:avLst>
          </a:prstGeom>
          <a:solidFill>
            <a:srgbClr val="172033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907792" y="1956816"/>
            <a:ext cx="813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node2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1 proc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1143000" cy="731520"/>
          </a:xfrm>
          <a:prstGeom prst="roundRect">
            <a:avLst>
              <a:gd name="adj" fmla="val 15000"/>
            </a:avLst>
          </a:prstGeom>
          <a:solidFill>
            <a:srgbClr val="172033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736592" y="1956816"/>
            <a:ext cx="813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node3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1 proc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57400" y="2194560"/>
            <a:ext cx="6858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886200" y="2194560"/>
            <a:ext cx="6858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68680" y="3226003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V4 MPI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578608" y="3216859"/>
            <a:ext cx="397913" cy="23042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315968" y="3216859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1.02 s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68680" y="3774643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CBD5E1"/>
                </a:solidFill>
              </a:rPr>
              <a:t>V5 híbrida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2578608" y="3765499"/>
            <a:ext cx="1577512" cy="23042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315968" y="3765499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4.03 s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53796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Conclusiones clave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83680" y="186537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748272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</a:rPr>
              <a:t>Memoria contigua mejora la base secuencial.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583680" y="223113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748272" y="21488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</a:rPr>
              <a:t>OpenMP y MPI escalan de forma similar en local.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583680" y="2596896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748272" y="25146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</a:rPr>
              <a:t>MPI + OpenMP ofrece el mejor resultado CPU.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583680" y="2962656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748272" y="28803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</a:rPr>
              <a:t>CUDA domina por paralelismo masivo en GPU.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583680" y="3328416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748272" y="32461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</a:rPr>
              <a:t>En clúster, la sobrecarga puede superar el beneficio.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7406640" y="4617720"/>
            <a:ext cx="2971800" cy="868680"/>
          </a:xfrm>
          <a:prstGeom prst="roundRect">
            <a:avLst>
              <a:gd name="adj" fmla="val 12632"/>
            </a:avLst>
          </a:prstGeom>
          <a:solidFill>
            <a:srgbClr val="172033"/>
          </a:solidFill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7571232" y="4745736"/>
            <a:ext cx="26426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Mensaje final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medir, validar y justificar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30352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ASD · Juego de la Vida · L6G3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</Words>
  <Application>Microsoft Office PowerPoint</Application>
  <PresentationFormat>Panorámica</PresentationFormat>
  <Paragraphs>227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Cascadia Mono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Grupo L6G3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Optimización y paralelización del Juego de la Vida de Conway</dc:title>
  <dc:subject>ASD - Juego de la Vida de Conway</dc:subject>
  <dc:creator>Aaron López Leal, Gonzalo Benítez Barquero</dc:creator>
  <cp:lastModifiedBy>AARON LOPEZ LEAL</cp:lastModifiedBy>
  <cp:revision>1</cp:revision>
  <dcterms:created xsi:type="dcterms:W3CDTF">2026-05-01T11:03:35Z</dcterms:created>
  <dcterms:modified xsi:type="dcterms:W3CDTF">2026-05-01T11:06:55Z</dcterms:modified>
</cp:coreProperties>
</file>