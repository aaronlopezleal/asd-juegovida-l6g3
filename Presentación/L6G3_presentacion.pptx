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E4F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719" autoAdjust="0"/>
  </p:normalViewPr>
  <p:slideViewPr>
    <p:cSldViewPr snapToGrid="0" snapToObjects="1">
      <p:cViewPr varScale="1">
        <p:scale>
          <a:sx n="90" d="100"/>
          <a:sy n="90" d="100"/>
        </p:scale>
        <p:origin x="135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r>
              <a:rPr lang="es-ES" sz="1200" b="1" dirty="0" err="1"/>
              <a:t>Speedup</a:t>
            </a:r>
            <a:r>
              <a:rPr lang="es-ES" sz="1200" b="1" dirty="0"/>
              <a:t> versiones CPU (escala lineal, sin CUDA</a:t>
            </a:r>
            <a:r>
              <a:rPr lang="es-ES" sz="1100" b="1" dirty="0"/>
              <a:t>)</a:t>
            </a:r>
          </a:p>
        </c:rich>
      </c:tx>
      <c:layout>
        <c:manualLayout>
          <c:xMode val="edge"/>
          <c:yMode val="edge"/>
          <c:x val="0.25828986220472439"/>
          <c:y val="7.8802206461780933E-2"/>
        </c:manualLayout>
      </c:layout>
      <c:overlay val="0"/>
    </c:title>
    <c:autoTitleDeleted val="0"/>
    <c:plotArea>
      <c:layout/>
      <c:barChart>
        <c:barDir val="col"/>
        <c:grouping val="clustered"/>
        <c:varyColors val="1"/>
        <c:ser>
          <c:idx val="0"/>
          <c:order val="0"/>
          <c:tx>
            <c:strRef>
              <c:f>Sheet1!$B$1</c:f>
              <c:strCache>
                <c:ptCount val="1"/>
                <c:pt idx="0">
                  <c:v>Speedup</c:v>
                </c:pt>
              </c:strCache>
            </c:strRef>
          </c:tx>
          <c:invertIfNegative val="1"/>
          <c:cat>
            <c:strRef>
              <c:f>Sheet1!$A$2:$A$6</c:f>
              <c:strCache>
                <c:ptCount val="5"/>
                <c:pt idx="0">
                  <c:v>V1</c:v>
                </c:pt>
                <c:pt idx="1">
                  <c:v>V2</c:v>
                </c:pt>
                <c:pt idx="2">
                  <c:v>V3 (8h)</c:v>
                </c:pt>
                <c:pt idx="3">
                  <c:v>V4 (8p)</c:v>
                </c:pt>
                <c:pt idx="4">
                  <c:v>V5 (4p×2h)</c:v>
                </c:pt>
              </c:strCache>
            </c:strRef>
          </c:cat>
          <c:val>
            <c:numRef>
              <c:f>Sheet1!$B$2:$B$6</c:f>
              <c:numCache>
                <c:formatCode>General</c:formatCode>
                <c:ptCount val="5"/>
                <c:pt idx="0">
                  <c:v>1</c:v>
                </c:pt>
                <c:pt idx="1">
                  <c:v>1.24</c:v>
                </c:pt>
                <c:pt idx="2">
                  <c:v>6.27</c:v>
                </c:pt>
                <c:pt idx="3">
                  <c:v>6.19</c:v>
                </c:pt>
                <c:pt idx="4">
                  <c:v>10.32</c:v>
                </c:pt>
              </c:numCache>
            </c:numRef>
          </c:val>
          <c:extLst>
            <c:ext xmlns:c16="http://schemas.microsoft.com/office/drawing/2014/chart" uri="{C3380CC4-5D6E-409C-BE32-E72D297353CC}">
              <c16:uniqueId val="{00000000-C64F-443D-A10C-FE1B12B658B9}"/>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476FD6-646A-4217-BBA6-03E942A90BE7}" type="datetimeFigureOut">
              <a:rPr lang="es-ES" smtClean="0"/>
              <a:t>10/05/2026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EF428F-135C-49C6-A855-708011B208B6}" type="slidenum">
              <a:rPr lang="es-ES" smtClean="0"/>
              <a:t>‹Nº›</a:t>
            </a:fld>
            <a:endParaRPr lang="es-ES"/>
          </a:p>
        </p:txBody>
      </p:sp>
    </p:spTree>
    <p:extLst>
      <p:ext uri="{BB962C8B-B14F-4D97-AF65-F5344CB8AC3E}">
        <p14:creationId xmlns:p14="http://schemas.microsoft.com/office/powerpoint/2010/main" val="211283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1" kern="1200" dirty="0">
                <a:solidFill>
                  <a:schemeClr val="tx1"/>
                </a:solidFill>
                <a:effectLst/>
                <a:latin typeface="+mn-lt"/>
                <a:ea typeface="+mn-ea"/>
                <a:cs typeface="+mn-cs"/>
              </a:rPr>
              <a:t>«En esta presentación abordaremos la optimización del Juego de la Vida estructurándola en tres grandes fases. Primero, definiremos la plataforma hardware y analizaremos las dependencias y límites teóricos de nuestro algoritmo secuencial base. A continuación, entraremos en el núcleo del proyecto: cómo evoluciona el rendimiento al ir aplicando optimización de memoria, hilos con </a:t>
            </a:r>
            <a:r>
              <a:rPr lang="es-ES" sz="1200" b="0" i="1" kern="1200" dirty="0" err="1">
                <a:solidFill>
                  <a:schemeClr val="tx1"/>
                </a:solidFill>
                <a:effectLst/>
                <a:latin typeface="+mn-lt"/>
                <a:ea typeface="+mn-ea"/>
                <a:cs typeface="+mn-cs"/>
              </a:rPr>
              <a:t>OpenMP</a:t>
            </a:r>
            <a:r>
              <a:rPr lang="es-ES" sz="1200" b="0" i="1" kern="1200" dirty="0">
                <a:solidFill>
                  <a:schemeClr val="tx1"/>
                </a:solidFill>
                <a:effectLst/>
                <a:latin typeface="+mn-lt"/>
                <a:ea typeface="+mn-ea"/>
                <a:cs typeface="+mn-cs"/>
              </a:rPr>
              <a:t>, memoria distribuida con MPI, una versión híbrida y paralelismo masivo con CUDA. Finalmente, compararemos el </a:t>
            </a:r>
            <a:r>
              <a:rPr lang="es-ES" sz="1200" b="0" i="1" kern="1200" dirty="0" err="1">
                <a:solidFill>
                  <a:schemeClr val="tx1"/>
                </a:solidFill>
                <a:effectLst/>
                <a:latin typeface="+mn-lt"/>
                <a:ea typeface="+mn-ea"/>
                <a:cs typeface="+mn-cs"/>
              </a:rPr>
              <a:t>speedup</a:t>
            </a:r>
            <a:r>
              <a:rPr lang="es-ES" sz="1200" b="0" i="1" kern="1200" dirty="0">
                <a:solidFill>
                  <a:schemeClr val="tx1"/>
                </a:solidFill>
                <a:effectLst/>
                <a:latin typeface="+mn-lt"/>
                <a:ea typeface="+mn-ea"/>
                <a:cs typeface="+mn-cs"/>
              </a:rPr>
              <a:t> obtenido tanto en nuestro entorno local como en el clúster de la asignatura.»</a:t>
            </a:r>
            <a:endParaRPr lang="es-ES" dirty="0"/>
          </a:p>
        </p:txBody>
      </p:sp>
      <p:sp>
        <p:nvSpPr>
          <p:cNvPr id="4" name="Marcador de número de diapositiva 3"/>
          <p:cNvSpPr>
            <a:spLocks noGrp="1"/>
          </p:cNvSpPr>
          <p:nvPr>
            <p:ph type="sldNum" sz="quarter" idx="5"/>
          </p:nvPr>
        </p:nvSpPr>
        <p:spPr/>
        <p:txBody>
          <a:bodyPr/>
          <a:lstStyle/>
          <a:p>
            <a:fld id="{4EEF428F-135C-49C6-A855-708011B208B6}" type="slidenum">
              <a:rPr lang="es-ES" smtClean="0"/>
              <a:t>2</a:t>
            </a:fld>
            <a:endParaRPr lang="es-ES"/>
          </a:p>
        </p:txBody>
      </p:sp>
    </p:spTree>
    <p:extLst>
      <p:ext uri="{BB962C8B-B14F-4D97-AF65-F5344CB8AC3E}">
        <p14:creationId xmlns:p14="http://schemas.microsoft.com/office/powerpoint/2010/main" val="32314796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1" kern="1200" dirty="0">
                <a:solidFill>
                  <a:schemeClr val="tx1"/>
                </a:solidFill>
                <a:effectLst/>
                <a:latin typeface="+mn-lt"/>
                <a:ea typeface="+mn-ea"/>
                <a:cs typeface="+mn-cs"/>
              </a:rPr>
              <a:t>Para los experimentos hemos utilizado dos entornos. El principal es un equipo local con un Intel i5 de 14 núcleos y una gráfica RTX 4060, que será la gran protagonista al hablar de nuestra optimización masiva con CUDA. El segundo entorno es el clúster de la asignatura, compuesto por 3 máquinas virtuales. El detalle fundamental aquí, y que explicará las anomalías en los tiempos que veremos al final, es que este clúster utiliza recursos virtualizados compartidos, lo que afectará directamente a nuestra versión híbrida</a:t>
            </a:r>
            <a:endParaRPr lang="es-ES" dirty="0"/>
          </a:p>
        </p:txBody>
      </p:sp>
      <p:sp>
        <p:nvSpPr>
          <p:cNvPr id="4" name="Marcador de número de diapositiva 3"/>
          <p:cNvSpPr>
            <a:spLocks noGrp="1"/>
          </p:cNvSpPr>
          <p:nvPr>
            <p:ph type="sldNum" sz="quarter" idx="5"/>
          </p:nvPr>
        </p:nvSpPr>
        <p:spPr/>
        <p:txBody>
          <a:bodyPr/>
          <a:lstStyle/>
          <a:p>
            <a:fld id="{4EEF428F-135C-49C6-A855-708011B208B6}" type="slidenum">
              <a:rPr lang="es-ES" smtClean="0"/>
              <a:t>3</a:t>
            </a:fld>
            <a:endParaRPr lang="es-ES"/>
          </a:p>
        </p:txBody>
      </p:sp>
    </p:spTree>
    <p:extLst>
      <p:ext uri="{BB962C8B-B14F-4D97-AF65-F5344CB8AC3E}">
        <p14:creationId xmlns:p14="http://schemas.microsoft.com/office/powerpoint/2010/main" val="40953336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1" kern="1200" dirty="0">
                <a:solidFill>
                  <a:schemeClr val="tx1"/>
                </a:solidFill>
                <a:effectLst/>
                <a:latin typeface="+mn-lt"/>
                <a:ea typeface="+mn-ea"/>
                <a:cs typeface="+mn-cs"/>
              </a:rPr>
              <a:t>El problema a resolver es el clásico Juego de la Vida de Conway, un autómata celular 2D regido por reglas sencillas de supervivencia y nacimiento según los vecinos de cada celda. Para exprimir la máquina, hemos configurado un escenario con una matriz de 1000x1000 calculada durante 1000 generaciones. El detalle más importante aquí es nuestra validación cruzada: partiendo de una semilla fija, todas nuestras versiones (desde la base secuencial hasta la GPU) arrojan exactamente el mismo resultado final de 43.306 células vivas. Así garantizamos que optimizamos el rendimiento sin romper la lógica del simulador.</a:t>
            </a:r>
            <a:br>
              <a:rPr lang="es-ES" sz="1200" b="0" i="1" kern="1200" dirty="0">
                <a:solidFill>
                  <a:schemeClr val="tx1"/>
                </a:solidFill>
                <a:effectLst/>
                <a:latin typeface="+mn-lt"/>
                <a:ea typeface="+mn-ea"/>
                <a:cs typeface="+mn-cs"/>
              </a:rPr>
            </a:br>
            <a:br>
              <a:rPr lang="es-ES" sz="1200" b="0" i="1" kern="1200" dirty="0">
                <a:solidFill>
                  <a:schemeClr val="tx1"/>
                </a:solidFill>
                <a:effectLst/>
                <a:latin typeface="+mn-lt"/>
                <a:ea typeface="+mn-ea"/>
                <a:cs typeface="+mn-cs"/>
              </a:rPr>
            </a:br>
            <a:endParaRPr lang="es-ES" dirty="0"/>
          </a:p>
        </p:txBody>
      </p:sp>
      <p:sp>
        <p:nvSpPr>
          <p:cNvPr id="4" name="Marcador de número de diapositiva 3"/>
          <p:cNvSpPr>
            <a:spLocks noGrp="1"/>
          </p:cNvSpPr>
          <p:nvPr>
            <p:ph type="sldNum" sz="quarter" idx="5"/>
          </p:nvPr>
        </p:nvSpPr>
        <p:spPr/>
        <p:txBody>
          <a:bodyPr/>
          <a:lstStyle/>
          <a:p>
            <a:fld id="{4EEF428F-135C-49C6-A855-708011B208B6}" type="slidenum">
              <a:rPr lang="es-ES" smtClean="0"/>
              <a:t>4</a:t>
            </a:fld>
            <a:endParaRPr lang="es-ES"/>
          </a:p>
        </p:txBody>
      </p:sp>
    </p:spTree>
    <p:extLst>
      <p:ext uri="{BB962C8B-B14F-4D97-AF65-F5344CB8AC3E}">
        <p14:creationId xmlns:p14="http://schemas.microsoft.com/office/powerpoint/2010/main" val="7663445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1" kern="1200" dirty="0">
                <a:solidFill>
                  <a:schemeClr val="tx1"/>
                </a:solidFill>
                <a:effectLst/>
                <a:latin typeface="+mn-lt"/>
                <a:ea typeface="+mn-ea"/>
                <a:cs typeface="+mn-cs"/>
              </a:rPr>
              <a:t>Nuestra primera implementación fue la versión secuencial base usando un vector de vectores. Para evitar condiciones de carrera al actualizar las celdas, aplicamos la técnica de doble buffer: leemos el estado actual de una matriz y escribimos el nuevo en otra, intercambiándolas al final con un rápido </a:t>
            </a:r>
            <a:r>
              <a:rPr lang="es-ES" sz="1200" b="0" i="1" kern="1200" dirty="0" err="1">
                <a:solidFill>
                  <a:schemeClr val="tx1"/>
                </a:solidFill>
                <a:effectLst/>
                <a:latin typeface="+mn-lt"/>
                <a:ea typeface="+mn-ea"/>
                <a:cs typeface="+mn-cs"/>
              </a:rPr>
              <a:t>std</a:t>
            </a:r>
            <a:r>
              <a:rPr lang="es-ES" sz="1200" b="0" i="1" kern="1200" dirty="0">
                <a:solidFill>
                  <a:schemeClr val="tx1"/>
                </a:solidFill>
                <a:effectLst/>
                <a:latin typeface="+mn-lt"/>
                <a:ea typeface="+mn-ea"/>
                <a:cs typeface="+mn-cs"/>
              </a:rPr>
              <a:t>::swap para evitar copias masivas. Aunque la lógica es correcta, encontramos su gran limitación: al usar un vector de vectores la memoria no es contigua, lo que provoca constantes saltos de puntero y graves fallos de caché</a:t>
            </a:r>
            <a:endParaRPr lang="es-ES" dirty="0"/>
          </a:p>
        </p:txBody>
      </p:sp>
      <p:sp>
        <p:nvSpPr>
          <p:cNvPr id="4" name="Marcador de número de diapositiva 3"/>
          <p:cNvSpPr>
            <a:spLocks noGrp="1"/>
          </p:cNvSpPr>
          <p:nvPr>
            <p:ph type="sldNum" sz="quarter" idx="5"/>
          </p:nvPr>
        </p:nvSpPr>
        <p:spPr/>
        <p:txBody>
          <a:bodyPr/>
          <a:lstStyle/>
          <a:p>
            <a:fld id="{4EEF428F-135C-49C6-A855-708011B208B6}" type="slidenum">
              <a:rPr lang="es-ES" smtClean="0"/>
              <a:t>5</a:t>
            </a:fld>
            <a:endParaRPr lang="es-ES"/>
          </a:p>
        </p:txBody>
      </p:sp>
    </p:spTree>
    <p:extLst>
      <p:ext uri="{BB962C8B-B14F-4D97-AF65-F5344CB8AC3E}">
        <p14:creationId xmlns:p14="http://schemas.microsoft.com/office/powerpoint/2010/main" val="24421254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1" kern="1200" dirty="0">
                <a:solidFill>
                  <a:schemeClr val="tx1"/>
                </a:solidFill>
                <a:effectLst/>
                <a:latin typeface="+mn-lt"/>
                <a:ea typeface="+mn-ea"/>
                <a:cs typeface="+mn-cs"/>
              </a:rPr>
              <a:t>Al revisar el código que realmente ejecuta la máquina (el ensamblador generado con la optimización -O2), vimos que el compilador es muy inteligente. Se da cuenta de que sumar el estado de los 8 vecinos son tareas totalmente independientes. Por tanto, organiza las instrucciones para que el procesador ejecute varias de estas sumas a la vez, aprovechando el Paralelismo a Nivel de Instrucción (ILP). Además, hace dos trucos clave para no perder tiempo: calcula de antemano las posiciones exactas de memoria, y elimina los saltos condicionales (los clásicos '</a:t>
            </a:r>
            <a:r>
              <a:rPr lang="es-ES" sz="1200" b="0" i="1" kern="1200" dirty="0" err="1">
                <a:solidFill>
                  <a:schemeClr val="tx1"/>
                </a:solidFill>
                <a:effectLst/>
                <a:latin typeface="+mn-lt"/>
                <a:ea typeface="+mn-ea"/>
                <a:cs typeface="+mn-cs"/>
              </a:rPr>
              <a:t>if</a:t>
            </a:r>
            <a:r>
              <a:rPr lang="es-ES" sz="1200" b="0" i="1" kern="1200" dirty="0">
                <a:solidFill>
                  <a:schemeClr val="tx1"/>
                </a:solidFill>
                <a:effectLst/>
                <a:latin typeface="+mn-lt"/>
                <a:ea typeface="+mn-ea"/>
                <a:cs typeface="+mn-cs"/>
              </a:rPr>
              <a:t>') usando instrucciones directas para que el procesador no se frene.</a:t>
            </a:r>
          </a:p>
          <a:p>
            <a:endParaRPr lang="es-ES" sz="1200" b="0" i="1" kern="1200" dirty="0">
              <a:solidFill>
                <a:schemeClr val="tx1"/>
              </a:solidFill>
              <a:effectLst/>
              <a:latin typeface="+mn-lt"/>
              <a:ea typeface="+mn-ea"/>
              <a:cs typeface="+mn-cs"/>
            </a:endParaRPr>
          </a:p>
          <a:p>
            <a:endParaRPr lang="es-ES" sz="1200" b="0" i="1" kern="1200" dirty="0">
              <a:solidFill>
                <a:schemeClr val="tx1"/>
              </a:solidFill>
              <a:effectLst/>
              <a:latin typeface="+mn-lt"/>
              <a:ea typeface="+mn-ea"/>
              <a:cs typeface="+mn-cs"/>
            </a:endParaRPr>
          </a:p>
          <a:p>
            <a:r>
              <a:rPr lang="es-ES" sz="1200" b="1" i="0" kern="1200" dirty="0">
                <a:solidFill>
                  <a:schemeClr val="tx1"/>
                </a:solidFill>
                <a:effectLst/>
                <a:latin typeface="+mn-lt"/>
                <a:ea typeface="+mn-ea"/>
                <a:cs typeface="+mn-cs"/>
              </a:rPr>
              <a:t>Para que lo entiendas tú al 100%:</a:t>
            </a:r>
            <a:r>
              <a:rPr lang="es-ES" sz="1200" b="0" i="0" kern="1200" dirty="0">
                <a:solidFill>
                  <a:schemeClr val="tx1"/>
                </a:solidFill>
                <a:effectLst/>
                <a:latin typeface="+mn-lt"/>
                <a:ea typeface="+mn-ea"/>
                <a:cs typeface="+mn-cs"/>
              </a:rPr>
              <a:t> Básicamente, el compilador ve que sumar el vecino de arriba y el de abajo no se estorban, así que manda a la CPU a sumarlos a la vez. Además, como los </a:t>
            </a:r>
            <a:r>
              <a:rPr lang="es-ES" sz="1200" b="0" i="0" kern="1200" dirty="0" err="1">
                <a:solidFill>
                  <a:schemeClr val="tx1"/>
                </a:solidFill>
                <a:effectLst/>
                <a:latin typeface="+mn-lt"/>
                <a:ea typeface="+mn-ea"/>
                <a:cs typeface="+mn-cs"/>
              </a:rPr>
              <a:t>if</a:t>
            </a:r>
            <a:r>
              <a:rPr lang="es-ES" sz="1200" b="0" i="0" kern="1200" dirty="0">
                <a:solidFill>
                  <a:schemeClr val="tx1"/>
                </a:solidFill>
                <a:effectLst/>
                <a:latin typeface="+mn-lt"/>
                <a:ea typeface="+mn-ea"/>
                <a:cs typeface="+mn-cs"/>
              </a:rPr>
              <a:t> a veces hacen que la CPU "dude" por qué camino ir y pierda tiempo, los cambia por una instrucción directa (sete).</a:t>
            </a:r>
            <a:endParaRPr lang="es-ES" dirty="0"/>
          </a:p>
        </p:txBody>
      </p:sp>
      <p:sp>
        <p:nvSpPr>
          <p:cNvPr id="4" name="Marcador de número de diapositiva 3"/>
          <p:cNvSpPr>
            <a:spLocks noGrp="1"/>
          </p:cNvSpPr>
          <p:nvPr>
            <p:ph type="sldNum" sz="quarter" idx="5"/>
          </p:nvPr>
        </p:nvSpPr>
        <p:spPr/>
        <p:txBody>
          <a:bodyPr/>
          <a:lstStyle/>
          <a:p>
            <a:fld id="{4EEF428F-135C-49C6-A855-708011B208B6}" type="slidenum">
              <a:rPr lang="es-ES" smtClean="0"/>
              <a:t>6</a:t>
            </a:fld>
            <a:endParaRPr lang="es-ES"/>
          </a:p>
        </p:txBody>
      </p:sp>
    </p:spTree>
    <p:extLst>
      <p:ext uri="{BB962C8B-B14F-4D97-AF65-F5344CB8AC3E}">
        <p14:creationId xmlns:p14="http://schemas.microsoft.com/office/powerpoint/2010/main" val="360541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i="1" dirty="0">
                <a:effectLst/>
              </a:rPr>
              <a:t>En el Juego de la Vida tenemos una barrera estricta: no podemos calcular una generación sin haber terminado por completo la anterior. Esa es nuestra dependencia temporal.</a:t>
            </a:r>
            <a:endParaRPr lang="es-ES" dirty="0">
              <a:effectLst/>
            </a:endParaRPr>
          </a:p>
          <a:p>
            <a:r>
              <a:rPr lang="es-ES" i="1" dirty="0">
                <a:effectLst/>
              </a:rPr>
              <a:t>Pero la gran ventaja es que, dentro de una misma generación, el cálculo de cada celda es totalmente independiente de las demás. Como usamos la técnica del doble buffer (leemos el estado de una matriz y escribimos el nuevo estado en otra distinta), no hay ningún riesgo de que los cálculos se pisen entre sí.</a:t>
            </a:r>
            <a:endParaRPr lang="es-ES" dirty="0">
              <a:effectLst/>
            </a:endParaRPr>
          </a:p>
          <a:p>
            <a:r>
              <a:rPr lang="es-ES" i="1" dirty="0">
                <a:effectLst/>
              </a:rPr>
              <a:t>Esta independencia total es la que nos ha permitido aplicar todos los niveles de paralelismo posibles en este proyecto: a nivel de instrucción (ILP) con las sumas, por hilos con </a:t>
            </a:r>
            <a:r>
              <a:rPr lang="es-ES" i="1" dirty="0" err="1">
                <a:effectLst/>
              </a:rPr>
              <a:t>OpenMP</a:t>
            </a:r>
            <a:r>
              <a:rPr lang="es-ES" i="1" dirty="0">
                <a:effectLst/>
              </a:rPr>
              <a:t> repartiendo filas, por procesos distribuidos con MPI, y paralelismo masivo de datos enviando cada celda a un hilo de la GPU con CUDA.»</a:t>
            </a:r>
            <a:endParaRPr lang="es-ES" dirty="0">
              <a:effectLst/>
            </a:endParaRPr>
          </a:p>
          <a:p>
            <a:endParaRPr lang="es-ES" dirty="0"/>
          </a:p>
        </p:txBody>
      </p:sp>
      <p:sp>
        <p:nvSpPr>
          <p:cNvPr id="4" name="Marcador de número de diapositiva 3"/>
          <p:cNvSpPr>
            <a:spLocks noGrp="1"/>
          </p:cNvSpPr>
          <p:nvPr>
            <p:ph type="sldNum" sz="quarter" idx="5"/>
          </p:nvPr>
        </p:nvSpPr>
        <p:spPr/>
        <p:txBody>
          <a:bodyPr/>
          <a:lstStyle/>
          <a:p>
            <a:fld id="{4EEF428F-135C-49C6-A855-708011B208B6}" type="slidenum">
              <a:rPr lang="es-ES" smtClean="0"/>
              <a:t>7</a:t>
            </a:fld>
            <a:endParaRPr lang="es-ES"/>
          </a:p>
        </p:txBody>
      </p:sp>
    </p:spTree>
    <p:extLst>
      <p:ext uri="{BB962C8B-B14F-4D97-AF65-F5344CB8AC3E}">
        <p14:creationId xmlns:p14="http://schemas.microsoft.com/office/powerpoint/2010/main" val="29871900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i="1" dirty="0">
                <a:effectLst/>
              </a:rPr>
              <a:t>Aunque el cálculo de las celdas es altamente </a:t>
            </a:r>
            <a:r>
              <a:rPr lang="es-ES" i="1" dirty="0" err="1">
                <a:effectLst/>
              </a:rPr>
              <a:t>paralelizable</a:t>
            </a:r>
            <a:r>
              <a:rPr lang="es-ES" i="1" dirty="0">
                <a:effectLst/>
              </a:rPr>
              <a:t>, la </a:t>
            </a:r>
            <a:r>
              <a:rPr lang="es-ES" b="1" i="1" dirty="0">
                <a:effectLst/>
              </a:rPr>
              <a:t>Ley de Amdahl</a:t>
            </a:r>
            <a:r>
              <a:rPr lang="es-ES" i="1" dirty="0">
                <a:effectLst/>
              </a:rPr>
              <a:t> nos recuerda que la aceleración tiene un límite. Siempre hay tareas secuenciales que nos frenan, como inicializar la matriz, la sincronización obligatoria entre generaciones o el coste de enviar mensajes por la red.</a:t>
            </a:r>
            <a:endParaRPr lang="es-ES" dirty="0">
              <a:effectLst/>
            </a:endParaRPr>
          </a:p>
          <a:p>
            <a:r>
              <a:rPr lang="es-ES" i="1" dirty="0">
                <a:effectLst/>
              </a:rPr>
              <a:t>Además, al calcular nuestra Intensidad Aritmética mediante el </a:t>
            </a:r>
            <a:r>
              <a:rPr lang="es-ES" b="1" i="1" dirty="0">
                <a:effectLst/>
              </a:rPr>
              <a:t>Modelo del Tejado</a:t>
            </a:r>
            <a:r>
              <a:rPr lang="es-ES" i="1" dirty="0">
                <a:effectLst/>
              </a:rPr>
              <a:t>, vimos que hacemos muy pocos cálculos matemáticos (unas 10 operaciones) frente a la gran cantidad de memoria que movemos (40 bytes por celda). Esto nos da una intensidad bajísima de 0,25 operaciones por byte. ¿Qué significa esto? Que nuestro cuello de botella real no es la CPU, sino el ancho de banda de la memoria. El procesador va tan rápido que tiene que quedarse esperando a que la memoria le entregue los datos</a:t>
            </a:r>
            <a:endParaRPr lang="es-ES" dirty="0">
              <a:effectLst/>
            </a:endParaRPr>
          </a:p>
          <a:p>
            <a:endParaRPr lang="es-ES" dirty="0"/>
          </a:p>
        </p:txBody>
      </p:sp>
      <p:sp>
        <p:nvSpPr>
          <p:cNvPr id="4" name="Marcador de número de diapositiva 3"/>
          <p:cNvSpPr>
            <a:spLocks noGrp="1"/>
          </p:cNvSpPr>
          <p:nvPr>
            <p:ph type="sldNum" sz="quarter" idx="5"/>
          </p:nvPr>
        </p:nvSpPr>
        <p:spPr/>
        <p:txBody>
          <a:bodyPr/>
          <a:lstStyle/>
          <a:p>
            <a:fld id="{4EEF428F-135C-49C6-A855-708011B208B6}" type="slidenum">
              <a:rPr lang="es-ES" smtClean="0"/>
              <a:t>8</a:t>
            </a:fld>
            <a:endParaRPr lang="es-ES"/>
          </a:p>
        </p:txBody>
      </p:sp>
    </p:spTree>
    <p:extLst>
      <p:ext uri="{BB962C8B-B14F-4D97-AF65-F5344CB8AC3E}">
        <p14:creationId xmlns:p14="http://schemas.microsoft.com/office/powerpoint/2010/main" val="1722400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1" kern="1200" dirty="0">
                <a:solidFill>
                  <a:schemeClr val="tx1"/>
                </a:solidFill>
                <a:effectLst/>
                <a:latin typeface="+mn-lt"/>
                <a:ea typeface="+mn-ea"/>
                <a:cs typeface="+mn-cs"/>
              </a:rPr>
              <a:t>En esta tabla resumimos la evolución de nuestro proyecto. Partimos de casi 2 segundos en la versión secuencial base (V1). Solo con organizar bien la memoria en la V2, logramos un 24% de mejora. Al añadir hilos con </a:t>
            </a:r>
            <a:r>
              <a:rPr lang="es-ES" sz="1200" b="0" i="1" kern="1200" dirty="0" err="1">
                <a:solidFill>
                  <a:schemeClr val="tx1"/>
                </a:solidFill>
                <a:effectLst/>
                <a:latin typeface="+mn-lt"/>
                <a:ea typeface="+mn-ea"/>
                <a:cs typeface="+mn-cs"/>
              </a:rPr>
              <a:t>OpenMP</a:t>
            </a:r>
            <a:r>
              <a:rPr lang="es-ES" sz="1200" b="0" i="1" kern="1200" dirty="0">
                <a:solidFill>
                  <a:schemeClr val="tx1"/>
                </a:solidFill>
                <a:effectLst/>
                <a:latin typeface="+mn-lt"/>
                <a:ea typeface="+mn-ea"/>
                <a:cs typeface="+mn-cs"/>
              </a:rPr>
              <a:t> y procesos con MPI, los tiempos cayeron a unos 0,3 segundos, logrando un </a:t>
            </a:r>
            <a:r>
              <a:rPr lang="es-ES" sz="1200" b="0" i="1" kern="1200" dirty="0" err="1">
                <a:solidFill>
                  <a:schemeClr val="tx1"/>
                </a:solidFill>
                <a:effectLst/>
                <a:latin typeface="+mn-lt"/>
                <a:ea typeface="+mn-ea"/>
                <a:cs typeface="+mn-cs"/>
              </a:rPr>
              <a:t>speedup</a:t>
            </a:r>
            <a:r>
              <a:rPr lang="es-ES" sz="1200" b="0" i="1" kern="1200" dirty="0">
                <a:solidFill>
                  <a:schemeClr val="tx1"/>
                </a:solidFill>
                <a:effectLst/>
                <a:latin typeface="+mn-lt"/>
                <a:ea typeface="+mn-ea"/>
                <a:cs typeface="+mn-cs"/>
              </a:rPr>
              <a:t> superior a 6x. La combinación de ambos en la versión híbrida local nos dio un salto hasta el 10x. Pero la mayor mejora se observa en CUDA, que redujo claramente los tiempos bajando a 0,018 segundos, logrando una aceleración de 106x. Y lo más importante para nuestro rigor científico: en todas las versiones, el resultado final fue exactamente de 43.306 células vivas, garantizando que hemos optimizado sin romper la lógica.</a:t>
            </a:r>
            <a:endParaRPr lang="es-ES" dirty="0"/>
          </a:p>
        </p:txBody>
      </p:sp>
      <p:sp>
        <p:nvSpPr>
          <p:cNvPr id="4" name="Marcador de número de diapositiva 3"/>
          <p:cNvSpPr>
            <a:spLocks noGrp="1"/>
          </p:cNvSpPr>
          <p:nvPr>
            <p:ph type="sldNum" sz="quarter" idx="5"/>
          </p:nvPr>
        </p:nvSpPr>
        <p:spPr/>
        <p:txBody>
          <a:bodyPr/>
          <a:lstStyle/>
          <a:p>
            <a:fld id="{4EEF428F-135C-49C6-A855-708011B208B6}" type="slidenum">
              <a:rPr lang="es-ES" smtClean="0"/>
              <a:t>9</a:t>
            </a:fld>
            <a:endParaRPr lang="es-ES"/>
          </a:p>
        </p:txBody>
      </p:sp>
    </p:spTree>
    <p:extLst>
      <p:ext uri="{BB962C8B-B14F-4D97-AF65-F5344CB8AC3E}">
        <p14:creationId xmlns:p14="http://schemas.microsoft.com/office/powerpoint/2010/main" val="41782912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effectLst/>
              </a:rPr>
              <a:t>Para asegurar el rigor científico de nuestros resultados, fijamos siempre el mismo escenario: una matriz de 1000x1000, 1000 generaciones y una semilla aleatoria fija. Esto nos permite realizar una validación estricta, comprobando que todas las versiones terminan exactamente con 43.306 células vivas.</a:t>
            </a:r>
          </a:p>
          <a:p>
            <a:r>
              <a:rPr lang="es-ES" dirty="0">
                <a:effectLst/>
              </a:rPr>
              <a:t>Para medir el rendimiento real y evitar el ruido térmico del procesador, ejecutamos cada prueba 5 veces y nos quedamos con el mejor tiempo. Además, utilizamos la función de reloj más precisa para cada tecnología: </a:t>
            </a:r>
            <a:r>
              <a:rPr lang="es-ES" sz="1200" b="0" kern="1200" dirty="0" err="1">
                <a:solidFill>
                  <a:schemeClr val="tx1"/>
                </a:solidFill>
                <a:effectLst/>
                <a:latin typeface="+mn-lt"/>
                <a:ea typeface="+mn-ea"/>
                <a:cs typeface="+mn-cs"/>
              </a:rPr>
              <a:t>chrono</a:t>
            </a:r>
            <a:r>
              <a:rPr lang="es-ES" dirty="0">
                <a:effectLst/>
              </a:rPr>
              <a:t> en C++, </a:t>
            </a:r>
            <a:r>
              <a:rPr lang="es-ES" sz="1200" b="0" kern="1200" dirty="0" err="1">
                <a:solidFill>
                  <a:schemeClr val="tx1"/>
                </a:solidFill>
                <a:effectLst/>
                <a:latin typeface="+mn-lt"/>
                <a:ea typeface="+mn-ea"/>
                <a:cs typeface="+mn-cs"/>
              </a:rPr>
              <a:t>omp_get_wtime</a:t>
            </a:r>
            <a:r>
              <a:rPr lang="es-ES" dirty="0">
                <a:effectLst/>
              </a:rPr>
              <a:t> en </a:t>
            </a:r>
            <a:r>
              <a:rPr lang="es-ES" dirty="0" err="1">
                <a:effectLst/>
              </a:rPr>
              <a:t>OpenMP</a:t>
            </a:r>
            <a:r>
              <a:rPr lang="es-ES" dirty="0">
                <a:effectLst/>
              </a:rPr>
              <a:t>, el tiempo del proceso más lento en MPI, y eventos nativos en CUDA para medir puramente el tiempo de cómputo en la gráfica.</a:t>
            </a:r>
          </a:p>
          <a:p>
            <a:endParaRPr lang="es-ES" dirty="0"/>
          </a:p>
        </p:txBody>
      </p:sp>
      <p:sp>
        <p:nvSpPr>
          <p:cNvPr id="4" name="Marcador de número de diapositiva 3"/>
          <p:cNvSpPr>
            <a:spLocks noGrp="1"/>
          </p:cNvSpPr>
          <p:nvPr>
            <p:ph type="sldNum" sz="quarter" idx="5"/>
          </p:nvPr>
        </p:nvSpPr>
        <p:spPr/>
        <p:txBody>
          <a:bodyPr/>
          <a:lstStyle/>
          <a:p>
            <a:fld id="{4EEF428F-135C-49C6-A855-708011B208B6}" type="slidenum">
              <a:rPr lang="es-ES" smtClean="0"/>
              <a:t>10</a:t>
            </a:fld>
            <a:endParaRPr lang="es-ES"/>
          </a:p>
        </p:txBody>
      </p:sp>
    </p:spTree>
    <p:extLst>
      <p:ext uri="{BB962C8B-B14F-4D97-AF65-F5344CB8AC3E}">
        <p14:creationId xmlns:p14="http://schemas.microsoft.com/office/powerpoint/2010/main" val="2997536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1" kern="1200" dirty="0">
                <a:solidFill>
                  <a:schemeClr val="tx1"/>
                </a:solidFill>
                <a:effectLst/>
                <a:latin typeface="+mn-lt"/>
                <a:ea typeface="+mn-ea"/>
                <a:cs typeface="+mn-cs"/>
              </a:rPr>
              <a:t>Nuestra primera gran mejora fue arreglar el acceso a memoria en la versión 2. Pasamos de usar un vector de vectores, que fragmentaba los datos y causaba continuos fallos de caché, a usar un único vector plano y continuo. Al hacer esto, garantizamos que las celdas se lean en el mismo orden físico en el que están en la RAM, maximizando el uso de la caché. Además, </a:t>
            </a:r>
            <a:r>
              <a:rPr lang="es-ES" sz="1200" b="0" i="1" kern="1200" dirty="0" err="1">
                <a:solidFill>
                  <a:schemeClr val="tx1"/>
                </a:solidFill>
                <a:effectLst/>
                <a:latin typeface="+mn-lt"/>
                <a:ea typeface="+mn-ea"/>
                <a:cs typeface="+mn-cs"/>
              </a:rPr>
              <a:t>precalculamos</a:t>
            </a:r>
            <a:r>
              <a:rPr lang="es-ES" sz="1200" b="0" i="1" kern="1200" dirty="0">
                <a:solidFill>
                  <a:schemeClr val="tx1"/>
                </a:solidFill>
                <a:effectLst/>
                <a:latin typeface="+mn-lt"/>
                <a:ea typeface="+mn-ea"/>
                <a:cs typeface="+mn-cs"/>
              </a:rPr>
              <a:t> las posiciones de cada fila para evitar hacer multiplicaciones dentro del bucle. Solo con estos cambios en la memoria, bajamos el tiempo a 1.56 segundos, logrando un </a:t>
            </a:r>
            <a:r>
              <a:rPr lang="es-ES" sz="1200" b="0" i="1" kern="1200" dirty="0" err="1">
                <a:solidFill>
                  <a:schemeClr val="tx1"/>
                </a:solidFill>
                <a:effectLst/>
                <a:latin typeface="+mn-lt"/>
                <a:ea typeface="+mn-ea"/>
                <a:cs typeface="+mn-cs"/>
              </a:rPr>
              <a:t>speedup</a:t>
            </a:r>
            <a:r>
              <a:rPr lang="es-ES" sz="1200" b="0" i="1" kern="1200" dirty="0">
                <a:solidFill>
                  <a:schemeClr val="tx1"/>
                </a:solidFill>
                <a:effectLst/>
                <a:latin typeface="+mn-lt"/>
                <a:ea typeface="+mn-ea"/>
                <a:cs typeface="+mn-cs"/>
              </a:rPr>
              <a:t> de 1.24x. Esta base fue imprescindible para que las versiones paralelas posteriores no se asfixiaran intentando leer datos dispersos.</a:t>
            </a:r>
            <a:endParaRPr lang="es-ES" dirty="0"/>
          </a:p>
        </p:txBody>
      </p:sp>
      <p:sp>
        <p:nvSpPr>
          <p:cNvPr id="4" name="Marcador de número de diapositiva 3"/>
          <p:cNvSpPr>
            <a:spLocks noGrp="1"/>
          </p:cNvSpPr>
          <p:nvPr>
            <p:ph type="sldNum" sz="quarter" idx="5"/>
          </p:nvPr>
        </p:nvSpPr>
        <p:spPr/>
        <p:txBody>
          <a:bodyPr/>
          <a:lstStyle/>
          <a:p>
            <a:fld id="{4EEF428F-135C-49C6-A855-708011B208B6}" type="slidenum">
              <a:rPr lang="es-ES" smtClean="0"/>
              <a:t>11</a:t>
            </a:fld>
            <a:endParaRPr lang="es-ES"/>
          </a:p>
        </p:txBody>
      </p:sp>
    </p:spTree>
    <p:extLst>
      <p:ext uri="{BB962C8B-B14F-4D97-AF65-F5344CB8AC3E}">
        <p14:creationId xmlns:p14="http://schemas.microsoft.com/office/powerpoint/2010/main" val="39132835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1" kern="1200" dirty="0">
                <a:solidFill>
                  <a:schemeClr val="tx1"/>
                </a:solidFill>
                <a:effectLst/>
                <a:latin typeface="+mn-lt"/>
                <a:ea typeface="+mn-ea"/>
                <a:cs typeface="+mn-cs"/>
              </a:rPr>
              <a:t>Una vez optimizada la memoria, el siguiente paso lógico era paralelizar el cálculo mediante hilos con </a:t>
            </a:r>
            <a:r>
              <a:rPr lang="es-ES" sz="1200" b="0" i="1" kern="1200" dirty="0" err="1">
                <a:solidFill>
                  <a:schemeClr val="tx1"/>
                </a:solidFill>
                <a:effectLst/>
                <a:latin typeface="+mn-lt"/>
                <a:ea typeface="+mn-ea"/>
                <a:cs typeface="+mn-cs"/>
              </a:rPr>
              <a:t>OpenMP</a:t>
            </a:r>
            <a:r>
              <a:rPr lang="es-ES" sz="1200" b="0" i="1" kern="1200" dirty="0">
                <a:solidFill>
                  <a:schemeClr val="tx1"/>
                </a:solidFill>
                <a:effectLst/>
                <a:latin typeface="+mn-lt"/>
                <a:ea typeface="+mn-ea"/>
                <a:cs typeface="+mn-cs"/>
              </a:rPr>
              <a:t>. Añadiendo una simple directiva al bucle principal, logramos repartir el cálculo de las filas entre los distintos hilos. Como todas las celdas requieren exactamente el mismo esfuerzo computacional, utilizamos una planificación estática (</a:t>
            </a:r>
            <a:r>
              <a:rPr lang="es-ES" sz="1200" b="0" i="1" kern="1200" dirty="0" err="1">
                <a:solidFill>
                  <a:schemeClr val="tx1"/>
                </a:solidFill>
                <a:effectLst/>
                <a:latin typeface="+mn-lt"/>
                <a:ea typeface="+mn-ea"/>
                <a:cs typeface="+mn-cs"/>
              </a:rPr>
              <a:t>schedule</a:t>
            </a:r>
            <a:r>
              <a:rPr lang="es-ES" sz="1200" b="0" i="1" kern="1200" dirty="0">
                <a:solidFill>
                  <a:schemeClr val="tx1"/>
                </a:solidFill>
                <a:effectLst/>
                <a:latin typeface="+mn-lt"/>
                <a:ea typeface="+mn-ea"/>
                <a:cs typeface="+mn-cs"/>
              </a:rPr>
              <a:t>(</a:t>
            </a:r>
            <a:r>
              <a:rPr lang="es-ES" sz="1200" b="0" i="1" kern="1200" dirty="0" err="1">
                <a:solidFill>
                  <a:schemeClr val="tx1"/>
                </a:solidFill>
                <a:effectLst/>
                <a:latin typeface="+mn-lt"/>
                <a:ea typeface="+mn-ea"/>
                <a:cs typeface="+mn-cs"/>
              </a:rPr>
              <a:t>static</a:t>
            </a:r>
            <a:r>
              <a:rPr lang="es-ES" sz="1200" b="0" i="1" kern="1200" dirty="0">
                <a:solidFill>
                  <a:schemeClr val="tx1"/>
                </a:solidFill>
                <a:effectLst/>
                <a:latin typeface="+mn-lt"/>
                <a:ea typeface="+mn-ea"/>
                <a:cs typeface="+mn-cs"/>
              </a:rPr>
              <a:t>)) para asegurar un reparto de carga perfecto sin añadir retrasos por planificación dinámica. Además, gracias al uso del doble buffer, cada hilo escribe en una posición exclusiva de memoria, por lo que no existen condiciones de carrera. Con 8 hilos, bajamos el tiempo a solo 0,3 segundos, logrando un </a:t>
            </a:r>
            <a:r>
              <a:rPr lang="es-ES" sz="1200" b="0" i="1" kern="1200" dirty="0" err="1">
                <a:solidFill>
                  <a:schemeClr val="tx1"/>
                </a:solidFill>
                <a:effectLst/>
                <a:latin typeface="+mn-lt"/>
                <a:ea typeface="+mn-ea"/>
                <a:cs typeface="+mn-cs"/>
              </a:rPr>
              <a:t>speedup</a:t>
            </a:r>
            <a:r>
              <a:rPr lang="es-ES" sz="1200" b="0" i="1" kern="1200" dirty="0">
                <a:solidFill>
                  <a:schemeClr val="tx1"/>
                </a:solidFill>
                <a:effectLst/>
                <a:latin typeface="+mn-lt"/>
                <a:ea typeface="+mn-ea"/>
                <a:cs typeface="+mn-cs"/>
              </a:rPr>
              <a:t> de 6,27x.</a:t>
            </a:r>
            <a:endParaRPr lang="es-ES" dirty="0"/>
          </a:p>
        </p:txBody>
      </p:sp>
      <p:sp>
        <p:nvSpPr>
          <p:cNvPr id="4" name="Marcador de número de diapositiva 3"/>
          <p:cNvSpPr>
            <a:spLocks noGrp="1"/>
          </p:cNvSpPr>
          <p:nvPr>
            <p:ph type="sldNum" sz="quarter" idx="5"/>
          </p:nvPr>
        </p:nvSpPr>
        <p:spPr/>
        <p:txBody>
          <a:bodyPr/>
          <a:lstStyle/>
          <a:p>
            <a:fld id="{4EEF428F-135C-49C6-A855-708011B208B6}" type="slidenum">
              <a:rPr lang="es-ES" smtClean="0"/>
              <a:t>12</a:t>
            </a:fld>
            <a:endParaRPr lang="es-ES"/>
          </a:p>
        </p:txBody>
      </p:sp>
    </p:spTree>
    <p:extLst>
      <p:ext uri="{BB962C8B-B14F-4D97-AF65-F5344CB8AC3E}">
        <p14:creationId xmlns:p14="http://schemas.microsoft.com/office/powerpoint/2010/main" val="17169338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i="1" dirty="0">
                <a:effectLst/>
              </a:rPr>
              <a:t>Para llevar nuestro simulador a múltiples nodos, en la versión 4 usamos MPI. Aquí dividimos la matriz y repartimos bloques de filas entre los distintos procesos.</a:t>
            </a:r>
            <a:endParaRPr lang="es-ES" dirty="0">
              <a:effectLst/>
            </a:endParaRPr>
          </a:p>
          <a:p>
            <a:r>
              <a:rPr lang="es-ES" i="1" dirty="0">
                <a:effectLst/>
              </a:rPr>
              <a:t>El principal reto en un entorno distribuido son los bordes de cada bloque. Lo solucionamos añadiendo "filas fantasma", que son copias de las filas de los procesos vecinos. Para intercambiar estos datos en cada generación sin sufrir bloqueos mutuos (</a:t>
            </a:r>
            <a:r>
              <a:rPr lang="es-ES" i="1" dirty="0" err="1">
                <a:effectLst/>
              </a:rPr>
              <a:t>deadlocks</a:t>
            </a:r>
            <a:r>
              <a:rPr lang="es-ES" i="1" dirty="0">
                <a:effectLst/>
              </a:rPr>
              <a:t>), utilizamos la instrucción de comunicación atómica </a:t>
            </a:r>
            <a:r>
              <a:rPr lang="es-ES" sz="1200" b="0" i="1" kern="1200" dirty="0" err="1">
                <a:solidFill>
                  <a:schemeClr val="tx1"/>
                </a:solidFill>
                <a:effectLst/>
                <a:latin typeface="+mn-lt"/>
                <a:ea typeface="+mn-ea"/>
                <a:cs typeface="+mn-cs"/>
              </a:rPr>
              <a:t>MPI_Sendrecv</a:t>
            </a:r>
            <a:r>
              <a:rPr lang="es-ES" i="1" dirty="0">
                <a:effectLst/>
              </a:rPr>
              <a:t>.</a:t>
            </a:r>
            <a:endParaRPr lang="es-ES" dirty="0">
              <a:effectLst/>
            </a:endParaRPr>
          </a:p>
          <a:p>
            <a:r>
              <a:rPr lang="es-ES" i="1" dirty="0">
                <a:effectLst/>
              </a:rPr>
              <a:t>Otro detalle fundamental es cómo medimos el rendimiento: usamos un </a:t>
            </a:r>
            <a:r>
              <a:rPr lang="es-ES" sz="1200" b="0" i="1" kern="1200" dirty="0" err="1">
                <a:solidFill>
                  <a:schemeClr val="tx1"/>
                </a:solidFill>
                <a:effectLst/>
                <a:latin typeface="+mn-lt"/>
                <a:ea typeface="+mn-ea"/>
                <a:cs typeface="+mn-cs"/>
              </a:rPr>
              <a:t>MPI_Reduce</a:t>
            </a:r>
            <a:r>
              <a:rPr lang="es-ES" i="1" dirty="0">
                <a:effectLst/>
              </a:rPr>
              <a:t> con la operación MAX, porque el tiempo total de la simulación siempre lo va a marcar el proceso más lento. Con 8 procesos locales bajamos el tiempo a 0,31 segundos, logrando un </a:t>
            </a:r>
            <a:r>
              <a:rPr lang="es-ES" i="1" dirty="0" err="1">
                <a:effectLst/>
              </a:rPr>
              <a:t>speedup</a:t>
            </a:r>
            <a:r>
              <a:rPr lang="es-ES" i="1" dirty="0">
                <a:effectLst/>
              </a:rPr>
              <a:t> de 6,19x. Es un rendimiento muy similar al de </a:t>
            </a:r>
            <a:r>
              <a:rPr lang="es-ES" i="1" dirty="0" err="1">
                <a:effectLst/>
              </a:rPr>
              <a:t>OpenMP</a:t>
            </a:r>
            <a:r>
              <a:rPr lang="es-ES" i="1" dirty="0">
                <a:effectLst/>
              </a:rPr>
              <a:t>, pero con la enorme ventaja de que MPI sí nos permite escalar a un clúster físico</a:t>
            </a:r>
            <a:endParaRPr lang="es-ES" dirty="0">
              <a:effectLst/>
            </a:endParaRPr>
          </a:p>
          <a:p>
            <a:endParaRPr lang="es-ES" dirty="0"/>
          </a:p>
        </p:txBody>
      </p:sp>
      <p:sp>
        <p:nvSpPr>
          <p:cNvPr id="4" name="Marcador de número de diapositiva 3"/>
          <p:cNvSpPr>
            <a:spLocks noGrp="1"/>
          </p:cNvSpPr>
          <p:nvPr>
            <p:ph type="sldNum" sz="quarter" idx="5"/>
          </p:nvPr>
        </p:nvSpPr>
        <p:spPr/>
        <p:txBody>
          <a:bodyPr/>
          <a:lstStyle/>
          <a:p>
            <a:fld id="{4EEF428F-135C-49C6-A855-708011B208B6}" type="slidenum">
              <a:rPr lang="es-ES" smtClean="0"/>
              <a:t>13</a:t>
            </a:fld>
            <a:endParaRPr lang="es-ES"/>
          </a:p>
        </p:txBody>
      </p:sp>
    </p:spTree>
    <p:extLst>
      <p:ext uri="{BB962C8B-B14F-4D97-AF65-F5344CB8AC3E}">
        <p14:creationId xmlns:p14="http://schemas.microsoft.com/office/powerpoint/2010/main" val="26184700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1" kern="1200" dirty="0">
                <a:solidFill>
                  <a:schemeClr val="tx1"/>
                </a:solidFill>
                <a:effectLst/>
                <a:latin typeface="+mn-lt"/>
                <a:ea typeface="+mn-ea"/>
                <a:cs typeface="+mn-cs"/>
              </a:rPr>
              <a:t>En la versión 5 combinamos paralelismo distribuido y de memoria compartida. En nuestro equipo local usamos 8 procesos MPI con 2 hilos OpenMP cada uno, logrando nuestro mejor tiempo en CPU: 0,18 segundos y un </a:t>
            </a:r>
            <a:r>
              <a:rPr lang="es-ES" sz="1200" b="0" i="1" kern="1200" dirty="0" err="1">
                <a:solidFill>
                  <a:schemeClr val="tx1"/>
                </a:solidFill>
                <a:effectLst/>
                <a:latin typeface="+mn-lt"/>
                <a:ea typeface="+mn-ea"/>
                <a:cs typeface="+mn-cs"/>
              </a:rPr>
              <a:t>speedup</a:t>
            </a:r>
            <a:r>
              <a:rPr lang="es-ES" sz="1200" b="0" i="1" kern="1200" dirty="0">
                <a:solidFill>
                  <a:schemeClr val="tx1"/>
                </a:solidFill>
                <a:effectLst/>
                <a:latin typeface="+mn-lt"/>
                <a:ea typeface="+mn-ea"/>
                <a:cs typeface="+mn-cs"/>
              </a:rPr>
              <a:t> de 10,32x. Sin embargo, al probarlo en el clúster, el rendimiento se desplomó tardando 4 segundos. ¿Por qué? Por el '</a:t>
            </a:r>
            <a:r>
              <a:rPr lang="es-ES" sz="1200" b="0" i="1" kern="1200" dirty="0" err="1">
                <a:solidFill>
                  <a:schemeClr val="tx1"/>
                </a:solidFill>
                <a:effectLst/>
                <a:latin typeface="+mn-lt"/>
                <a:ea typeface="+mn-ea"/>
                <a:cs typeface="+mn-cs"/>
              </a:rPr>
              <a:t>oversubscription</a:t>
            </a:r>
            <a:r>
              <a:rPr lang="es-ES" sz="1200" b="0" i="1" kern="1200" dirty="0">
                <a:solidFill>
                  <a:schemeClr val="tx1"/>
                </a:solidFill>
                <a:effectLst/>
                <a:latin typeface="+mn-lt"/>
                <a:ea typeface="+mn-ea"/>
                <a:cs typeface="+mn-cs"/>
              </a:rPr>
              <a:t>'. Como el clúster usa máquinas virtuales con recursos limitados y compartidos, los procesos y los hilos competían por los mismos núcleos virtuales, saturando el sistema. Esto nos enseñó una lección clave: el hardware subyacente es tan importante como el propio código.</a:t>
            </a:r>
            <a:endParaRPr lang="es-ES" dirty="0"/>
          </a:p>
        </p:txBody>
      </p:sp>
      <p:sp>
        <p:nvSpPr>
          <p:cNvPr id="4" name="Marcador de número de diapositiva 3"/>
          <p:cNvSpPr>
            <a:spLocks noGrp="1"/>
          </p:cNvSpPr>
          <p:nvPr>
            <p:ph type="sldNum" sz="quarter" idx="5"/>
          </p:nvPr>
        </p:nvSpPr>
        <p:spPr/>
        <p:txBody>
          <a:bodyPr/>
          <a:lstStyle/>
          <a:p>
            <a:fld id="{4EEF428F-135C-49C6-A855-708011B208B6}" type="slidenum">
              <a:rPr lang="es-ES" smtClean="0"/>
              <a:t>14</a:t>
            </a:fld>
            <a:endParaRPr lang="es-ES"/>
          </a:p>
        </p:txBody>
      </p:sp>
    </p:spTree>
    <p:extLst>
      <p:ext uri="{BB962C8B-B14F-4D97-AF65-F5344CB8AC3E}">
        <p14:creationId xmlns:p14="http://schemas.microsoft.com/office/powerpoint/2010/main" val="10899919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1" kern="1200" dirty="0">
                <a:solidFill>
                  <a:schemeClr val="tx1"/>
                </a:solidFill>
                <a:effectLst/>
                <a:latin typeface="+mn-lt"/>
                <a:ea typeface="+mn-ea"/>
                <a:cs typeface="+mn-cs"/>
              </a:rPr>
              <a:t>Finalmente, en la versión 6 damos el salto al paralelismo masivo de datos enviando el cálculo a la tarjeta gráfica. En lugar de repartir filas, asignamos un hilo CUDA independiente para cada celda de la matriz. Para exprimir al máximo nuestra RTX 4060, organizamos los hilos en bloques de 16x16, lo que nos da la ocupación perfecta en el hardware. Además, aplicamos una división "techo" al crear el </a:t>
            </a:r>
            <a:r>
              <a:rPr lang="es-ES" sz="1200" b="0" i="1" kern="1200" dirty="0" err="1">
                <a:solidFill>
                  <a:schemeClr val="tx1"/>
                </a:solidFill>
                <a:effectLst/>
                <a:latin typeface="+mn-lt"/>
                <a:ea typeface="+mn-ea"/>
                <a:cs typeface="+mn-cs"/>
              </a:rPr>
              <a:t>grid</a:t>
            </a:r>
            <a:r>
              <a:rPr lang="es-ES" sz="1200" b="0" i="1" kern="1200" dirty="0">
                <a:solidFill>
                  <a:schemeClr val="tx1"/>
                </a:solidFill>
                <a:effectLst/>
                <a:latin typeface="+mn-lt"/>
                <a:ea typeface="+mn-ea"/>
                <a:cs typeface="+mn-cs"/>
              </a:rPr>
              <a:t> y ponemos una guarda de seguridad en el código para que los hilos sobrantes de los bordes no accedan a memoria indebida. El resultado es abrumador: el tiempo de cómputo cae a solo 0,018 segundos, logrando un </a:t>
            </a:r>
            <a:r>
              <a:rPr lang="es-ES" sz="1200" b="0" i="1" kern="1200" dirty="0" err="1">
                <a:solidFill>
                  <a:schemeClr val="tx1"/>
                </a:solidFill>
                <a:effectLst/>
                <a:latin typeface="+mn-lt"/>
                <a:ea typeface="+mn-ea"/>
                <a:cs typeface="+mn-cs"/>
              </a:rPr>
              <a:t>speedup</a:t>
            </a:r>
            <a:r>
              <a:rPr lang="es-ES" sz="1200" b="0" i="1" kern="1200" dirty="0">
                <a:solidFill>
                  <a:schemeClr val="tx1"/>
                </a:solidFill>
                <a:effectLst/>
                <a:latin typeface="+mn-lt"/>
                <a:ea typeface="+mn-ea"/>
                <a:cs typeface="+mn-cs"/>
              </a:rPr>
              <a:t> masivo de 106x.</a:t>
            </a:r>
            <a:br>
              <a:rPr lang="es-ES" dirty="0"/>
            </a:br>
            <a:endParaRPr lang="es-ES" dirty="0"/>
          </a:p>
        </p:txBody>
      </p:sp>
      <p:sp>
        <p:nvSpPr>
          <p:cNvPr id="4" name="Marcador de número de diapositiva 3"/>
          <p:cNvSpPr>
            <a:spLocks noGrp="1"/>
          </p:cNvSpPr>
          <p:nvPr>
            <p:ph type="sldNum" sz="quarter" idx="5"/>
          </p:nvPr>
        </p:nvSpPr>
        <p:spPr/>
        <p:txBody>
          <a:bodyPr/>
          <a:lstStyle/>
          <a:p>
            <a:fld id="{4EEF428F-135C-49C6-A855-708011B208B6}" type="slidenum">
              <a:rPr lang="es-ES" smtClean="0"/>
              <a:t>15</a:t>
            </a:fld>
            <a:endParaRPr lang="es-ES"/>
          </a:p>
        </p:txBody>
      </p:sp>
    </p:spTree>
    <p:extLst>
      <p:ext uri="{BB962C8B-B14F-4D97-AF65-F5344CB8AC3E}">
        <p14:creationId xmlns:p14="http://schemas.microsoft.com/office/powerpoint/2010/main" val="19497671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i="1" dirty="0">
                <a:effectLst/>
              </a:rPr>
              <a:t>En esta comparativa global vemos claramente la evolución de nuestro código. Partimos de una base de casi 2 segundos. Al aplicar paralelismo en CPU con </a:t>
            </a:r>
            <a:r>
              <a:rPr lang="es-ES" i="1" dirty="0" err="1">
                <a:effectLst/>
              </a:rPr>
              <a:t>OpenMP</a:t>
            </a:r>
            <a:r>
              <a:rPr lang="es-ES" i="1" dirty="0">
                <a:effectLst/>
              </a:rPr>
              <a:t> y MPI (usando 8 hilos o procesos), obtuvimos un rendimiento casi idéntico en ambos casos, rondando los 0,3 segundos y un </a:t>
            </a:r>
            <a:r>
              <a:rPr lang="es-ES" i="1" dirty="0" err="1">
                <a:effectLst/>
              </a:rPr>
              <a:t>speedup</a:t>
            </a:r>
            <a:r>
              <a:rPr lang="es-ES" i="1" dirty="0">
                <a:effectLst/>
              </a:rPr>
              <a:t> de 6x. La combinación híbrida fue nuestra campeona en la CPU local, bajando a 0,18 segundos (10x). Sin embargo, la mayor diferencia aparece con CUDA, que reduce el tiempo a solo 0,018 segundos consiguiendo una aceleración masiva de 106x.</a:t>
            </a:r>
            <a:endParaRPr lang="es-ES" dirty="0">
              <a:effectLst/>
            </a:endParaRPr>
          </a:p>
          <a:p>
            <a:r>
              <a:rPr lang="es-ES" i="1" dirty="0">
                <a:effectLst/>
              </a:rPr>
              <a:t>Pero el dato de discusión más interesante nos lo dio el clúster. Mientras que en nuestro PC la versión híbrida mejoraba claramente, en las máquinas virtuales del clúster se desplomó tardando 4 segundos frente a algo más de un segundo que tardó MPI puro. Esto nos demostró empíricamente cómo el '</a:t>
            </a:r>
            <a:r>
              <a:rPr lang="es-ES" i="1" dirty="0" err="1">
                <a:effectLst/>
              </a:rPr>
              <a:t>oversubscription</a:t>
            </a:r>
            <a:r>
              <a:rPr lang="es-ES" i="1" dirty="0">
                <a:effectLst/>
              </a:rPr>
              <a:t>' y la sobrecarga de los recursos virtualizados pueden arruinar el rendimiento de un buen código</a:t>
            </a:r>
            <a:endParaRPr lang="es-ES" dirty="0">
              <a:effectLst/>
            </a:endParaRPr>
          </a:p>
          <a:p>
            <a:endParaRPr lang="es-ES" dirty="0"/>
          </a:p>
        </p:txBody>
      </p:sp>
      <p:sp>
        <p:nvSpPr>
          <p:cNvPr id="4" name="Marcador de número de diapositiva 3"/>
          <p:cNvSpPr>
            <a:spLocks noGrp="1"/>
          </p:cNvSpPr>
          <p:nvPr>
            <p:ph type="sldNum" sz="quarter" idx="5"/>
          </p:nvPr>
        </p:nvSpPr>
        <p:spPr/>
        <p:txBody>
          <a:bodyPr/>
          <a:lstStyle/>
          <a:p>
            <a:fld id="{4EEF428F-135C-49C6-A855-708011B208B6}" type="slidenum">
              <a:rPr lang="es-ES" smtClean="0"/>
              <a:t>16</a:t>
            </a:fld>
            <a:endParaRPr lang="es-ES"/>
          </a:p>
        </p:txBody>
      </p:sp>
    </p:spTree>
    <p:extLst>
      <p:ext uri="{BB962C8B-B14F-4D97-AF65-F5344CB8AC3E}">
        <p14:creationId xmlns:p14="http://schemas.microsoft.com/office/powerpoint/2010/main" val="41683853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i="1" dirty="0">
                <a:effectLst/>
              </a:rPr>
              <a:t>Pero el dato de discusión más interesante nos lo dio el clúster. Mientras que en nuestro PC la versión híbrida mejoraba claramente, en las máquinas virtuales del clúster se desplomó tardando 4 segundos frente a algo más de un segundo que tardó MPI puro. Esto nos demostró empíricamente cómo el '</a:t>
            </a:r>
            <a:r>
              <a:rPr lang="es-ES" i="1" dirty="0" err="1">
                <a:effectLst/>
              </a:rPr>
              <a:t>oversubscription</a:t>
            </a:r>
            <a:r>
              <a:rPr lang="es-ES" i="1" dirty="0">
                <a:effectLst/>
              </a:rPr>
              <a:t>' y la sobrecarga de los recursos virtualizados pueden arruinar el rendimiento de un buen código</a:t>
            </a:r>
            <a:endParaRPr lang="es-ES" dirty="0">
              <a:effectLst/>
            </a:endParaRPr>
          </a:p>
          <a:p>
            <a:endParaRPr lang="es-ES" dirty="0"/>
          </a:p>
        </p:txBody>
      </p:sp>
      <p:sp>
        <p:nvSpPr>
          <p:cNvPr id="4" name="Marcador de número de diapositiva 3"/>
          <p:cNvSpPr>
            <a:spLocks noGrp="1"/>
          </p:cNvSpPr>
          <p:nvPr>
            <p:ph type="sldNum" sz="quarter" idx="5"/>
          </p:nvPr>
        </p:nvSpPr>
        <p:spPr/>
        <p:txBody>
          <a:bodyPr/>
          <a:lstStyle/>
          <a:p>
            <a:fld id="{4EEF428F-135C-49C6-A855-708011B208B6}" type="slidenum">
              <a:rPr lang="es-ES" smtClean="0"/>
              <a:t>17</a:t>
            </a:fld>
            <a:endParaRPr lang="es-ES"/>
          </a:p>
        </p:txBody>
      </p:sp>
    </p:spTree>
    <p:extLst>
      <p:ext uri="{BB962C8B-B14F-4D97-AF65-F5344CB8AC3E}">
        <p14:creationId xmlns:p14="http://schemas.microsoft.com/office/powerpoint/2010/main" val="5928173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1" kern="1200" dirty="0">
                <a:solidFill>
                  <a:schemeClr val="tx1"/>
                </a:solidFill>
                <a:effectLst/>
                <a:latin typeface="+mn-lt"/>
                <a:ea typeface="+mn-ea"/>
                <a:cs typeface="+mn-cs"/>
              </a:rPr>
              <a:t>Para terminar, la principal lección que sacamos de este proyecto es que </a:t>
            </a:r>
            <a:r>
              <a:rPr lang="es-ES" sz="1200" b="1" i="1" kern="1200" dirty="0">
                <a:solidFill>
                  <a:schemeClr val="tx1"/>
                </a:solidFill>
                <a:effectLst/>
                <a:latin typeface="+mn-lt"/>
                <a:ea typeface="+mn-ea"/>
                <a:cs typeface="+mn-cs"/>
              </a:rPr>
              <a:t>más paralelismo no significa automáticamente más velocidad</a:t>
            </a:r>
            <a:r>
              <a:rPr lang="es-ES" sz="1200" b="0" i="1" kern="1200" dirty="0">
                <a:solidFill>
                  <a:schemeClr val="tx1"/>
                </a:solidFill>
                <a:effectLst/>
                <a:latin typeface="+mn-lt"/>
                <a:ea typeface="+mn-ea"/>
                <a:cs typeface="+mn-cs"/>
              </a:rPr>
              <a:t>. Hemos comprobado empíricamente que optimizar el acceso a memoria es el paso obligatorio antes de lanzar hilos o procesos. Hemos visto cómo </a:t>
            </a:r>
            <a:r>
              <a:rPr lang="es-ES" sz="1200" b="0" i="1" kern="1200" dirty="0" err="1">
                <a:solidFill>
                  <a:schemeClr val="tx1"/>
                </a:solidFill>
                <a:effectLst/>
                <a:latin typeface="+mn-lt"/>
                <a:ea typeface="+mn-ea"/>
                <a:cs typeface="+mn-cs"/>
              </a:rPr>
              <a:t>OpenMP</a:t>
            </a:r>
            <a:r>
              <a:rPr lang="es-ES" sz="1200" b="0" i="1" kern="1200" dirty="0">
                <a:solidFill>
                  <a:schemeClr val="tx1"/>
                </a:solidFill>
                <a:effectLst/>
                <a:latin typeface="+mn-lt"/>
                <a:ea typeface="+mn-ea"/>
                <a:cs typeface="+mn-cs"/>
              </a:rPr>
              <a:t> y MPI rinden de forma similar en nuestra CPU local, y cómo la versión híbrida exprime la máquina al máximo logrando un </a:t>
            </a:r>
            <a:r>
              <a:rPr lang="es-ES" sz="1200" b="0" i="1" kern="1200" dirty="0" err="1">
                <a:solidFill>
                  <a:schemeClr val="tx1"/>
                </a:solidFill>
                <a:effectLst/>
                <a:latin typeface="+mn-lt"/>
                <a:ea typeface="+mn-ea"/>
                <a:cs typeface="+mn-cs"/>
              </a:rPr>
              <a:t>speedup</a:t>
            </a:r>
            <a:r>
              <a:rPr lang="es-ES" sz="1200" b="0" i="1" kern="1200" dirty="0">
                <a:solidFill>
                  <a:schemeClr val="tx1"/>
                </a:solidFill>
                <a:effectLst/>
                <a:latin typeface="+mn-lt"/>
                <a:ea typeface="+mn-ea"/>
                <a:cs typeface="+mn-cs"/>
              </a:rPr>
              <a:t> de 10x. Por supuesto, CUDA obtiene el mayor rendimiento frente a las versiones CPU con un espectacular 106x gracias al paralelismo masivo. Pero el aprendizaje más valioso nos lo dio el clúster: demostrando que el hardware subyacente, el ancho de banda y los costes de coordinación son los que realmente marcan el límite de rendimiento de nuestro código.</a:t>
            </a:r>
            <a:endParaRPr lang="es-ES" dirty="0"/>
          </a:p>
        </p:txBody>
      </p:sp>
      <p:sp>
        <p:nvSpPr>
          <p:cNvPr id="4" name="Marcador de número de diapositiva 3"/>
          <p:cNvSpPr>
            <a:spLocks noGrp="1"/>
          </p:cNvSpPr>
          <p:nvPr>
            <p:ph type="sldNum" sz="quarter" idx="5"/>
          </p:nvPr>
        </p:nvSpPr>
        <p:spPr/>
        <p:txBody>
          <a:bodyPr/>
          <a:lstStyle/>
          <a:p>
            <a:fld id="{4EEF428F-135C-49C6-A855-708011B208B6}" type="slidenum">
              <a:rPr lang="es-ES" smtClean="0"/>
              <a:t>18</a:t>
            </a:fld>
            <a:endParaRPr lang="es-ES"/>
          </a:p>
        </p:txBody>
      </p:sp>
    </p:spTree>
    <p:extLst>
      <p:ext uri="{BB962C8B-B14F-4D97-AF65-F5344CB8AC3E}">
        <p14:creationId xmlns:p14="http://schemas.microsoft.com/office/powerpoint/2010/main" val="23471268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file:///C:\Users\gonta\Desktop\ASD-JuegoVida-L6G3-main%20(1)\ASD-JuegoVida-L6G3-main\Codigo\V1_secuencial_base.cpp"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file:///C:\Users\gonta\Desktop\ASD-JuegoVida-L6G3-main%20(1)\ASD-JuegoVida-L6G3-main\Resultados\resultados.xlsx"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file:///C:\Users\gonta\Desktop\ASD-JuegoVida-L6G3-main%20(1)\ASD-JuegoVida-L6G3-main\Codigo\V2_memoria_contigua.cpp"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file:///C:\Users\gonta\Desktop\ASD-JuegoVida-L6G3-main%20(1)\ASD-JuegoVida-L6G3-main\Codigo\V3_openmp.cpp"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file:///C:\Users\gonta\Desktop\ASD-JuegoVida-L6G3-main%20(1)\ASD-JuegoVida-L6G3-main\Codigo\V4_mpi.cpp"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file:///C:\Users\gonta\Desktop\ASD-JuegoVida-L6G3-main%20(1)\ASD-JuegoVida-L6G3-main\Codigo\V5_hibrida_mpi_openmp.cpp"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file:///C:\Users\gonta\Desktop\ASD-JuegoVida-L6G3-main%20(1)\ASD-JuegoVida-L6G3-main\Codigo\V6_cuda.cu"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hyperlink" Target="file:///C:\Users\gonta\Desktop\ASD-JuegoVida-L6G3-main%20(1)\ASD-JuegoVida-L6G3-main\Resultados\resultados.xlsx"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3840480"/>
            <a:ext cx="12188952" cy="301752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3429000"/>
            <a:ext cx="12188952" cy="128016"/>
          </a:xfrm>
          <a:prstGeom prst="rect">
            <a:avLst/>
          </a:prstGeom>
          <a:solidFill>
            <a:srgbClr val="70B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777240"/>
            <a:ext cx="10698480" cy="685800"/>
          </a:xfrm>
          <a:prstGeom prst="rect">
            <a:avLst/>
          </a:prstGeom>
          <a:noFill/>
        </p:spPr>
        <p:txBody>
          <a:bodyPr wrap="square">
            <a:spAutoFit/>
          </a:bodyPr>
          <a:lstStyle/>
          <a:p>
            <a:pPr algn="ctr"/>
            <a:r>
              <a:rPr sz="3000" b="1" i="0">
                <a:solidFill>
                  <a:srgbClr val="FFFFFF"/>
                </a:solidFill>
                <a:latin typeface="Calibri"/>
              </a:rPr>
              <a:t>Optimización y Paralelización del</a:t>
            </a:r>
          </a:p>
        </p:txBody>
      </p:sp>
      <p:sp>
        <p:nvSpPr>
          <p:cNvPr id="6" name="TextBox 5"/>
          <p:cNvSpPr txBox="1"/>
          <p:nvPr/>
        </p:nvSpPr>
        <p:spPr>
          <a:xfrm>
            <a:off x="731520" y="1417320"/>
            <a:ext cx="10698480" cy="822960"/>
          </a:xfrm>
          <a:prstGeom prst="rect">
            <a:avLst/>
          </a:prstGeom>
          <a:noFill/>
        </p:spPr>
        <p:txBody>
          <a:bodyPr wrap="square">
            <a:spAutoFit/>
          </a:bodyPr>
          <a:lstStyle/>
          <a:p>
            <a:pPr algn="ctr"/>
            <a:r>
              <a:rPr sz="3600" b="1" i="0">
                <a:solidFill>
                  <a:srgbClr val="D6E4F7"/>
                </a:solidFill>
                <a:latin typeface="Calibri"/>
              </a:rPr>
              <a:t>Juego de la Vida de Conway</a:t>
            </a:r>
          </a:p>
        </p:txBody>
      </p:sp>
      <p:sp>
        <p:nvSpPr>
          <p:cNvPr id="7" name="TextBox 6"/>
          <p:cNvSpPr txBox="1"/>
          <p:nvPr/>
        </p:nvSpPr>
        <p:spPr>
          <a:xfrm>
            <a:off x="731520" y="2468880"/>
            <a:ext cx="10698480" cy="457200"/>
          </a:xfrm>
          <a:prstGeom prst="rect">
            <a:avLst/>
          </a:prstGeom>
          <a:noFill/>
        </p:spPr>
        <p:txBody>
          <a:bodyPr wrap="square">
            <a:spAutoFit/>
          </a:bodyPr>
          <a:lstStyle/>
          <a:p>
            <a:pPr algn="ctr"/>
            <a:r>
              <a:rPr sz="1700" b="0" i="0">
                <a:solidFill>
                  <a:srgbClr val="FFFFFF"/>
                </a:solidFill>
                <a:latin typeface="Calibri"/>
              </a:rPr>
              <a:t>Arquitectura de Sistemas Distribuidos  |  Grupo L6G3</a:t>
            </a:r>
          </a:p>
        </p:txBody>
      </p:sp>
      <p:sp>
        <p:nvSpPr>
          <p:cNvPr id="8" name="TextBox 7"/>
          <p:cNvSpPr txBox="1"/>
          <p:nvPr/>
        </p:nvSpPr>
        <p:spPr>
          <a:xfrm>
            <a:off x="731520" y="4206240"/>
            <a:ext cx="10698480" cy="457200"/>
          </a:xfrm>
          <a:prstGeom prst="rect">
            <a:avLst/>
          </a:prstGeom>
          <a:noFill/>
        </p:spPr>
        <p:txBody>
          <a:bodyPr wrap="square">
            <a:spAutoFit/>
          </a:bodyPr>
          <a:lstStyle/>
          <a:p>
            <a:pPr algn="ctr"/>
            <a:r>
              <a:rPr sz="1900" b="1" i="0">
                <a:solidFill>
                  <a:srgbClr val="FFFFFF"/>
                </a:solidFill>
                <a:latin typeface="Calibri"/>
              </a:rPr>
              <a:t>Aaron López Leal   ·   Gonzalo Benítez Barquero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7899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12880" cy="658368"/>
          </a:xfrm>
          <a:prstGeom prst="rect">
            <a:avLst/>
          </a:prstGeom>
          <a:noFill/>
        </p:spPr>
        <p:txBody>
          <a:bodyPr wrap="square">
            <a:spAutoFit/>
          </a:bodyPr>
          <a:lstStyle/>
          <a:p>
            <a:pPr algn="l"/>
            <a:r>
              <a:rPr sz="2600" b="1" i="0">
                <a:solidFill>
                  <a:srgbClr val="FFFFFF"/>
                </a:solidFill>
                <a:latin typeface="Calibri"/>
              </a:rPr>
              <a:t>Índice</a:t>
            </a:r>
          </a:p>
        </p:txBody>
      </p:sp>
      <p:sp>
        <p:nvSpPr>
          <p:cNvPr id="4" name="Rectangle 3"/>
          <p:cNvSpPr/>
          <p:nvPr/>
        </p:nvSpPr>
        <p:spPr>
          <a:xfrm>
            <a:off x="365760" y="1207008"/>
            <a:ext cx="5394960" cy="640080"/>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280160"/>
            <a:ext cx="5212080" cy="502920"/>
          </a:xfrm>
          <a:prstGeom prst="rect">
            <a:avLst/>
          </a:prstGeom>
          <a:noFill/>
        </p:spPr>
        <p:txBody>
          <a:bodyPr wrap="square">
            <a:spAutoFit/>
          </a:bodyPr>
          <a:lstStyle/>
          <a:p>
            <a:pPr algn="l"/>
            <a:r>
              <a:rPr sz="1300" b="0" i="0" dirty="0">
                <a:solidFill>
                  <a:srgbClr val="1F3564"/>
                </a:solidFill>
                <a:latin typeface="Calibri"/>
              </a:rPr>
              <a:t>1.  </a:t>
            </a:r>
            <a:r>
              <a:rPr sz="1300" b="0" i="0" dirty="0" err="1">
                <a:solidFill>
                  <a:srgbClr val="1F3564"/>
                </a:solidFill>
                <a:latin typeface="Calibri"/>
              </a:rPr>
              <a:t>Arquitectura</a:t>
            </a:r>
            <a:r>
              <a:rPr sz="1300" b="0" i="0" dirty="0">
                <a:solidFill>
                  <a:srgbClr val="1F3564"/>
                </a:solidFill>
                <a:latin typeface="Calibri"/>
              </a:rPr>
              <a:t> </a:t>
            </a:r>
            <a:r>
              <a:rPr sz="1300" b="0" i="0" dirty="0" err="1">
                <a:solidFill>
                  <a:srgbClr val="1F3564"/>
                </a:solidFill>
                <a:latin typeface="Calibri"/>
              </a:rPr>
              <a:t>utilizada</a:t>
            </a:r>
            <a:endParaRPr sz="1300" b="0" i="0" dirty="0">
              <a:solidFill>
                <a:srgbClr val="1F3564"/>
              </a:solidFill>
              <a:latin typeface="Calibri"/>
            </a:endParaRPr>
          </a:p>
        </p:txBody>
      </p:sp>
      <p:sp>
        <p:nvSpPr>
          <p:cNvPr id="6" name="Rectangle 5"/>
          <p:cNvSpPr/>
          <p:nvPr/>
        </p:nvSpPr>
        <p:spPr>
          <a:xfrm>
            <a:off x="365760" y="1883664"/>
            <a:ext cx="5394960" cy="6400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956815"/>
            <a:ext cx="5212080" cy="502920"/>
          </a:xfrm>
          <a:prstGeom prst="rect">
            <a:avLst/>
          </a:prstGeom>
          <a:noFill/>
        </p:spPr>
        <p:txBody>
          <a:bodyPr wrap="square">
            <a:spAutoFit/>
          </a:bodyPr>
          <a:lstStyle/>
          <a:p>
            <a:pPr algn="l"/>
            <a:r>
              <a:rPr sz="1300" b="0" i="0">
                <a:solidFill>
                  <a:srgbClr val="1F3564"/>
                </a:solidFill>
                <a:latin typeface="Calibri"/>
              </a:rPr>
              <a:t>2.  El Juego de la Vida</a:t>
            </a:r>
          </a:p>
        </p:txBody>
      </p:sp>
      <p:sp>
        <p:nvSpPr>
          <p:cNvPr id="8" name="Rectangle 7"/>
          <p:cNvSpPr/>
          <p:nvPr/>
        </p:nvSpPr>
        <p:spPr>
          <a:xfrm>
            <a:off x="365760" y="2560320"/>
            <a:ext cx="5394960" cy="640080"/>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2633472"/>
            <a:ext cx="5212080" cy="502920"/>
          </a:xfrm>
          <a:prstGeom prst="rect">
            <a:avLst/>
          </a:prstGeom>
          <a:noFill/>
        </p:spPr>
        <p:txBody>
          <a:bodyPr wrap="square">
            <a:spAutoFit/>
          </a:bodyPr>
          <a:lstStyle/>
          <a:p>
            <a:pPr algn="l"/>
            <a:r>
              <a:rPr sz="1300" b="0" i="0">
                <a:solidFill>
                  <a:srgbClr val="1F3564"/>
                </a:solidFill>
                <a:latin typeface="Calibri"/>
              </a:rPr>
              <a:t>3.  Solución Secuencial (V1)</a:t>
            </a:r>
          </a:p>
        </p:txBody>
      </p:sp>
      <p:sp>
        <p:nvSpPr>
          <p:cNvPr id="10" name="Rectangle 9"/>
          <p:cNvSpPr/>
          <p:nvPr/>
        </p:nvSpPr>
        <p:spPr>
          <a:xfrm>
            <a:off x="365760" y="3236976"/>
            <a:ext cx="5394960" cy="6400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3310127"/>
            <a:ext cx="5212080" cy="502920"/>
          </a:xfrm>
          <a:prstGeom prst="rect">
            <a:avLst/>
          </a:prstGeom>
          <a:noFill/>
        </p:spPr>
        <p:txBody>
          <a:bodyPr wrap="square">
            <a:spAutoFit/>
          </a:bodyPr>
          <a:lstStyle/>
          <a:p>
            <a:pPr algn="l"/>
            <a:r>
              <a:rPr sz="1300" b="0" i="0">
                <a:solidFill>
                  <a:srgbClr val="1F3564"/>
                </a:solidFill>
                <a:latin typeface="Calibri"/>
              </a:rPr>
              <a:t>4.  ILP — Ensamblador generado por -O2</a:t>
            </a:r>
          </a:p>
        </p:txBody>
      </p:sp>
      <p:sp>
        <p:nvSpPr>
          <p:cNvPr id="12" name="Rectangle 11"/>
          <p:cNvSpPr/>
          <p:nvPr/>
        </p:nvSpPr>
        <p:spPr>
          <a:xfrm>
            <a:off x="365760" y="3913632"/>
            <a:ext cx="5394960" cy="640080"/>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3986783"/>
            <a:ext cx="5212080" cy="502920"/>
          </a:xfrm>
          <a:prstGeom prst="rect">
            <a:avLst/>
          </a:prstGeom>
          <a:noFill/>
        </p:spPr>
        <p:txBody>
          <a:bodyPr wrap="square">
            <a:spAutoFit/>
          </a:bodyPr>
          <a:lstStyle/>
          <a:p>
            <a:pPr algn="l"/>
            <a:r>
              <a:rPr sz="1300" b="0" i="0">
                <a:solidFill>
                  <a:srgbClr val="1F3564"/>
                </a:solidFill>
                <a:latin typeface="Calibri"/>
              </a:rPr>
              <a:t>5.  Análisis de Dependencias</a:t>
            </a:r>
          </a:p>
        </p:txBody>
      </p:sp>
      <p:sp>
        <p:nvSpPr>
          <p:cNvPr id="14" name="Rectangle 13"/>
          <p:cNvSpPr/>
          <p:nvPr/>
        </p:nvSpPr>
        <p:spPr>
          <a:xfrm>
            <a:off x="365760" y="4590288"/>
            <a:ext cx="5394960" cy="6400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4663440"/>
            <a:ext cx="5212080" cy="502920"/>
          </a:xfrm>
          <a:prstGeom prst="rect">
            <a:avLst/>
          </a:prstGeom>
          <a:noFill/>
        </p:spPr>
        <p:txBody>
          <a:bodyPr wrap="square">
            <a:spAutoFit/>
          </a:bodyPr>
          <a:lstStyle/>
          <a:p>
            <a:pPr algn="l"/>
            <a:r>
              <a:rPr sz="1300" b="0" i="0">
                <a:solidFill>
                  <a:srgbClr val="1F3564"/>
                </a:solidFill>
                <a:latin typeface="Calibri"/>
              </a:rPr>
              <a:t>6.  Ley de Amdahl · Modelo del Tejado</a:t>
            </a:r>
          </a:p>
        </p:txBody>
      </p:sp>
      <p:sp>
        <p:nvSpPr>
          <p:cNvPr id="16" name="Rectangle 15"/>
          <p:cNvSpPr/>
          <p:nvPr/>
        </p:nvSpPr>
        <p:spPr>
          <a:xfrm>
            <a:off x="365760" y="5266944"/>
            <a:ext cx="5394960" cy="640080"/>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5340096"/>
            <a:ext cx="5212080" cy="502920"/>
          </a:xfrm>
          <a:prstGeom prst="rect">
            <a:avLst/>
          </a:prstGeom>
          <a:noFill/>
        </p:spPr>
        <p:txBody>
          <a:bodyPr wrap="square">
            <a:spAutoFit/>
          </a:bodyPr>
          <a:lstStyle/>
          <a:p>
            <a:pPr algn="l"/>
            <a:r>
              <a:rPr sz="1300" b="0" i="0">
                <a:solidFill>
                  <a:srgbClr val="1F3564"/>
                </a:solidFill>
                <a:latin typeface="Calibri"/>
              </a:rPr>
              <a:t>7.  Overview de Técnicas</a:t>
            </a:r>
          </a:p>
        </p:txBody>
      </p:sp>
      <p:sp>
        <p:nvSpPr>
          <p:cNvPr id="18" name="Rectangle 17"/>
          <p:cNvSpPr/>
          <p:nvPr/>
        </p:nvSpPr>
        <p:spPr>
          <a:xfrm>
            <a:off x="365760" y="5943600"/>
            <a:ext cx="5394960" cy="6400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6016752"/>
            <a:ext cx="5212080" cy="502920"/>
          </a:xfrm>
          <a:prstGeom prst="rect">
            <a:avLst/>
          </a:prstGeom>
          <a:noFill/>
        </p:spPr>
        <p:txBody>
          <a:bodyPr wrap="square">
            <a:spAutoFit/>
          </a:bodyPr>
          <a:lstStyle/>
          <a:p>
            <a:pPr algn="l"/>
            <a:r>
              <a:rPr sz="1300" b="0" i="0">
                <a:solidFill>
                  <a:srgbClr val="1F3564"/>
                </a:solidFill>
                <a:latin typeface="Calibri"/>
              </a:rPr>
              <a:t>8.  Metodología</a:t>
            </a:r>
          </a:p>
        </p:txBody>
      </p:sp>
      <p:sp>
        <p:nvSpPr>
          <p:cNvPr id="20" name="Rectangle 19"/>
          <p:cNvSpPr/>
          <p:nvPr/>
        </p:nvSpPr>
        <p:spPr>
          <a:xfrm>
            <a:off x="6309360" y="1207008"/>
            <a:ext cx="5486400" cy="640080"/>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46520" y="1280160"/>
            <a:ext cx="5303520" cy="502920"/>
          </a:xfrm>
          <a:prstGeom prst="rect">
            <a:avLst/>
          </a:prstGeom>
          <a:noFill/>
        </p:spPr>
        <p:txBody>
          <a:bodyPr wrap="square">
            <a:spAutoFit/>
          </a:bodyPr>
          <a:lstStyle/>
          <a:p>
            <a:pPr algn="l"/>
            <a:r>
              <a:rPr sz="1300" b="0" i="0">
                <a:solidFill>
                  <a:srgbClr val="1F3564"/>
                </a:solidFill>
                <a:latin typeface="Calibri"/>
              </a:rPr>
              <a:t>9.   V2 · Memoria Contigua</a:t>
            </a:r>
          </a:p>
        </p:txBody>
      </p:sp>
      <p:sp>
        <p:nvSpPr>
          <p:cNvPr id="22" name="Rectangle 21"/>
          <p:cNvSpPr/>
          <p:nvPr/>
        </p:nvSpPr>
        <p:spPr>
          <a:xfrm>
            <a:off x="6309360" y="1883664"/>
            <a:ext cx="5486400" cy="6400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46520" y="1956815"/>
            <a:ext cx="5303520" cy="502920"/>
          </a:xfrm>
          <a:prstGeom prst="rect">
            <a:avLst/>
          </a:prstGeom>
          <a:noFill/>
        </p:spPr>
        <p:txBody>
          <a:bodyPr wrap="square">
            <a:spAutoFit/>
          </a:bodyPr>
          <a:lstStyle/>
          <a:p>
            <a:pPr algn="l"/>
            <a:r>
              <a:rPr sz="1300" b="0" i="0">
                <a:solidFill>
                  <a:srgbClr val="1F3564"/>
                </a:solidFill>
                <a:latin typeface="Calibri"/>
              </a:rPr>
              <a:t>10. V3 · OpenMP</a:t>
            </a:r>
          </a:p>
        </p:txBody>
      </p:sp>
      <p:sp>
        <p:nvSpPr>
          <p:cNvPr id="24" name="Rectangle 23"/>
          <p:cNvSpPr/>
          <p:nvPr/>
        </p:nvSpPr>
        <p:spPr>
          <a:xfrm>
            <a:off x="6309360" y="2560320"/>
            <a:ext cx="5486400" cy="640080"/>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46520" y="2633472"/>
            <a:ext cx="5303520" cy="502920"/>
          </a:xfrm>
          <a:prstGeom prst="rect">
            <a:avLst/>
          </a:prstGeom>
          <a:noFill/>
        </p:spPr>
        <p:txBody>
          <a:bodyPr wrap="square">
            <a:spAutoFit/>
          </a:bodyPr>
          <a:lstStyle/>
          <a:p>
            <a:pPr algn="l"/>
            <a:r>
              <a:rPr sz="1300" b="0" i="0">
                <a:solidFill>
                  <a:srgbClr val="1F3564"/>
                </a:solidFill>
                <a:latin typeface="Calibri"/>
              </a:rPr>
              <a:t>11. V4 · MPI</a:t>
            </a:r>
          </a:p>
        </p:txBody>
      </p:sp>
      <p:sp>
        <p:nvSpPr>
          <p:cNvPr id="26" name="Rectangle 25"/>
          <p:cNvSpPr/>
          <p:nvPr/>
        </p:nvSpPr>
        <p:spPr>
          <a:xfrm>
            <a:off x="6309360" y="3236976"/>
            <a:ext cx="5486400" cy="6400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46520" y="3310127"/>
            <a:ext cx="5303520" cy="502920"/>
          </a:xfrm>
          <a:prstGeom prst="rect">
            <a:avLst/>
          </a:prstGeom>
          <a:noFill/>
        </p:spPr>
        <p:txBody>
          <a:bodyPr wrap="square">
            <a:spAutoFit/>
          </a:bodyPr>
          <a:lstStyle/>
          <a:p>
            <a:pPr algn="l"/>
            <a:r>
              <a:rPr sz="1300" b="0" i="0">
                <a:solidFill>
                  <a:srgbClr val="1F3564"/>
                </a:solidFill>
                <a:latin typeface="Calibri"/>
              </a:rPr>
              <a:t>12. V5 · MPI + OpenMP  (Combinadas)</a:t>
            </a:r>
          </a:p>
        </p:txBody>
      </p:sp>
      <p:sp>
        <p:nvSpPr>
          <p:cNvPr id="28" name="Rectangle 27"/>
          <p:cNvSpPr/>
          <p:nvPr/>
        </p:nvSpPr>
        <p:spPr>
          <a:xfrm>
            <a:off x="6309360" y="3913632"/>
            <a:ext cx="5486400" cy="640080"/>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46520" y="3986783"/>
            <a:ext cx="5303520" cy="502920"/>
          </a:xfrm>
          <a:prstGeom prst="rect">
            <a:avLst/>
          </a:prstGeom>
          <a:noFill/>
        </p:spPr>
        <p:txBody>
          <a:bodyPr wrap="square">
            <a:spAutoFit/>
          </a:bodyPr>
          <a:lstStyle/>
          <a:p>
            <a:pPr algn="l"/>
            <a:r>
              <a:rPr sz="1300" b="0" i="0">
                <a:solidFill>
                  <a:srgbClr val="1F3564"/>
                </a:solidFill>
                <a:latin typeface="Calibri"/>
              </a:rPr>
              <a:t>13. V6 · CUDA GPU</a:t>
            </a:r>
          </a:p>
        </p:txBody>
      </p:sp>
      <p:sp>
        <p:nvSpPr>
          <p:cNvPr id="30" name="Rectangle 29"/>
          <p:cNvSpPr/>
          <p:nvPr/>
        </p:nvSpPr>
        <p:spPr>
          <a:xfrm>
            <a:off x="6309360" y="4590288"/>
            <a:ext cx="5486400" cy="6400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46520" y="4663440"/>
            <a:ext cx="5303520" cy="502920"/>
          </a:xfrm>
          <a:prstGeom prst="rect">
            <a:avLst/>
          </a:prstGeom>
          <a:noFill/>
        </p:spPr>
        <p:txBody>
          <a:bodyPr wrap="square">
            <a:spAutoFit/>
          </a:bodyPr>
          <a:lstStyle/>
          <a:p>
            <a:pPr algn="l"/>
            <a:r>
              <a:rPr sz="1300" b="0" i="0">
                <a:solidFill>
                  <a:srgbClr val="1F3564"/>
                </a:solidFill>
                <a:latin typeface="Calibri"/>
              </a:rPr>
              <a:t>14. Resultados: Comparación y Discusión</a:t>
            </a:r>
          </a:p>
        </p:txBody>
      </p:sp>
      <p:sp>
        <p:nvSpPr>
          <p:cNvPr id="32" name="Rectangle 31"/>
          <p:cNvSpPr/>
          <p:nvPr/>
        </p:nvSpPr>
        <p:spPr>
          <a:xfrm>
            <a:off x="6309360" y="5266944"/>
            <a:ext cx="5486400" cy="640080"/>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46520" y="5340096"/>
            <a:ext cx="5303520" cy="502920"/>
          </a:xfrm>
          <a:prstGeom prst="rect">
            <a:avLst/>
          </a:prstGeom>
          <a:noFill/>
        </p:spPr>
        <p:txBody>
          <a:bodyPr wrap="square">
            <a:spAutoFit/>
          </a:bodyPr>
          <a:lstStyle/>
          <a:p>
            <a:pPr algn="l"/>
            <a:r>
              <a:rPr sz="1300" b="0" i="0">
                <a:solidFill>
                  <a:srgbClr val="1F3564"/>
                </a:solidFill>
                <a:latin typeface="Calibri"/>
              </a:rPr>
              <a:t>15. Conclusiones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7899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12880" cy="658368"/>
          </a:xfrm>
          <a:prstGeom prst="rect">
            <a:avLst/>
          </a:prstGeom>
          <a:noFill/>
        </p:spPr>
        <p:txBody>
          <a:bodyPr wrap="square">
            <a:spAutoFit/>
          </a:bodyPr>
          <a:lstStyle/>
          <a:p>
            <a:pPr algn="l"/>
            <a:r>
              <a:rPr sz="2600" b="1" i="0">
                <a:solidFill>
                  <a:srgbClr val="FFFFFF"/>
                </a:solidFill>
                <a:latin typeface="Calibri"/>
              </a:rPr>
              <a:t>Arquitectura Utilizada</a:t>
            </a:r>
          </a:p>
        </p:txBody>
      </p:sp>
      <p:sp>
        <p:nvSpPr>
          <p:cNvPr id="4" name="TextBox 3"/>
          <p:cNvSpPr txBox="1"/>
          <p:nvPr/>
        </p:nvSpPr>
        <p:spPr>
          <a:xfrm>
            <a:off x="274320" y="713232"/>
            <a:ext cx="11612880" cy="329184"/>
          </a:xfrm>
          <a:prstGeom prst="rect">
            <a:avLst/>
          </a:prstGeom>
          <a:noFill/>
        </p:spPr>
        <p:txBody>
          <a:bodyPr wrap="square">
            <a:spAutoFit/>
          </a:bodyPr>
          <a:lstStyle/>
          <a:p>
            <a:pPr algn="l"/>
            <a:r>
              <a:rPr sz="1200" b="0" i="0">
                <a:solidFill>
                  <a:srgbClr val="D6E4F7"/>
                </a:solidFill>
                <a:latin typeface="Calibri"/>
              </a:rPr>
              <a:t>Plataforma de experimentación</a:t>
            </a:r>
          </a:p>
        </p:txBody>
      </p:sp>
      <p:sp>
        <p:nvSpPr>
          <p:cNvPr id="5" name="TextBox 4"/>
          <p:cNvSpPr txBox="1"/>
          <p:nvPr/>
        </p:nvSpPr>
        <p:spPr>
          <a:xfrm>
            <a:off x="365760" y="1170432"/>
            <a:ext cx="7132320" cy="307777"/>
          </a:xfrm>
          <a:prstGeom prst="rect">
            <a:avLst/>
          </a:prstGeom>
          <a:noFill/>
        </p:spPr>
        <p:txBody>
          <a:bodyPr wrap="square">
            <a:spAutoFit/>
          </a:bodyPr>
          <a:lstStyle/>
          <a:p>
            <a:pPr algn="l"/>
            <a:r>
              <a:rPr sz="1400" b="1" i="0" dirty="0">
                <a:solidFill>
                  <a:srgbClr val="1F3564"/>
                </a:solidFill>
                <a:latin typeface="Calibri"/>
              </a:rPr>
              <a:t>Plataforma Local</a:t>
            </a:r>
          </a:p>
        </p:txBody>
      </p:sp>
      <p:graphicFrame>
        <p:nvGraphicFramePr>
          <p:cNvPr id="6" name="Table 5"/>
          <p:cNvGraphicFramePr>
            <a:graphicFrameLocks noGrp="1"/>
          </p:cNvGraphicFramePr>
          <p:nvPr>
            <p:extLst>
              <p:ext uri="{D42A27DB-BD31-4B8C-83A1-F6EECF244321}">
                <p14:modId xmlns:p14="http://schemas.microsoft.com/office/powerpoint/2010/main" val="4183212727"/>
              </p:ext>
            </p:extLst>
          </p:nvPr>
        </p:nvGraphicFramePr>
        <p:xfrm>
          <a:off x="365760" y="1481328"/>
          <a:ext cx="7132320" cy="3663696"/>
        </p:xfrm>
        <a:graphic>
          <a:graphicData uri="http://schemas.openxmlformats.org/drawingml/2006/table">
            <a:tbl>
              <a:tblPr firstRow="1" bandRow="1">
                <a:tableStyleId>{5C22544A-7EE6-4342-B048-85BDC9FD1C3A}</a:tableStyleId>
              </a:tblPr>
              <a:tblGrid>
                <a:gridCol w="356616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tblGrid>
              <a:tr h="384048">
                <a:tc>
                  <a:txBody>
                    <a:bodyPr/>
                    <a:lstStyle/>
                    <a:p>
                      <a:pPr algn="ctr"/>
                      <a:r>
                        <a:rPr sz="1300" b="1" dirty="0" err="1">
                          <a:solidFill>
                            <a:srgbClr val="FFFFFF"/>
                          </a:solidFill>
                          <a:latin typeface="Calibri"/>
                        </a:rPr>
                        <a:t>Componente</a:t>
                      </a:r>
                      <a:endParaRPr sz="1300" b="1" dirty="0">
                        <a:solidFill>
                          <a:srgbClr val="FFFFFF"/>
                        </a:solidFill>
                        <a:latin typeface="Calibri"/>
                      </a:endParaRPr>
                    </a:p>
                  </a:txBody>
                  <a:tcPr>
                    <a:solidFill>
                      <a:srgbClr val="1F3564"/>
                    </a:solidFill>
                  </a:tcPr>
                </a:tc>
                <a:tc>
                  <a:txBody>
                    <a:bodyPr/>
                    <a:lstStyle/>
                    <a:p>
                      <a:pPr algn="ctr"/>
                      <a:r>
                        <a:rPr sz="1300" b="1">
                          <a:solidFill>
                            <a:srgbClr val="FFFFFF"/>
                          </a:solidFill>
                          <a:latin typeface="Calibri"/>
                        </a:rPr>
                        <a:t>Especificación</a:t>
                      </a:r>
                    </a:p>
                  </a:txBody>
                  <a:tcPr>
                    <a:solidFill>
                      <a:srgbClr val="1F3564"/>
                    </a:solidFill>
                  </a:tcPr>
                </a:tc>
                <a:extLst>
                  <a:ext uri="{0D108BD9-81ED-4DB2-BD59-A6C34878D82A}">
                    <a16:rowId xmlns:a16="http://schemas.microsoft.com/office/drawing/2014/main" val="10000"/>
                  </a:ext>
                </a:extLst>
              </a:tr>
              <a:tr h="384048">
                <a:tc>
                  <a:txBody>
                    <a:bodyPr/>
                    <a:lstStyle/>
                    <a:p>
                      <a:pPr algn="l"/>
                      <a:r>
                        <a:rPr sz="1300" dirty="0">
                          <a:solidFill>
                            <a:srgbClr val="000000"/>
                          </a:solidFill>
                          <a:latin typeface="Calibri"/>
                        </a:rPr>
                        <a:t>CPU</a:t>
                      </a:r>
                    </a:p>
                  </a:txBody>
                  <a:tcPr>
                    <a:solidFill>
                      <a:srgbClr val="D6E4F7"/>
                    </a:solidFill>
                  </a:tcPr>
                </a:tc>
                <a:tc>
                  <a:txBody>
                    <a:bodyPr/>
                    <a:lstStyle/>
                    <a:p>
                      <a:pPr algn="ctr"/>
                      <a:r>
                        <a:rPr sz="1300">
                          <a:solidFill>
                            <a:srgbClr val="000000"/>
                          </a:solidFill>
                          <a:latin typeface="Calibri"/>
                        </a:rPr>
                        <a:t>Intel Core i5-14600KF  (~3.5 GHz, Turbo 5.3 GHz)</a:t>
                      </a:r>
                    </a:p>
                  </a:txBody>
                  <a:tcPr>
                    <a:solidFill>
                      <a:srgbClr val="D6E4F7"/>
                    </a:solidFill>
                  </a:tcPr>
                </a:tc>
                <a:extLst>
                  <a:ext uri="{0D108BD9-81ED-4DB2-BD59-A6C34878D82A}">
                    <a16:rowId xmlns:a16="http://schemas.microsoft.com/office/drawing/2014/main" val="10001"/>
                  </a:ext>
                </a:extLst>
              </a:tr>
              <a:tr h="384048">
                <a:tc>
                  <a:txBody>
                    <a:bodyPr/>
                    <a:lstStyle/>
                    <a:p>
                      <a:pPr algn="l"/>
                      <a:r>
                        <a:rPr sz="1300" dirty="0" err="1">
                          <a:solidFill>
                            <a:srgbClr val="000000"/>
                          </a:solidFill>
                          <a:latin typeface="Calibri"/>
                        </a:rPr>
                        <a:t>Núcleos</a:t>
                      </a:r>
                      <a:r>
                        <a:rPr sz="1300" dirty="0">
                          <a:solidFill>
                            <a:srgbClr val="000000"/>
                          </a:solidFill>
                          <a:latin typeface="Calibri"/>
                        </a:rPr>
                        <a:t> / </a:t>
                      </a:r>
                      <a:r>
                        <a:rPr sz="1300" dirty="0" err="1">
                          <a:solidFill>
                            <a:srgbClr val="000000"/>
                          </a:solidFill>
                          <a:latin typeface="Calibri"/>
                        </a:rPr>
                        <a:t>Hilos</a:t>
                      </a:r>
                      <a:endParaRPr sz="1300" dirty="0">
                        <a:solidFill>
                          <a:srgbClr val="000000"/>
                        </a:solidFill>
                        <a:latin typeface="Calibri"/>
                      </a:endParaRPr>
                    </a:p>
                  </a:txBody>
                  <a:tcPr>
                    <a:solidFill>
                      <a:srgbClr val="FFFFFF"/>
                    </a:solidFill>
                  </a:tcPr>
                </a:tc>
                <a:tc>
                  <a:txBody>
                    <a:bodyPr/>
                    <a:lstStyle/>
                    <a:p>
                      <a:pPr algn="ctr"/>
                      <a:r>
                        <a:rPr sz="1300">
                          <a:solidFill>
                            <a:srgbClr val="000000"/>
                          </a:solidFill>
                          <a:latin typeface="Calibri"/>
                        </a:rPr>
                        <a:t>14 núcleos (6P + 8E)  /  20 hilos lógicos</a:t>
                      </a:r>
                    </a:p>
                  </a:txBody>
                  <a:tcPr>
                    <a:solidFill>
                      <a:srgbClr val="FFFFFF"/>
                    </a:solidFill>
                  </a:tcPr>
                </a:tc>
                <a:extLst>
                  <a:ext uri="{0D108BD9-81ED-4DB2-BD59-A6C34878D82A}">
                    <a16:rowId xmlns:a16="http://schemas.microsoft.com/office/drawing/2014/main" val="10002"/>
                  </a:ext>
                </a:extLst>
              </a:tr>
              <a:tr h="384048">
                <a:tc>
                  <a:txBody>
                    <a:bodyPr/>
                    <a:lstStyle/>
                    <a:p>
                      <a:pPr algn="l"/>
                      <a:r>
                        <a:rPr sz="1300" dirty="0">
                          <a:solidFill>
                            <a:srgbClr val="000000"/>
                          </a:solidFill>
                          <a:latin typeface="Calibri"/>
                        </a:rPr>
                        <a:t>Caché L1</a:t>
                      </a:r>
                    </a:p>
                  </a:txBody>
                  <a:tcPr>
                    <a:solidFill>
                      <a:srgbClr val="D6E4F7"/>
                    </a:solidFill>
                  </a:tcPr>
                </a:tc>
                <a:tc>
                  <a:txBody>
                    <a:bodyPr/>
                    <a:lstStyle/>
                    <a:p>
                      <a:pPr algn="ctr"/>
                      <a:r>
                        <a:rPr sz="1300">
                          <a:solidFill>
                            <a:srgbClr val="000000"/>
                          </a:solidFill>
                          <a:latin typeface="Calibri"/>
                        </a:rPr>
                        <a:t>48 KB datos + 32 KB instruc. por P-core</a:t>
                      </a:r>
                    </a:p>
                  </a:txBody>
                  <a:tcPr>
                    <a:solidFill>
                      <a:srgbClr val="D6E4F7"/>
                    </a:solidFill>
                  </a:tcPr>
                </a:tc>
                <a:extLst>
                  <a:ext uri="{0D108BD9-81ED-4DB2-BD59-A6C34878D82A}">
                    <a16:rowId xmlns:a16="http://schemas.microsoft.com/office/drawing/2014/main" val="10003"/>
                  </a:ext>
                </a:extLst>
              </a:tr>
              <a:tr h="384048">
                <a:tc>
                  <a:txBody>
                    <a:bodyPr/>
                    <a:lstStyle/>
                    <a:p>
                      <a:pPr algn="l"/>
                      <a:r>
                        <a:rPr sz="1300" dirty="0">
                          <a:solidFill>
                            <a:srgbClr val="000000"/>
                          </a:solidFill>
                          <a:latin typeface="Calibri"/>
                        </a:rPr>
                        <a:t>Caché L2</a:t>
                      </a:r>
                    </a:p>
                  </a:txBody>
                  <a:tcPr>
                    <a:solidFill>
                      <a:srgbClr val="FFFFFF"/>
                    </a:solidFill>
                  </a:tcPr>
                </a:tc>
                <a:tc>
                  <a:txBody>
                    <a:bodyPr/>
                    <a:lstStyle/>
                    <a:p>
                      <a:pPr algn="ctr"/>
                      <a:r>
                        <a:rPr sz="1300">
                          <a:solidFill>
                            <a:srgbClr val="000000"/>
                          </a:solidFill>
                          <a:latin typeface="Calibri"/>
                        </a:rPr>
                        <a:t>2 MB por P-core  ·  4 MB por 4 E-cores</a:t>
                      </a:r>
                    </a:p>
                  </a:txBody>
                  <a:tcPr>
                    <a:solidFill>
                      <a:srgbClr val="FFFFFF"/>
                    </a:solidFill>
                  </a:tcPr>
                </a:tc>
                <a:extLst>
                  <a:ext uri="{0D108BD9-81ED-4DB2-BD59-A6C34878D82A}">
                    <a16:rowId xmlns:a16="http://schemas.microsoft.com/office/drawing/2014/main" val="10004"/>
                  </a:ext>
                </a:extLst>
              </a:tr>
              <a:tr h="384048">
                <a:tc>
                  <a:txBody>
                    <a:bodyPr/>
                    <a:lstStyle/>
                    <a:p>
                      <a:pPr algn="l"/>
                      <a:r>
                        <a:rPr sz="1300" dirty="0">
                          <a:solidFill>
                            <a:srgbClr val="000000"/>
                          </a:solidFill>
                          <a:latin typeface="Calibri"/>
                        </a:rPr>
                        <a:t>Caché L3</a:t>
                      </a:r>
                    </a:p>
                  </a:txBody>
                  <a:tcPr>
                    <a:solidFill>
                      <a:srgbClr val="D6E4F7"/>
                    </a:solidFill>
                  </a:tcPr>
                </a:tc>
                <a:tc>
                  <a:txBody>
                    <a:bodyPr/>
                    <a:lstStyle/>
                    <a:p>
                      <a:pPr algn="ctr"/>
                      <a:r>
                        <a:rPr sz="1300">
                          <a:solidFill>
                            <a:srgbClr val="000000"/>
                          </a:solidFill>
                          <a:latin typeface="Calibri"/>
                        </a:rPr>
                        <a:t>24 MB compartida</a:t>
                      </a:r>
                    </a:p>
                  </a:txBody>
                  <a:tcPr>
                    <a:solidFill>
                      <a:srgbClr val="D6E4F7"/>
                    </a:solidFill>
                  </a:tcPr>
                </a:tc>
                <a:extLst>
                  <a:ext uri="{0D108BD9-81ED-4DB2-BD59-A6C34878D82A}">
                    <a16:rowId xmlns:a16="http://schemas.microsoft.com/office/drawing/2014/main" val="10005"/>
                  </a:ext>
                </a:extLst>
              </a:tr>
              <a:tr h="384048">
                <a:tc>
                  <a:txBody>
                    <a:bodyPr/>
                    <a:lstStyle/>
                    <a:p>
                      <a:pPr algn="l"/>
                      <a:r>
                        <a:rPr sz="1300" dirty="0">
                          <a:solidFill>
                            <a:srgbClr val="000000"/>
                          </a:solidFill>
                          <a:latin typeface="Calibri"/>
                        </a:rPr>
                        <a:t>RAM</a:t>
                      </a:r>
                    </a:p>
                  </a:txBody>
                  <a:tcPr>
                    <a:solidFill>
                      <a:srgbClr val="FFFFFF"/>
                    </a:solidFill>
                  </a:tcPr>
                </a:tc>
                <a:tc>
                  <a:txBody>
                    <a:bodyPr/>
                    <a:lstStyle/>
                    <a:p>
                      <a:pPr algn="ctr"/>
                      <a:r>
                        <a:rPr sz="1300">
                          <a:solidFill>
                            <a:srgbClr val="000000"/>
                          </a:solidFill>
                          <a:latin typeface="Calibri"/>
                        </a:rPr>
                        <a:t>32 GB DDR5 4800 MHz (Corsair)</a:t>
                      </a:r>
                    </a:p>
                  </a:txBody>
                  <a:tcPr>
                    <a:solidFill>
                      <a:srgbClr val="FFFFFF"/>
                    </a:solidFill>
                  </a:tcPr>
                </a:tc>
                <a:extLst>
                  <a:ext uri="{0D108BD9-81ED-4DB2-BD59-A6C34878D82A}">
                    <a16:rowId xmlns:a16="http://schemas.microsoft.com/office/drawing/2014/main" val="10006"/>
                  </a:ext>
                </a:extLst>
              </a:tr>
              <a:tr h="384048">
                <a:tc>
                  <a:txBody>
                    <a:bodyPr/>
                    <a:lstStyle/>
                    <a:p>
                      <a:pPr algn="l"/>
                      <a:r>
                        <a:rPr sz="1300" dirty="0">
                          <a:solidFill>
                            <a:srgbClr val="000000"/>
                          </a:solidFill>
                          <a:latin typeface="Calibri"/>
                        </a:rPr>
                        <a:t>GPU</a:t>
                      </a:r>
                    </a:p>
                  </a:txBody>
                  <a:tcPr>
                    <a:solidFill>
                      <a:srgbClr val="D6E4F7"/>
                    </a:solidFill>
                  </a:tcPr>
                </a:tc>
                <a:tc>
                  <a:txBody>
                    <a:bodyPr/>
                    <a:lstStyle/>
                    <a:p>
                      <a:pPr algn="ctr"/>
                      <a:r>
                        <a:rPr sz="1300">
                          <a:solidFill>
                            <a:srgbClr val="000000"/>
                          </a:solidFill>
                          <a:latin typeface="Calibri"/>
                        </a:rPr>
                        <a:t>NVIDIA GeForce RTX 4060  ·  3072 CUDA cores  ·  8 GB GDDR6</a:t>
                      </a:r>
                    </a:p>
                  </a:txBody>
                  <a:tcPr>
                    <a:solidFill>
                      <a:srgbClr val="D6E4F7"/>
                    </a:solidFill>
                  </a:tcPr>
                </a:tc>
                <a:extLst>
                  <a:ext uri="{0D108BD9-81ED-4DB2-BD59-A6C34878D82A}">
                    <a16:rowId xmlns:a16="http://schemas.microsoft.com/office/drawing/2014/main" val="10007"/>
                  </a:ext>
                </a:extLst>
              </a:tr>
              <a:tr h="384048">
                <a:tc>
                  <a:txBody>
                    <a:bodyPr/>
                    <a:lstStyle/>
                    <a:p>
                      <a:pPr algn="l"/>
                      <a:r>
                        <a:rPr sz="1300">
                          <a:solidFill>
                            <a:srgbClr val="000000"/>
                          </a:solidFill>
                          <a:latin typeface="Calibri"/>
                        </a:rPr>
                        <a:t>SO / Compilador</a:t>
                      </a:r>
                    </a:p>
                  </a:txBody>
                  <a:tcPr>
                    <a:solidFill>
                      <a:srgbClr val="FFFFFF"/>
                    </a:solidFill>
                  </a:tcPr>
                </a:tc>
                <a:tc>
                  <a:txBody>
                    <a:bodyPr/>
                    <a:lstStyle/>
                    <a:p>
                      <a:pPr algn="ctr"/>
                      <a:r>
                        <a:rPr sz="1300" dirty="0">
                          <a:solidFill>
                            <a:srgbClr val="000000"/>
                          </a:solidFill>
                          <a:latin typeface="Calibri"/>
                        </a:rPr>
                        <a:t>Windows 11 Home  ·  Visual Studio Release x64  ·  /O2</a:t>
                      </a:r>
                    </a:p>
                  </a:txBody>
                  <a:tcPr>
                    <a:solidFill>
                      <a:srgbClr val="FFFFFF"/>
                    </a:solidFill>
                  </a:tcPr>
                </a:tc>
                <a:extLst>
                  <a:ext uri="{0D108BD9-81ED-4DB2-BD59-A6C34878D82A}">
                    <a16:rowId xmlns:a16="http://schemas.microsoft.com/office/drawing/2014/main" val="10008"/>
                  </a:ext>
                </a:extLst>
              </a:tr>
            </a:tbl>
          </a:graphicData>
        </a:graphic>
      </p:graphicFrame>
      <p:sp>
        <p:nvSpPr>
          <p:cNvPr id="7" name="TextBox 6"/>
          <p:cNvSpPr txBox="1"/>
          <p:nvPr/>
        </p:nvSpPr>
        <p:spPr>
          <a:xfrm>
            <a:off x="7772400" y="1170432"/>
            <a:ext cx="4114800" cy="307777"/>
          </a:xfrm>
          <a:prstGeom prst="rect">
            <a:avLst/>
          </a:prstGeom>
          <a:noFill/>
        </p:spPr>
        <p:txBody>
          <a:bodyPr wrap="square">
            <a:spAutoFit/>
          </a:bodyPr>
          <a:lstStyle/>
          <a:p>
            <a:pPr algn="l"/>
            <a:r>
              <a:rPr sz="1400" b="1" i="0" dirty="0">
                <a:solidFill>
                  <a:srgbClr val="1F3564"/>
                </a:solidFill>
                <a:latin typeface="Calibri"/>
              </a:rPr>
              <a:t>Plataforma </a:t>
            </a:r>
            <a:r>
              <a:rPr sz="1400" b="1" i="0" dirty="0" err="1">
                <a:solidFill>
                  <a:srgbClr val="1F3564"/>
                </a:solidFill>
                <a:latin typeface="Calibri"/>
              </a:rPr>
              <a:t>Clúster</a:t>
            </a:r>
            <a:endParaRPr sz="1400" b="1" i="0" dirty="0">
              <a:solidFill>
                <a:srgbClr val="1F3564"/>
              </a:solidFill>
              <a:latin typeface="Calibri"/>
            </a:endParaRPr>
          </a:p>
        </p:txBody>
      </p:sp>
      <p:graphicFrame>
        <p:nvGraphicFramePr>
          <p:cNvPr id="8" name="Table 7"/>
          <p:cNvGraphicFramePr>
            <a:graphicFrameLocks noGrp="1"/>
          </p:cNvGraphicFramePr>
          <p:nvPr>
            <p:extLst>
              <p:ext uri="{D42A27DB-BD31-4B8C-83A1-F6EECF244321}">
                <p14:modId xmlns:p14="http://schemas.microsoft.com/office/powerpoint/2010/main" val="3139874124"/>
              </p:ext>
            </p:extLst>
          </p:nvPr>
        </p:nvGraphicFramePr>
        <p:xfrm>
          <a:off x="7772400" y="1481328"/>
          <a:ext cx="4114800" cy="4245864"/>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tblGrid>
              <a:tr h="384048">
                <a:tc>
                  <a:txBody>
                    <a:bodyPr/>
                    <a:lstStyle/>
                    <a:p>
                      <a:pPr algn="ctr"/>
                      <a:r>
                        <a:rPr sz="1300" b="1" dirty="0" err="1">
                          <a:solidFill>
                            <a:srgbClr val="FFFFFF"/>
                          </a:solidFill>
                          <a:latin typeface="Calibri"/>
                        </a:rPr>
                        <a:t>Elemento</a:t>
                      </a:r>
                      <a:endParaRPr sz="1300" b="1" dirty="0">
                        <a:solidFill>
                          <a:srgbClr val="FFFFFF"/>
                        </a:solidFill>
                        <a:latin typeface="Calibri"/>
                      </a:endParaRPr>
                    </a:p>
                  </a:txBody>
                  <a:tcPr>
                    <a:solidFill>
                      <a:srgbClr val="1F3564"/>
                    </a:solidFill>
                  </a:tcPr>
                </a:tc>
                <a:tc>
                  <a:txBody>
                    <a:bodyPr/>
                    <a:lstStyle/>
                    <a:p>
                      <a:pPr algn="ctr"/>
                      <a:r>
                        <a:rPr sz="1300" b="1">
                          <a:solidFill>
                            <a:srgbClr val="FFFFFF"/>
                          </a:solidFill>
                          <a:latin typeface="Calibri"/>
                        </a:rPr>
                        <a:t>Valor</a:t>
                      </a:r>
                    </a:p>
                  </a:txBody>
                  <a:tcPr>
                    <a:solidFill>
                      <a:srgbClr val="1F3564"/>
                    </a:solidFill>
                  </a:tcPr>
                </a:tc>
                <a:extLst>
                  <a:ext uri="{0D108BD9-81ED-4DB2-BD59-A6C34878D82A}">
                    <a16:rowId xmlns:a16="http://schemas.microsoft.com/office/drawing/2014/main" val="10000"/>
                  </a:ext>
                </a:extLst>
              </a:tr>
              <a:tr h="384048">
                <a:tc>
                  <a:txBody>
                    <a:bodyPr/>
                    <a:lstStyle/>
                    <a:p>
                      <a:pPr algn="l"/>
                      <a:r>
                        <a:rPr sz="1300" dirty="0" err="1">
                          <a:solidFill>
                            <a:srgbClr val="000000"/>
                          </a:solidFill>
                          <a:latin typeface="Calibri"/>
                        </a:rPr>
                        <a:t>Entorno</a:t>
                      </a:r>
                      <a:endParaRPr sz="1300" dirty="0">
                        <a:solidFill>
                          <a:srgbClr val="000000"/>
                        </a:solidFill>
                        <a:latin typeface="Calibri"/>
                      </a:endParaRPr>
                    </a:p>
                  </a:txBody>
                  <a:tcPr>
                    <a:solidFill>
                      <a:srgbClr val="D6E4F7"/>
                    </a:solidFill>
                  </a:tcPr>
                </a:tc>
                <a:tc>
                  <a:txBody>
                    <a:bodyPr/>
                    <a:lstStyle/>
                    <a:p>
                      <a:pPr algn="ctr"/>
                      <a:r>
                        <a:rPr sz="1300" dirty="0" err="1">
                          <a:solidFill>
                            <a:srgbClr val="000000"/>
                          </a:solidFill>
                          <a:latin typeface="Calibri"/>
                        </a:rPr>
                        <a:t>Clúster</a:t>
                      </a:r>
                      <a:r>
                        <a:rPr sz="1300" dirty="0">
                          <a:solidFill>
                            <a:srgbClr val="000000"/>
                          </a:solidFill>
                          <a:latin typeface="Calibri"/>
                        </a:rPr>
                        <a:t> de la </a:t>
                      </a:r>
                      <a:r>
                        <a:rPr sz="1300" dirty="0" err="1">
                          <a:solidFill>
                            <a:srgbClr val="000000"/>
                          </a:solidFill>
                          <a:latin typeface="Calibri"/>
                        </a:rPr>
                        <a:t>asignatura</a:t>
                      </a:r>
                      <a:endParaRPr sz="1300" dirty="0">
                        <a:solidFill>
                          <a:srgbClr val="000000"/>
                        </a:solidFill>
                        <a:latin typeface="Calibri"/>
                      </a:endParaRPr>
                    </a:p>
                  </a:txBody>
                  <a:tcPr>
                    <a:solidFill>
                      <a:srgbClr val="D6E4F7"/>
                    </a:solidFill>
                  </a:tcPr>
                </a:tc>
                <a:extLst>
                  <a:ext uri="{0D108BD9-81ED-4DB2-BD59-A6C34878D82A}">
                    <a16:rowId xmlns:a16="http://schemas.microsoft.com/office/drawing/2014/main" val="10001"/>
                  </a:ext>
                </a:extLst>
              </a:tr>
              <a:tr h="384048">
                <a:tc>
                  <a:txBody>
                    <a:bodyPr/>
                    <a:lstStyle/>
                    <a:p>
                      <a:pPr algn="l"/>
                      <a:r>
                        <a:rPr sz="1300" dirty="0">
                          <a:solidFill>
                            <a:srgbClr val="000000"/>
                          </a:solidFill>
                          <a:latin typeface="Calibri"/>
                        </a:rPr>
                        <a:t>Nodos</a:t>
                      </a:r>
                    </a:p>
                  </a:txBody>
                  <a:tcPr>
                    <a:solidFill>
                      <a:srgbClr val="FFFFFF"/>
                    </a:solidFill>
                  </a:tcPr>
                </a:tc>
                <a:tc>
                  <a:txBody>
                    <a:bodyPr/>
                    <a:lstStyle/>
                    <a:p>
                      <a:pPr algn="ctr"/>
                      <a:r>
                        <a:rPr sz="1300" dirty="0">
                          <a:solidFill>
                            <a:srgbClr val="000000"/>
                          </a:solidFill>
                          <a:latin typeface="Calibri"/>
                        </a:rPr>
                        <a:t>3 VMs Ubuntu 24.04</a:t>
                      </a:r>
                    </a:p>
                  </a:txBody>
                  <a:tcPr>
                    <a:solidFill>
                      <a:srgbClr val="FFFFFF"/>
                    </a:solidFill>
                  </a:tcPr>
                </a:tc>
                <a:extLst>
                  <a:ext uri="{0D108BD9-81ED-4DB2-BD59-A6C34878D82A}">
                    <a16:rowId xmlns:a16="http://schemas.microsoft.com/office/drawing/2014/main" val="10002"/>
                  </a:ext>
                </a:extLst>
              </a:tr>
              <a:tr h="384048">
                <a:tc>
                  <a:txBody>
                    <a:bodyPr/>
                    <a:lstStyle/>
                    <a:p>
                      <a:pPr algn="l"/>
                      <a:r>
                        <a:rPr sz="1300" dirty="0">
                          <a:solidFill>
                            <a:srgbClr val="000000"/>
                          </a:solidFill>
                          <a:latin typeface="Calibri"/>
                        </a:rPr>
                        <a:t>Grupo</a:t>
                      </a:r>
                    </a:p>
                  </a:txBody>
                  <a:tcPr>
                    <a:solidFill>
                      <a:srgbClr val="D6E4F7"/>
                    </a:solidFill>
                  </a:tcPr>
                </a:tc>
                <a:tc>
                  <a:txBody>
                    <a:bodyPr/>
                    <a:lstStyle/>
                    <a:p>
                      <a:pPr algn="ctr"/>
                      <a:r>
                        <a:rPr sz="1300" dirty="0">
                          <a:solidFill>
                            <a:srgbClr val="000000"/>
                          </a:solidFill>
                          <a:latin typeface="Calibri"/>
                        </a:rPr>
                        <a:t>L6G3</a:t>
                      </a:r>
                    </a:p>
                  </a:txBody>
                  <a:tcPr>
                    <a:solidFill>
                      <a:srgbClr val="D6E4F7"/>
                    </a:solidFill>
                  </a:tcPr>
                </a:tc>
                <a:extLst>
                  <a:ext uri="{0D108BD9-81ED-4DB2-BD59-A6C34878D82A}">
                    <a16:rowId xmlns:a16="http://schemas.microsoft.com/office/drawing/2014/main" val="10003"/>
                  </a:ext>
                </a:extLst>
              </a:tr>
              <a:tr h="384048">
                <a:tc>
                  <a:txBody>
                    <a:bodyPr/>
                    <a:lstStyle/>
                    <a:p>
                      <a:pPr algn="l"/>
                      <a:r>
                        <a:rPr sz="1300" dirty="0" err="1">
                          <a:solidFill>
                            <a:srgbClr val="000000"/>
                          </a:solidFill>
                          <a:latin typeface="Calibri"/>
                        </a:rPr>
                        <a:t>Compilador</a:t>
                      </a:r>
                      <a:r>
                        <a:rPr sz="1300" dirty="0">
                          <a:solidFill>
                            <a:srgbClr val="000000"/>
                          </a:solidFill>
                          <a:latin typeface="Calibri"/>
                        </a:rPr>
                        <a:t> MPI</a:t>
                      </a:r>
                    </a:p>
                  </a:txBody>
                  <a:tcPr>
                    <a:solidFill>
                      <a:srgbClr val="FFFFFF"/>
                    </a:solidFill>
                  </a:tcPr>
                </a:tc>
                <a:tc>
                  <a:txBody>
                    <a:bodyPr/>
                    <a:lstStyle/>
                    <a:p>
                      <a:pPr algn="ctr"/>
                      <a:r>
                        <a:rPr sz="1300" dirty="0" err="1">
                          <a:solidFill>
                            <a:srgbClr val="000000"/>
                          </a:solidFill>
                          <a:latin typeface="Calibri"/>
                        </a:rPr>
                        <a:t>mpicxx</a:t>
                      </a:r>
                      <a:endParaRPr sz="1300" dirty="0">
                        <a:solidFill>
                          <a:srgbClr val="000000"/>
                        </a:solidFill>
                        <a:latin typeface="Calibri"/>
                      </a:endParaRPr>
                    </a:p>
                  </a:txBody>
                  <a:tcPr>
                    <a:solidFill>
                      <a:srgbClr val="FFFFFF"/>
                    </a:solidFill>
                  </a:tcPr>
                </a:tc>
                <a:extLst>
                  <a:ext uri="{0D108BD9-81ED-4DB2-BD59-A6C34878D82A}">
                    <a16:rowId xmlns:a16="http://schemas.microsoft.com/office/drawing/2014/main" val="10004"/>
                  </a:ext>
                </a:extLst>
              </a:tr>
              <a:tr h="384048">
                <a:tc>
                  <a:txBody>
                    <a:bodyPr/>
                    <a:lstStyle/>
                    <a:p>
                      <a:pPr algn="l"/>
                      <a:r>
                        <a:rPr sz="1300" dirty="0" err="1">
                          <a:solidFill>
                            <a:srgbClr val="000000"/>
                          </a:solidFill>
                          <a:latin typeface="Calibri"/>
                        </a:rPr>
                        <a:t>Ejecución</a:t>
                      </a:r>
                      <a:endParaRPr sz="1300" dirty="0">
                        <a:solidFill>
                          <a:srgbClr val="000000"/>
                        </a:solidFill>
                        <a:latin typeface="Calibri"/>
                      </a:endParaRPr>
                    </a:p>
                  </a:txBody>
                  <a:tcPr>
                    <a:solidFill>
                      <a:srgbClr val="D6E4F7"/>
                    </a:solidFill>
                  </a:tcPr>
                </a:tc>
                <a:tc>
                  <a:txBody>
                    <a:bodyPr/>
                    <a:lstStyle/>
                    <a:p>
                      <a:pPr algn="ctr"/>
                      <a:r>
                        <a:rPr sz="1300" dirty="0" err="1">
                          <a:solidFill>
                            <a:srgbClr val="000000"/>
                          </a:solidFill>
                          <a:latin typeface="Calibri"/>
                        </a:rPr>
                        <a:t>mpirun</a:t>
                      </a:r>
                      <a:r>
                        <a:rPr sz="1300" dirty="0">
                          <a:solidFill>
                            <a:srgbClr val="000000"/>
                          </a:solidFill>
                          <a:latin typeface="Calibri"/>
                        </a:rPr>
                        <a:t> + </a:t>
                      </a:r>
                      <a:r>
                        <a:rPr sz="1300" dirty="0" err="1">
                          <a:solidFill>
                            <a:srgbClr val="000000"/>
                          </a:solidFill>
                          <a:latin typeface="Calibri"/>
                        </a:rPr>
                        <a:t>hostfile</a:t>
                      </a:r>
                      <a:endParaRPr sz="1300" dirty="0">
                        <a:solidFill>
                          <a:srgbClr val="000000"/>
                        </a:solidFill>
                        <a:latin typeface="Calibri"/>
                      </a:endParaRPr>
                    </a:p>
                  </a:txBody>
                  <a:tcPr>
                    <a:solidFill>
                      <a:srgbClr val="D6E4F7"/>
                    </a:solidFill>
                  </a:tcPr>
                </a:tc>
                <a:extLst>
                  <a:ext uri="{0D108BD9-81ED-4DB2-BD59-A6C34878D82A}">
                    <a16:rowId xmlns:a16="http://schemas.microsoft.com/office/drawing/2014/main" val="10005"/>
                  </a:ext>
                </a:extLst>
              </a:tr>
              <a:tr h="384048">
                <a:tc>
                  <a:txBody>
                    <a:bodyPr/>
                    <a:lstStyle/>
                    <a:p>
                      <a:pPr algn="l"/>
                      <a:r>
                        <a:rPr sz="1300" dirty="0">
                          <a:solidFill>
                            <a:srgbClr val="000000"/>
                          </a:solidFill>
                          <a:latin typeface="Calibri"/>
                        </a:rPr>
                        <a:t>OpenMP</a:t>
                      </a:r>
                    </a:p>
                  </a:txBody>
                  <a:tcPr>
                    <a:solidFill>
                      <a:srgbClr val="FFFFFF"/>
                    </a:solidFill>
                  </a:tcPr>
                </a:tc>
                <a:tc>
                  <a:txBody>
                    <a:bodyPr/>
                    <a:lstStyle/>
                    <a:p>
                      <a:pPr algn="ctr"/>
                      <a:r>
                        <a:rPr sz="1300" dirty="0">
                          <a:solidFill>
                            <a:srgbClr val="000000"/>
                          </a:solidFill>
                          <a:latin typeface="Calibri"/>
                        </a:rPr>
                        <a:t>-</a:t>
                      </a:r>
                      <a:r>
                        <a:rPr sz="1300" dirty="0" err="1">
                          <a:solidFill>
                            <a:srgbClr val="000000"/>
                          </a:solidFill>
                          <a:latin typeface="Calibri"/>
                        </a:rPr>
                        <a:t>fopenmp</a:t>
                      </a:r>
                      <a:r>
                        <a:rPr sz="1300" dirty="0">
                          <a:solidFill>
                            <a:srgbClr val="000000"/>
                          </a:solidFill>
                          <a:latin typeface="Calibri"/>
                        </a:rPr>
                        <a:t> · OMP_NUM_THREADS=2</a:t>
                      </a:r>
                    </a:p>
                  </a:txBody>
                  <a:tcPr>
                    <a:solidFill>
                      <a:srgbClr val="FFFFFF"/>
                    </a:solidFill>
                  </a:tcPr>
                </a:tc>
                <a:extLst>
                  <a:ext uri="{0D108BD9-81ED-4DB2-BD59-A6C34878D82A}">
                    <a16:rowId xmlns:a16="http://schemas.microsoft.com/office/drawing/2014/main" val="10006"/>
                  </a:ext>
                </a:extLst>
              </a:tr>
              <a:tr h="384048">
                <a:tc>
                  <a:txBody>
                    <a:bodyPr/>
                    <a:lstStyle/>
                    <a:p>
                      <a:pPr marL="0" algn="l" defTabSz="457200" rtl="0" eaLnBrk="1" latinLnBrk="0" hangingPunct="1"/>
                      <a:r>
                        <a:rPr lang="es-ES" sz="1300" kern="1200" dirty="0">
                          <a:solidFill>
                            <a:srgbClr val="000000"/>
                          </a:solidFill>
                          <a:latin typeface="Calibri"/>
                          <a:ea typeface="+mn-ea"/>
                          <a:cs typeface="+mn-cs"/>
                        </a:rPr>
                        <a:t>CPU Host</a:t>
                      </a:r>
                      <a:endParaRPr sz="1300" kern="1200" dirty="0">
                        <a:solidFill>
                          <a:srgbClr val="000000"/>
                        </a:solidFill>
                        <a:latin typeface="Calibri"/>
                        <a:ea typeface="+mn-ea"/>
                        <a:cs typeface="+mn-cs"/>
                      </a:endParaRPr>
                    </a:p>
                  </a:txBody>
                  <a:tcPr>
                    <a:solidFill>
                      <a:srgbClr val="D6E4F7"/>
                    </a:solidFill>
                  </a:tcPr>
                </a:tc>
                <a:tc>
                  <a:txBody>
                    <a:bodyPr/>
                    <a:lstStyle/>
                    <a:p>
                      <a:pPr marL="0" algn="l" defTabSz="457200" rtl="0" eaLnBrk="1" latinLnBrk="0" hangingPunct="1"/>
                      <a:r>
                        <a:rPr lang="es-ES" sz="1300" kern="1200" dirty="0">
                          <a:solidFill>
                            <a:srgbClr val="000000"/>
                          </a:solidFill>
                          <a:latin typeface="Calibri"/>
                          <a:ea typeface="+mn-ea"/>
                          <a:cs typeface="+mn-cs"/>
                        </a:rPr>
                        <a:t>Intel Xeon E5-2660 @ 2.20GHz (32 núcleos, 2 sockets)</a:t>
                      </a:r>
                      <a:endParaRPr sz="1300" kern="1200" dirty="0">
                        <a:solidFill>
                          <a:srgbClr val="000000"/>
                        </a:solidFill>
                        <a:latin typeface="Calibri"/>
                        <a:ea typeface="+mn-ea"/>
                        <a:cs typeface="+mn-cs"/>
                      </a:endParaRPr>
                    </a:p>
                  </a:txBody>
                  <a:tcPr>
                    <a:solidFill>
                      <a:srgbClr val="D6E4F7"/>
                    </a:solidFill>
                  </a:tcPr>
                </a:tc>
                <a:extLst>
                  <a:ext uri="{0D108BD9-81ED-4DB2-BD59-A6C34878D82A}">
                    <a16:rowId xmlns:a16="http://schemas.microsoft.com/office/drawing/2014/main" val="817415410"/>
                  </a:ext>
                </a:extLst>
              </a:tr>
              <a:tr h="384048">
                <a:tc>
                  <a:txBody>
                    <a:bodyPr/>
                    <a:lstStyle/>
                    <a:p>
                      <a:pPr marL="0" algn="l" defTabSz="457200" rtl="0" eaLnBrk="1" latinLnBrk="0" hangingPunct="1"/>
                      <a:r>
                        <a:rPr lang="es-ES" sz="1300" kern="1200" dirty="0">
                          <a:solidFill>
                            <a:srgbClr val="000000"/>
                          </a:solidFill>
                          <a:latin typeface="Calibri"/>
                          <a:ea typeface="+mn-ea"/>
                          <a:cs typeface="+mn-cs"/>
                        </a:rPr>
                        <a:t>RAM Host</a:t>
                      </a:r>
                      <a:endParaRPr sz="1300" kern="1200" dirty="0">
                        <a:solidFill>
                          <a:srgbClr val="000000"/>
                        </a:solidFill>
                        <a:latin typeface="Calibri"/>
                        <a:ea typeface="+mn-ea"/>
                        <a:cs typeface="+mn-cs"/>
                      </a:endParaRPr>
                    </a:p>
                  </a:txBody>
                  <a:tcPr>
                    <a:solidFill>
                      <a:srgbClr val="FFFFFF"/>
                    </a:solidFill>
                  </a:tcPr>
                </a:tc>
                <a:tc>
                  <a:txBody>
                    <a:bodyPr/>
                    <a:lstStyle/>
                    <a:p>
                      <a:pPr marL="0" algn="l" defTabSz="457200" rtl="0" eaLnBrk="1" latinLnBrk="0" hangingPunct="1"/>
                      <a:r>
                        <a:rPr lang="es-ES" sz="1300" kern="1200" dirty="0">
                          <a:solidFill>
                            <a:srgbClr val="000000"/>
                          </a:solidFill>
                          <a:latin typeface="Calibri"/>
                          <a:ea typeface="+mn-ea"/>
                          <a:cs typeface="+mn-cs"/>
                        </a:rPr>
                        <a:t>188.83 GiB</a:t>
                      </a:r>
                      <a:endParaRPr sz="1300" kern="1200" dirty="0">
                        <a:solidFill>
                          <a:srgbClr val="000000"/>
                        </a:solidFill>
                        <a:latin typeface="Calibri"/>
                        <a:ea typeface="+mn-ea"/>
                        <a:cs typeface="+mn-cs"/>
                      </a:endParaRPr>
                    </a:p>
                  </a:txBody>
                  <a:tcPr>
                    <a:solidFill>
                      <a:srgbClr val="FFFFFF"/>
                    </a:solidFill>
                  </a:tcPr>
                </a:tc>
                <a:extLst>
                  <a:ext uri="{0D108BD9-81ED-4DB2-BD59-A6C34878D82A}">
                    <a16:rowId xmlns:a16="http://schemas.microsoft.com/office/drawing/2014/main" val="2181064161"/>
                  </a:ext>
                </a:extLst>
              </a:tr>
              <a:tr h="384048">
                <a:tc>
                  <a:txBody>
                    <a:bodyPr/>
                    <a:lstStyle/>
                    <a:p>
                      <a:pPr marL="0" algn="l" defTabSz="457200" rtl="0" eaLnBrk="1" latinLnBrk="0" hangingPunct="1"/>
                      <a:r>
                        <a:rPr lang="es-ES" sz="1300" kern="1200" dirty="0">
                          <a:solidFill>
                            <a:srgbClr val="000000"/>
                          </a:solidFill>
                          <a:latin typeface="Calibri"/>
                          <a:ea typeface="+mn-ea"/>
                          <a:cs typeface="+mn-cs"/>
                        </a:rPr>
                        <a:t>Virtualización</a:t>
                      </a:r>
                      <a:endParaRPr sz="1300" kern="1200" dirty="0">
                        <a:solidFill>
                          <a:srgbClr val="000000"/>
                        </a:solidFill>
                        <a:latin typeface="Calibri"/>
                        <a:ea typeface="+mn-ea"/>
                        <a:cs typeface="+mn-cs"/>
                      </a:endParaRPr>
                    </a:p>
                  </a:txBody>
                  <a:tcPr>
                    <a:solidFill>
                      <a:srgbClr val="D6E4F7"/>
                    </a:solidFill>
                  </a:tcPr>
                </a:tc>
                <a:tc>
                  <a:txBody>
                    <a:bodyPr/>
                    <a:lstStyle/>
                    <a:p>
                      <a:pPr marL="0" algn="l" defTabSz="457200" rtl="0" eaLnBrk="1" latinLnBrk="0" hangingPunct="1"/>
                      <a:r>
                        <a:rPr lang="es-ES" sz="1300" kern="1200" dirty="0" err="1">
                          <a:solidFill>
                            <a:srgbClr val="000000"/>
                          </a:solidFill>
                          <a:latin typeface="Calibri"/>
                          <a:ea typeface="+mn-ea"/>
                          <a:cs typeface="+mn-cs"/>
                        </a:rPr>
                        <a:t>Proxmox</a:t>
                      </a:r>
                      <a:r>
                        <a:rPr lang="es-ES" sz="1300" kern="1200" dirty="0">
                          <a:solidFill>
                            <a:srgbClr val="000000"/>
                          </a:solidFill>
                          <a:latin typeface="Calibri"/>
                          <a:ea typeface="+mn-ea"/>
                          <a:cs typeface="+mn-cs"/>
                        </a:rPr>
                        <a:t> VE</a:t>
                      </a:r>
                      <a:endParaRPr sz="1300" kern="1200" dirty="0">
                        <a:solidFill>
                          <a:srgbClr val="000000"/>
                        </a:solidFill>
                        <a:latin typeface="Calibri"/>
                        <a:ea typeface="+mn-ea"/>
                        <a:cs typeface="+mn-cs"/>
                      </a:endParaRPr>
                    </a:p>
                  </a:txBody>
                  <a:tcPr>
                    <a:solidFill>
                      <a:srgbClr val="D6E4F7"/>
                    </a:solidFill>
                  </a:tcPr>
                </a:tc>
                <a:extLst>
                  <a:ext uri="{0D108BD9-81ED-4DB2-BD59-A6C34878D82A}">
                    <a16:rowId xmlns:a16="http://schemas.microsoft.com/office/drawing/2014/main" val="2711289668"/>
                  </a:ext>
                </a:extLst>
              </a:tr>
            </a:tbl>
          </a:graphicData>
        </a:graphic>
      </p:graphicFrame>
      <p:sp>
        <p:nvSpPr>
          <p:cNvPr id="9" name="Rectangle 8"/>
          <p:cNvSpPr/>
          <p:nvPr/>
        </p:nvSpPr>
        <p:spPr>
          <a:xfrm>
            <a:off x="365760" y="6043878"/>
            <a:ext cx="11430000" cy="475488"/>
          </a:xfrm>
          <a:prstGeom prst="rect">
            <a:avLst/>
          </a:prstGeom>
          <a:solidFill>
            <a:srgbClr val="1F3564"/>
          </a:solidFill>
          <a:ln w="12700">
            <a:solidFill>
              <a:srgbClr val="70B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6049039"/>
            <a:ext cx="11155680" cy="492443"/>
          </a:xfrm>
          <a:prstGeom prst="rect">
            <a:avLst/>
          </a:prstGeom>
          <a:noFill/>
        </p:spPr>
        <p:txBody>
          <a:bodyPr wrap="square">
            <a:spAutoFit/>
          </a:bodyPr>
          <a:lstStyle/>
          <a:p>
            <a:pPr algn="ctr"/>
            <a:r>
              <a:rPr sz="1300" b="0" i="0" dirty="0">
                <a:solidFill>
                  <a:srgbClr val="FFFFFF"/>
                </a:solidFill>
                <a:latin typeface="Calibri"/>
              </a:rPr>
              <a:t>Local: Intel i5-14600KF · 20 </a:t>
            </a:r>
            <a:r>
              <a:rPr sz="1300" b="0" i="0" dirty="0" err="1">
                <a:solidFill>
                  <a:srgbClr val="FFFFFF"/>
                </a:solidFill>
                <a:latin typeface="Calibri"/>
              </a:rPr>
              <a:t>hilos</a:t>
            </a:r>
            <a:r>
              <a:rPr sz="1300" b="0" i="0" dirty="0">
                <a:solidFill>
                  <a:srgbClr val="FFFFFF"/>
                </a:solidFill>
                <a:latin typeface="Calibri"/>
              </a:rPr>
              <a:t> </a:t>
            </a:r>
            <a:r>
              <a:rPr sz="1300" b="0" i="0" dirty="0" err="1">
                <a:solidFill>
                  <a:srgbClr val="FFFFFF"/>
                </a:solidFill>
                <a:latin typeface="Calibri"/>
              </a:rPr>
              <a:t>lógicos</a:t>
            </a:r>
            <a:r>
              <a:rPr sz="1300" b="0" i="0" dirty="0">
                <a:solidFill>
                  <a:srgbClr val="FFFFFF"/>
                </a:solidFill>
                <a:latin typeface="Calibri"/>
              </a:rPr>
              <a:t> · 24 MB L3 · RTX 4060 · Windows 11 · MSVC /O2     |     </a:t>
            </a:r>
            <a:r>
              <a:rPr sz="1300" b="0" i="0" dirty="0" err="1">
                <a:solidFill>
                  <a:srgbClr val="FFFFFF"/>
                </a:solidFill>
                <a:latin typeface="Calibri"/>
              </a:rPr>
              <a:t>Clúster</a:t>
            </a:r>
            <a:r>
              <a:rPr sz="1300" b="0" i="0" dirty="0">
                <a:solidFill>
                  <a:srgbClr val="FFFFFF"/>
                </a:solidFill>
                <a:latin typeface="Calibri"/>
              </a:rPr>
              <a:t>: 3 VMs Ubuntu 24.04 · </a:t>
            </a:r>
            <a:r>
              <a:rPr sz="1300" b="0" i="0" dirty="0" err="1">
                <a:solidFill>
                  <a:srgbClr val="FFFFFF"/>
                </a:solidFill>
                <a:latin typeface="Calibri"/>
              </a:rPr>
              <a:t>gcc</a:t>
            </a:r>
            <a:r>
              <a:rPr sz="1300" b="0" i="0" dirty="0">
                <a:solidFill>
                  <a:srgbClr val="FFFFFF"/>
                </a:solidFill>
                <a:latin typeface="Calibri"/>
              </a:rPr>
              <a:t> -O2 · 4 proc. MPI · 2 </a:t>
            </a:r>
            <a:r>
              <a:rPr sz="1300" b="0" i="0" dirty="0" err="1">
                <a:solidFill>
                  <a:srgbClr val="FFFFFF"/>
                </a:solidFill>
                <a:latin typeface="Calibri"/>
              </a:rPr>
              <a:t>hilos</a:t>
            </a:r>
            <a:r>
              <a:rPr sz="1300" b="0" i="0" dirty="0">
                <a:solidFill>
                  <a:srgbClr val="FFFFFF"/>
                </a:solidFill>
                <a:latin typeface="Calibri"/>
              </a:rPr>
              <a:t> OMP/proc.</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7899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12880" cy="658368"/>
          </a:xfrm>
          <a:prstGeom prst="rect">
            <a:avLst/>
          </a:prstGeom>
          <a:noFill/>
        </p:spPr>
        <p:txBody>
          <a:bodyPr wrap="square">
            <a:spAutoFit/>
          </a:bodyPr>
          <a:lstStyle/>
          <a:p>
            <a:pPr algn="l"/>
            <a:r>
              <a:rPr sz="2600" b="1" i="0">
                <a:solidFill>
                  <a:srgbClr val="FFFFFF"/>
                </a:solidFill>
                <a:latin typeface="Calibri"/>
              </a:rPr>
              <a:t>El Juego de la Vida de Conway</a:t>
            </a:r>
          </a:p>
        </p:txBody>
      </p:sp>
      <p:sp>
        <p:nvSpPr>
          <p:cNvPr id="4" name="TextBox 3"/>
          <p:cNvSpPr txBox="1"/>
          <p:nvPr/>
        </p:nvSpPr>
        <p:spPr>
          <a:xfrm>
            <a:off x="274320" y="713232"/>
            <a:ext cx="11612880" cy="329184"/>
          </a:xfrm>
          <a:prstGeom prst="rect">
            <a:avLst/>
          </a:prstGeom>
          <a:noFill/>
        </p:spPr>
        <p:txBody>
          <a:bodyPr wrap="square">
            <a:spAutoFit/>
          </a:bodyPr>
          <a:lstStyle/>
          <a:p>
            <a:pPr algn="l"/>
            <a:r>
              <a:rPr sz="1200" b="0" i="0">
                <a:solidFill>
                  <a:srgbClr val="D6E4F7"/>
                </a:solidFill>
                <a:latin typeface="Calibri"/>
              </a:rPr>
              <a:t>Definición del problema</a:t>
            </a:r>
          </a:p>
        </p:txBody>
      </p:sp>
      <p:sp>
        <p:nvSpPr>
          <p:cNvPr id="5" name="TextBox 4"/>
          <p:cNvSpPr txBox="1"/>
          <p:nvPr/>
        </p:nvSpPr>
        <p:spPr>
          <a:xfrm>
            <a:off x="365760" y="1207008"/>
            <a:ext cx="5486400" cy="274320"/>
          </a:xfrm>
          <a:prstGeom prst="rect">
            <a:avLst/>
          </a:prstGeom>
          <a:noFill/>
        </p:spPr>
        <p:txBody>
          <a:bodyPr wrap="square">
            <a:spAutoFit/>
          </a:bodyPr>
          <a:lstStyle/>
          <a:p>
            <a:pPr algn="l"/>
            <a:r>
              <a:rPr sz="1400" b="1" i="0" dirty="0">
                <a:solidFill>
                  <a:srgbClr val="1F3564"/>
                </a:solidFill>
                <a:latin typeface="Calibri"/>
              </a:rPr>
              <a:t>¿</a:t>
            </a:r>
            <a:r>
              <a:rPr sz="1400" b="1" i="0" dirty="0" err="1">
                <a:solidFill>
                  <a:srgbClr val="1F3564"/>
                </a:solidFill>
                <a:latin typeface="Calibri"/>
              </a:rPr>
              <a:t>Qué</a:t>
            </a:r>
            <a:r>
              <a:rPr sz="1400" b="1" i="0" dirty="0">
                <a:solidFill>
                  <a:srgbClr val="1F3564"/>
                </a:solidFill>
                <a:latin typeface="Calibri"/>
              </a:rPr>
              <a:t> es?</a:t>
            </a:r>
          </a:p>
        </p:txBody>
      </p:sp>
      <p:sp>
        <p:nvSpPr>
          <p:cNvPr id="6" name="TextBox 5"/>
          <p:cNvSpPr txBox="1"/>
          <p:nvPr/>
        </p:nvSpPr>
        <p:spPr>
          <a:xfrm>
            <a:off x="365760" y="1517904"/>
            <a:ext cx="5486400" cy="822960"/>
          </a:xfrm>
          <a:prstGeom prst="rect">
            <a:avLst/>
          </a:prstGeom>
          <a:noFill/>
        </p:spPr>
        <p:txBody>
          <a:bodyPr wrap="square">
            <a:spAutoFit/>
          </a:bodyPr>
          <a:lstStyle/>
          <a:p>
            <a:pPr algn="l"/>
            <a:r>
              <a:rPr sz="1300" b="0" i="0" dirty="0" err="1">
                <a:solidFill>
                  <a:srgbClr val="000000"/>
                </a:solidFill>
                <a:latin typeface="Calibri"/>
              </a:rPr>
              <a:t>Autómata</a:t>
            </a:r>
            <a:r>
              <a:rPr sz="1300" b="0" i="0" dirty="0">
                <a:solidFill>
                  <a:srgbClr val="000000"/>
                </a:solidFill>
                <a:latin typeface="Calibri"/>
              </a:rPr>
              <a:t> </a:t>
            </a:r>
            <a:r>
              <a:rPr sz="1300" b="0" i="0" dirty="0" err="1">
                <a:solidFill>
                  <a:srgbClr val="000000"/>
                </a:solidFill>
                <a:latin typeface="Calibri"/>
              </a:rPr>
              <a:t>celular</a:t>
            </a:r>
            <a:r>
              <a:rPr sz="1300" b="0" i="0" dirty="0">
                <a:solidFill>
                  <a:srgbClr val="000000"/>
                </a:solidFill>
                <a:latin typeface="Calibri"/>
              </a:rPr>
              <a:t> 2D </a:t>
            </a:r>
            <a:r>
              <a:rPr sz="1300" b="0" i="0" dirty="0" err="1">
                <a:solidFill>
                  <a:srgbClr val="000000"/>
                </a:solidFill>
                <a:latin typeface="Calibri"/>
              </a:rPr>
              <a:t>sobre</a:t>
            </a:r>
            <a:r>
              <a:rPr sz="1300" b="0" i="0" dirty="0">
                <a:solidFill>
                  <a:srgbClr val="000000"/>
                </a:solidFill>
                <a:latin typeface="Calibri"/>
              </a:rPr>
              <a:t> </a:t>
            </a:r>
            <a:r>
              <a:rPr sz="1300" b="0" i="0" dirty="0" err="1">
                <a:solidFill>
                  <a:srgbClr val="000000"/>
                </a:solidFill>
                <a:latin typeface="Calibri"/>
              </a:rPr>
              <a:t>una</a:t>
            </a:r>
            <a:r>
              <a:rPr sz="1300" b="0" i="0" dirty="0">
                <a:solidFill>
                  <a:srgbClr val="000000"/>
                </a:solidFill>
                <a:latin typeface="Calibri"/>
              </a:rPr>
              <a:t> </a:t>
            </a:r>
            <a:r>
              <a:rPr sz="1300" b="0" i="0" dirty="0" err="1">
                <a:solidFill>
                  <a:srgbClr val="000000"/>
                </a:solidFill>
                <a:latin typeface="Calibri"/>
              </a:rPr>
              <a:t>matriz</a:t>
            </a:r>
            <a:r>
              <a:rPr sz="1300" b="0" i="0" dirty="0">
                <a:solidFill>
                  <a:srgbClr val="000000"/>
                </a:solidFill>
                <a:latin typeface="Calibri"/>
              </a:rPr>
              <a:t> N×N.
Cada </a:t>
            </a:r>
            <a:r>
              <a:rPr sz="1300" b="0" i="0" dirty="0" err="1">
                <a:solidFill>
                  <a:srgbClr val="000000"/>
                </a:solidFill>
                <a:latin typeface="Calibri"/>
              </a:rPr>
              <a:t>celda</a:t>
            </a:r>
            <a:r>
              <a:rPr sz="1300" b="0" i="0" dirty="0">
                <a:solidFill>
                  <a:srgbClr val="000000"/>
                </a:solidFill>
                <a:latin typeface="Calibri"/>
              </a:rPr>
              <a:t>: VIVA (1) o MUERTA (0).
Estado </a:t>
            </a:r>
            <a:r>
              <a:rPr sz="1300" b="0" i="0" dirty="0" err="1">
                <a:solidFill>
                  <a:srgbClr val="000000"/>
                </a:solidFill>
                <a:latin typeface="Calibri"/>
              </a:rPr>
              <a:t>actualizado</a:t>
            </a:r>
            <a:r>
              <a:rPr sz="1300" b="0" i="0" dirty="0">
                <a:solidFill>
                  <a:srgbClr val="000000"/>
                </a:solidFill>
                <a:latin typeface="Calibri"/>
              </a:rPr>
              <a:t> </a:t>
            </a:r>
            <a:r>
              <a:rPr sz="1300" b="0" i="0" dirty="0" err="1">
                <a:solidFill>
                  <a:srgbClr val="000000"/>
                </a:solidFill>
                <a:latin typeface="Calibri"/>
              </a:rPr>
              <a:t>cada</a:t>
            </a:r>
            <a:r>
              <a:rPr sz="1300" b="0" i="0" dirty="0">
                <a:solidFill>
                  <a:srgbClr val="000000"/>
                </a:solidFill>
                <a:latin typeface="Calibri"/>
              </a:rPr>
              <a:t> </a:t>
            </a:r>
            <a:r>
              <a:rPr sz="1300" b="0" i="0" dirty="0" err="1">
                <a:solidFill>
                  <a:srgbClr val="000000"/>
                </a:solidFill>
                <a:latin typeface="Calibri"/>
              </a:rPr>
              <a:t>generación</a:t>
            </a:r>
            <a:r>
              <a:rPr sz="1300" b="0" i="0" dirty="0">
                <a:solidFill>
                  <a:srgbClr val="000000"/>
                </a:solidFill>
                <a:latin typeface="Calibri"/>
              </a:rPr>
              <a:t> </a:t>
            </a:r>
            <a:r>
              <a:rPr sz="1300" b="0" i="0" dirty="0" err="1">
                <a:solidFill>
                  <a:srgbClr val="000000"/>
                </a:solidFill>
                <a:latin typeface="Calibri"/>
              </a:rPr>
              <a:t>según</a:t>
            </a:r>
            <a:r>
              <a:rPr sz="1300" b="0" i="0" dirty="0">
                <a:solidFill>
                  <a:srgbClr val="000000"/>
                </a:solidFill>
                <a:latin typeface="Calibri"/>
              </a:rPr>
              <a:t> sus 8 </a:t>
            </a:r>
            <a:r>
              <a:rPr sz="1300" b="0" i="0" dirty="0" err="1">
                <a:solidFill>
                  <a:srgbClr val="000000"/>
                </a:solidFill>
                <a:latin typeface="Calibri"/>
              </a:rPr>
              <a:t>vecinos</a:t>
            </a:r>
            <a:r>
              <a:rPr sz="1300" b="0" i="0" dirty="0">
                <a:solidFill>
                  <a:srgbClr val="000000"/>
                </a:solidFill>
                <a:latin typeface="Calibri"/>
              </a:rPr>
              <a:t>.</a:t>
            </a:r>
          </a:p>
        </p:txBody>
      </p:sp>
      <p:sp>
        <p:nvSpPr>
          <p:cNvPr id="7" name="TextBox 6"/>
          <p:cNvSpPr txBox="1"/>
          <p:nvPr/>
        </p:nvSpPr>
        <p:spPr>
          <a:xfrm>
            <a:off x="365760" y="2450592"/>
            <a:ext cx="5486400" cy="274320"/>
          </a:xfrm>
          <a:prstGeom prst="rect">
            <a:avLst/>
          </a:prstGeom>
          <a:noFill/>
        </p:spPr>
        <p:txBody>
          <a:bodyPr wrap="square">
            <a:spAutoFit/>
          </a:bodyPr>
          <a:lstStyle/>
          <a:p>
            <a:pPr algn="l"/>
            <a:r>
              <a:rPr sz="1400" b="1" i="0" dirty="0">
                <a:solidFill>
                  <a:srgbClr val="1F3564"/>
                </a:solidFill>
                <a:latin typeface="Calibri"/>
              </a:rPr>
              <a:t>Reglas de Conway</a:t>
            </a:r>
          </a:p>
        </p:txBody>
      </p:sp>
      <p:sp>
        <p:nvSpPr>
          <p:cNvPr id="8" name="TextBox 7"/>
          <p:cNvSpPr txBox="1"/>
          <p:nvPr/>
        </p:nvSpPr>
        <p:spPr>
          <a:xfrm>
            <a:off x="365760" y="2761488"/>
            <a:ext cx="5486400" cy="2011680"/>
          </a:xfrm>
          <a:prstGeom prst="rect">
            <a:avLst/>
          </a:prstGeom>
          <a:noFill/>
        </p:spPr>
        <p:txBody>
          <a:bodyPr wrap="square">
            <a:spAutoFit/>
          </a:bodyPr>
          <a:lstStyle/>
          <a:p>
            <a:pPr>
              <a:spcBef>
                <a:spcPts val="300"/>
              </a:spcBef>
            </a:pPr>
            <a:r>
              <a:rPr sz="1300" dirty="0">
                <a:solidFill>
                  <a:srgbClr val="000000"/>
                </a:solidFill>
                <a:latin typeface="Calibri"/>
              </a:rPr>
              <a:t>• Viva + 2 ó 3 </a:t>
            </a:r>
            <a:r>
              <a:rPr sz="1300" dirty="0" err="1">
                <a:solidFill>
                  <a:srgbClr val="000000"/>
                </a:solidFill>
                <a:latin typeface="Calibri"/>
              </a:rPr>
              <a:t>vecinas</a:t>
            </a:r>
            <a:r>
              <a:rPr sz="1300" dirty="0">
                <a:solidFill>
                  <a:srgbClr val="000000"/>
                </a:solidFill>
                <a:latin typeface="Calibri"/>
              </a:rPr>
              <a:t> </a:t>
            </a:r>
            <a:r>
              <a:rPr sz="1300" dirty="0" err="1">
                <a:solidFill>
                  <a:srgbClr val="000000"/>
                </a:solidFill>
                <a:latin typeface="Calibri"/>
              </a:rPr>
              <a:t>vivas</a:t>
            </a:r>
            <a:r>
              <a:rPr sz="1300" dirty="0">
                <a:solidFill>
                  <a:srgbClr val="000000"/>
                </a:solidFill>
                <a:latin typeface="Calibri"/>
              </a:rPr>
              <a:t>  →  </a:t>
            </a:r>
            <a:r>
              <a:rPr sz="1300" dirty="0" err="1">
                <a:solidFill>
                  <a:srgbClr val="000000"/>
                </a:solidFill>
                <a:latin typeface="Calibri"/>
              </a:rPr>
              <a:t>sobrevive</a:t>
            </a:r>
            <a:endParaRPr sz="1300" dirty="0">
              <a:solidFill>
                <a:srgbClr val="000000"/>
              </a:solidFill>
              <a:latin typeface="Calibri"/>
            </a:endParaRPr>
          </a:p>
          <a:p>
            <a:pPr>
              <a:spcBef>
                <a:spcPts val="300"/>
              </a:spcBef>
            </a:pPr>
            <a:r>
              <a:rPr sz="1300" dirty="0">
                <a:solidFill>
                  <a:srgbClr val="000000"/>
                </a:solidFill>
                <a:latin typeface="Calibri"/>
              </a:rPr>
              <a:t>• Viva + &lt; 2 </a:t>
            </a:r>
            <a:r>
              <a:rPr sz="1300" dirty="0" err="1">
                <a:solidFill>
                  <a:srgbClr val="000000"/>
                </a:solidFill>
                <a:latin typeface="Calibri"/>
              </a:rPr>
              <a:t>vecinas</a:t>
            </a:r>
            <a:r>
              <a:rPr sz="1300" dirty="0">
                <a:solidFill>
                  <a:srgbClr val="000000"/>
                </a:solidFill>
                <a:latin typeface="Calibri"/>
              </a:rPr>
              <a:t>  →  </a:t>
            </a:r>
            <a:r>
              <a:rPr sz="1300" dirty="0" err="1">
                <a:solidFill>
                  <a:srgbClr val="000000"/>
                </a:solidFill>
                <a:latin typeface="Calibri"/>
              </a:rPr>
              <a:t>muere</a:t>
            </a:r>
            <a:r>
              <a:rPr sz="1300" dirty="0">
                <a:solidFill>
                  <a:srgbClr val="000000"/>
                </a:solidFill>
                <a:latin typeface="Calibri"/>
              </a:rPr>
              <a:t> (</a:t>
            </a:r>
            <a:r>
              <a:rPr sz="1300" dirty="0" err="1">
                <a:solidFill>
                  <a:srgbClr val="000000"/>
                </a:solidFill>
                <a:latin typeface="Calibri"/>
              </a:rPr>
              <a:t>soledad</a:t>
            </a:r>
            <a:r>
              <a:rPr sz="1300" dirty="0">
                <a:solidFill>
                  <a:srgbClr val="000000"/>
                </a:solidFill>
                <a:latin typeface="Calibri"/>
              </a:rPr>
              <a:t>)</a:t>
            </a:r>
          </a:p>
          <a:p>
            <a:pPr>
              <a:spcBef>
                <a:spcPts val="300"/>
              </a:spcBef>
            </a:pPr>
            <a:r>
              <a:rPr sz="1300" dirty="0">
                <a:solidFill>
                  <a:srgbClr val="000000"/>
                </a:solidFill>
                <a:latin typeface="Calibri"/>
              </a:rPr>
              <a:t>• Viva + &gt; 3 </a:t>
            </a:r>
            <a:r>
              <a:rPr sz="1300" dirty="0" err="1">
                <a:solidFill>
                  <a:srgbClr val="000000"/>
                </a:solidFill>
                <a:latin typeface="Calibri"/>
              </a:rPr>
              <a:t>vecinas</a:t>
            </a:r>
            <a:r>
              <a:rPr sz="1300" dirty="0">
                <a:solidFill>
                  <a:srgbClr val="000000"/>
                </a:solidFill>
                <a:latin typeface="Calibri"/>
              </a:rPr>
              <a:t>  →  </a:t>
            </a:r>
            <a:r>
              <a:rPr sz="1300" dirty="0" err="1">
                <a:solidFill>
                  <a:srgbClr val="000000"/>
                </a:solidFill>
                <a:latin typeface="Calibri"/>
              </a:rPr>
              <a:t>muere</a:t>
            </a:r>
            <a:r>
              <a:rPr sz="1300" dirty="0">
                <a:solidFill>
                  <a:srgbClr val="000000"/>
                </a:solidFill>
                <a:latin typeface="Calibri"/>
              </a:rPr>
              <a:t> (</a:t>
            </a:r>
            <a:r>
              <a:rPr sz="1300" dirty="0" err="1">
                <a:solidFill>
                  <a:srgbClr val="000000"/>
                </a:solidFill>
                <a:latin typeface="Calibri"/>
              </a:rPr>
              <a:t>sobrepoblación</a:t>
            </a:r>
            <a:r>
              <a:rPr sz="1300" dirty="0">
                <a:solidFill>
                  <a:srgbClr val="000000"/>
                </a:solidFill>
                <a:latin typeface="Calibri"/>
              </a:rPr>
              <a:t>)</a:t>
            </a:r>
          </a:p>
          <a:p>
            <a:pPr>
              <a:spcBef>
                <a:spcPts val="300"/>
              </a:spcBef>
            </a:pPr>
            <a:r>
              <a:rPr sz="1300" dirty="0">
                <a:solidFill>
                  <a:srgbClr val="000000"/>
                </a:solidFill>
                <a:latin typeface="Calibri"/>
              </a:rPr>
              <a:t>• Muerta + </a:t>
            </a:r>
            <a:r>
              <a:rPr sz="1300" dirty="0" err="1">
                <a:solidFill>
                  <a:srgbClr val="000000"/>
                </a:solidFill>
                <a:latin typeface="Calibri"/>
              </a:rPr>
              <a:t>exactamente</a:t>
            </a:r>
            <a:r>
              <a:rPr sz="1300" dirty="0">
                <a:solidFill>
                  <a:srgbClr val="000000"/>
                </a:solidFill>
                <a:latin typeface="Calibri"/>
              </a:rPr>
              <a:t> 3 </a:t>
            </a:r>
            <a:r>
              <a:rPr sz="1300" dirty="0" err="1">
                <a:solidFill>
                  <a:srgbClr val="000000"/>
                </a:solidFill>
                <a:latin typeface="Calibri"/>
              </a:rPr>
              <a:t>vecinas</a:t>
            </a:r>
            <a:r>
              <a:rPr sz="1300" dirty="0">
                <a:solidFill>
                  <a:srgbClr val="000000"/>
                </a:solidFill>
                <a:latin typeface="Calibri"/>
              </a:rPr>
              <a:t>  →  </a:t>
            </a:r>
            <a:r>
              <a:rPr sz="1300" dirty="0" err="1">
                <a:solidFill>
                  <a:srgbClr val="000000"/>
                </a:solidFill>
                <a:latin typeface="Calibri"/>
              </a:rPr>
              <a:t>nace</a:t>
            </a:r>
            <a:endParaRPr sz="1300" dirty="0">
              <a:solidFill>
                <a:srgbClr val="000000"/>
              </a:solidFill>
              <a:latin typeface="Calibri"/>
            </a:endParaRPr>
          </a:p>
        </p:txBody>
      </p:sp>
      <p:sp>
        <p:nvSpPr>
          <p:cNvPr id="9" name="TextBox 8"/>
          <p:cNvSpPr txBox="1"/>
          <p:nvPr/>
        </p:nvSpPr>
        <p:spPr>
          <a:xfrm>
            <a:off x="365760" y="4041648"/>
            <a:ext cx="5486400" cy="274320"/>
          </a:xfrm>
          <a:prstGeom prst="rect">
            <a:avLst/>
          </a:prstGeom>
          <a:noFill/>
        </p:spPr>
        <p:txBody>
          <a:bodyPr wrap="square">
            <a:spAutoFit/>
          </a:bodyPr>
          <a:lstStyle/>
          <a:p>
            <a:pPr algn="l"/>
            <a:r>
              <a:rPr sz="1400" b="1" i="0" dirty="0" err="1">
                <a:solidFill>
                  <a:srgbClr val="1F3564"/>
                </a:solidFill>
                <a:latin typeface="Calibri"/>
              </a:rPr>
              <a:t>Objetivo</a:t>
            </a:r>
            <a:r>
              <a:rPr sz="1400" b="1" i="0" dirty="0">
                <a:solidFill>
                  <a:srgbClr val="1F3564"/>
                </a:solidFill>
                <a:latin typeface="Calibri"/>
              </a:rPr>
              <a:t> del </a:t>
            </a:r>
            <a:r>
              <a:rPr sz="1400" b="1" i="0" dirty="0" err="1">
                <a:solidFill>
                  <a:srgbClr val="1F3564"/>
                </a:solidFill>
                <a:latin typeface="Calibri"/>
              </a:rPr>
              <a:t>proyecto</a:t>
            </a:r>
            <a:endParaRPr sz="1400" b="1" i="0" dirty="0">
              <a:solidFill>
                <a:srgbClr val="1F3564"/>
              </a:solidFill>
              <a:latin typeface="Calibri"/>
            </a:endParaRPr>
          </a:p>
        </p:txBody>
      </p:sp>
      <p:sp>
        <p:nvSpPr>
          <p:cNvPr id="10" name="TextBox 9"/>
          <p:cNvSpPr txBox="1"/>
          <p:nvPr/>
        </p:nvSpPr>
        <p:spPr>
          <a:xfrm>
            <a:off x="365760" y="4453128"/>
            <a:ext cx="5486400" cy="640080"/>
          </a:xfrm>
          <a:prstGeom prst="rect">
            <a:avLst/>
          </a:prstGeom>
          <a:noFill/>
        </p:spPr>
        <p:txBody>
          <a:bodyPr wrap="square">
            <a:spAutoFit/>
          </a:bodyPr>
          <a:lstStyle/>
          <a:p>
            <a:pPr algn="l"/>
            <a:r>
              <a:rPr sz="1300" b="0" i="0" dirty="0">
                <a:solidFill>
                  <a:srgbClr val="000000"/>
                </a:solidFill>
                <a:latin typeface="Calibri"/>
              </a:rPr>
              <a:t>Analizar, </a:t>
            </a:r>
            <a:r>
              <a:rPr sz="1300" b="0" i="0" dirty="0" err="1">
                <a:solidFill>
                  <a:srgbClr val="000000"/>
                </a:solidFill>
                <a:latin typeface="Calibri"/>
              </a:rPr>
              <a:t>optimizar</a:t>
            </a:r>
            <a:r>
              <a:rPr sz="1300" b="0" i="0" dirty="0">
                <a:solidFill>
                  <a:srgbClr val="000000"/>
                </a:solidFill>
                <a:latin typeface="Calibri"/>
              </a:rPr>
              <a:t> y </a:t>
            </a:r>
            <a:r>
              <a:rPr sz="1300" b="0" i="0" dirty="0" err="1">
                <a:solidFill>
                  <a:srgbClr val="000000"/>
                </a:solidFill>
                <a:latin typeface="Calibri"/>
              </a:rPr>
              <a:t>paralelizar</a:t>
            </a:r>
            <a:r>
              <a:rPr sz="1300" b="0" i="0" dirty="0">
                <a:solidFill>
                  <a:srgbClr val="000000"/>
                </a:solidFill>
                <a:latin typeface="Calibri"/>
              </a:rPr>
              <a:t> la </a:t>
            </a:r>
            <a:r>
              <a:rPr sz="1300" b="0" i="0" dirty="0" err="1">
                <a:solidFill>
                  <a:srgbClr val="000000"/>
                </a:solidFill>
                <a:latin typeface="Calibri"/>
              </a:rPr>
              <a:t>simulación</a:t>
            </a:r>
            <a:r>
              <a:rPr sz="1300" b="0" i="0" dirty="0">
                <a:solidFill>
                  <a:srgbClr val="000000"/>
                </a:solidFill>
                <a:latin typeface="Calibri"/>
              </a:rPr>
              <a:t>.
</a:t>
            </a:r>
            <a:r>
              <a:rPr sz="1300" b="0" i="0" dirty="0" err="1">
                <a:solidFill>
                  <a:srgbClr val="000000"/>
                </a:solidFill>
                <a:latin typeface="Calibri"/>
              </a:rPr>
              <a:t>Comparar</a:t>
            </a:r>
            <a:r>
              <a:rPr sz="1300" b="0" i="0" dirty="0">
                <a:solidFill>
                  <a:srgbClr val="000000"/>
                </a:solidFill>
                <a:latin typeface="Calibri"/>
              </a:rPr>
              <a:t> </a:t>
            </a:r>
            <a:r>
              <a:rPr sz="1300" b="0" i="0" dirty="0" err="1">
                <a:solidFill>
                  <a:srgbClr val="000000"/>
                </a:solidFill>
                <a:latin typeface="Calibri"/>
              </a:rPr>
              <a:t>rendimiento</a:t>
            </a:r>
            <a:r>
              <a:rPr sz="1300" b="0" i="0" dirty="0">
                <a:solidFill>
                  <a:srgbClr val="000000"/>
                </a:solidFill>
                <a:latin typeface="Calibri"/>
              </a:rPr>
              <a:t> de </a:t>
            </a:r>
            <a:r>
              <a:rPr sz="1300" b="0" i="0" dirty="0" err="1">
                <a:solidFill>
                  <a:srgbClr val="000000"/>
                </a:solidFill>
                <a:latin typeface="Calibri"/>
              </a:rPr>
              <a:t>distintas</a:t>
            </a:r>
            <a:r>
              <a:rPr sz="1300" b="0" i="0" dirty="0">
                <a:solidFill>
                  <a:srgbClr val="000000"/>
                </a:solidFill>
                <a:latin typeface="Calibri"/>
              </a:rPr>
              <a:t> </a:t>
            </a:r>
            <a:r>
              <a:rPr sz="1300" b="0" i="0" dirty="0" err="1">
                <a:solidFill>
                  <a:srgbClr val="000000"/>
                </a:solidFill>
                <a:latin typeface="Calibri"/>
              </a:rPr>
              <a:t>técnicas</a:t>
            </a:r>
            <a:r>
              <a:rPr sz="1300" b="0" i="0" dirty="0">
                <a:solidFill>
                  <a:srgbClr val="000000"/>
                </a:solidFill>
                <a:latin typeface="Calibri"/>
              </a:rPr>
              <a:t>.</a:t>
            </a:r>
          </a:p>
        </p:txBody>
      </p:sp>
      <p:sp>
        <p:nvSpPr>
          <p:cNvPr id="11" name="Rectangle 10"/>
          <p:cNvSpPr/>
          <p:nvPr/>
        </p:nvSpPr>
        <p:spPr>
          <a:xfrm>
            <a:off x="6035040" y="1207008"/>
            <a:ext cx="5852160" cy="5166360"/>
          </a:xfrm>
          <a:prstGeom prst="rect">
            <a:avLst/>
          </a:prstGeom>
          <a:solidFill>
            <a:srgbClr val="F2F2F2"/>
          </a:solidFill>
          <a:ln w="6350">
            <a:solidFill>
              <a:srgbClr val="D6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26480" y="1298448"/>
            <a:ext cx="5669280" cy="274320"/>
          </a:xfrm>
          <a:prstGeom prst="rect">
            <a:avLst/>
          </a:prstGeom>
          <a:noFill/>
        </p:spPr>
        <p:txBody>
          <a:bodyPr wrap="square">
            <a:spAutoFit/>
          </a:bodyPr>
          <a:lstStyle/>
          <a:p>
            <a:pPr algn="l"/>
            <a:r>
              <a:rPr sz="1300" b="1" i="0">
                <a:solidFill>
                  <a:srgbClr val="1F3564"/>
                </a:solidFill>
                <a:latin typeface="Calibri"/>
              </a:rPr>
              <a:t>Parámetros de simulación</a:t>
            </a:r>
          </a:p>
        </p:txBody>
      </p:sp>
      <p:sp>
        <p:nvSpPr>
          <p:cNvPr id="13" name="Rectangle 12"/>
          <p:cNvSpPr/>
          <p:nvPr/>
        </p:nvSpPr>
        <p:spPr>
          <a:xfrm>
            <a:off x="6126480" y="1627632"/>
            <a:ext cx="5669280" cy="475488"/>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72200" y="1719072"/>
            <a:ext cx="3474720" cy="347472"/>
          </a:xfrm>
          <a:prstGeom prst="rect">
            <a:avLst/>
          </a:prstGeom>
          <a:noFill/>
        </p:spPr>
        <p:txBody>
          <a:bodyPr wrap="square">
            <a:spAutoFit/>
          </a:bodyPr>
          <a:lstStyle/>
          <a:p>
            <a:pPr algn="l"/>
            <a:r>
              <a:rPr sz="1200" b="0" i="0">
                <a:solidFill>
                  <a:srgbClr val="505050"/>
                </a:solidFill>
                <a:latin typeface="Calibri"/>
              </a:rPr>
              <a:t>N (tamaño de la matriz)</a:t>
            </a:r>
          </a:p>
        </p:txBody>
      </p:sp>
      <p:sp>
        <p:nvSpPr>
          <p:cNvPr id="15" name="TextBox 14"/>
          <p:cNvSpPr txBox="1"/>
          <p:nvPr/>
        </p:nvSpPr>
        <p:spPr>
          <a:xfrm>
            <a:off x="9646920" y="1719072"/>
            <a:ext cx="2103120" cy="347472"/>
          </a:xfrm>
          <a:prstGeom prst="rect">
            <a:avLst/>
          </a:prstGeom>
          <a:noFill/>
        </p:spPr>
        <p:txBody>
          <a:bodyPr wrap="square">
            <a:spAutoFit/>
          </a:bodyPr>
          <a:lstStyle/>
          <a:p>
            <a:pPr algn="ctr"/>
            <a:r>
              <a:rPr sz="1300" b="1" i="0">
                <a:solidFill>
                  <a:srgbClr val="1F3564"/>
                </a:solidFill>
                <a:latin typeface="Calibri"/>
              </a:rPr>
              <a:t>1 000 × 1 000</a:t>
            </a:r>
          </a:p>
        </p:txBody>
      </p:sp>
      <p:sp>
        <p:nvSpPr>
          <p:cNvPr id="16" name="Rectangle 15"/>
          <p:cNvSpPr/>
          <p:nvPr/>
        </p:nvSpPr>
        <p:spPr>
          <a:xfrm>
            <a:off x="6126480" y="2121408"/>
            <a:ext cx="566928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72200" y="2212848"/>
            <a:ext cx="3474720" cy="347472"/>
          </a:xfrm>
          <a:prstGeom prst="rect">
            <a:avLst/>
          </a:prstGeom>
          <a:noFill/>
        </p:spPr>
        <p:txBody>
          <a:bodyPr wrap="square">
            <a:spAutoFit/>
          </a:bodyPr>
          <a:lstStyle/>
          <a:p>
            <a:pPr algn="l"/>
            <a:r>
              <a:rPr sz="1200" b="0" i="0">
                <a:solidFill>
                  <a:srgbClr val="505050"/>
                </a:solidFill>
                <a:latin typeface="Calibri"/>
              </a:rPr>
              <a:t>Generaciones</a:t>
            </a:r>
          </a:p>
        </p:txBody>
      </p:sp>
      <p:sp>
        <p:nvSpPr>
          <p:cNvPr id="18" name="TextBox 17"/>
          <p:cNvSpPr txBox="1"/>
          <p:nvPr/>
        </p:nvSpPr>
        <p:spPr>
          <a:xfrm>
            <a:off x="9646920" y="2212848"/>
            <a:ext cx="2103120" cy="347472"/>
          </a:xfrm>
          <a:prstGeom prst="rect">
            <a:avLst/>
          </a:prstGeom>
          <a:noFill/>
        </p:spPr>
        <p:txBody>
          <a:bodyPr wrap="square">
            <a:spAutoFit/>
          </a:bodyPr>
          <a:lstStyle/>
          <a:p>
            <a:pPr algn="ctr"/>
            <a:r>
              <a:rPr sz="1300" b="1" i="0">
                <a:solidFill>
                  <a:srgbClr val="1F3564"/>
                </a:solidFill>
                <a:latin typeface="Calibri"/>
              </a:rPr>
              <a:t>1 000</a:t>
            </a:r>
          </a:p>
        </p:txBody>
      </p:sp>
      <p:sp>
        <p:nvSpPr>
          <p:cNvPr id="19" name="Rectangle 18"/>
          <p:cNvSpPr/>
          <p:nvPr/>
        </p:nvSpPr>
        <p:spPr>
          <a:xfrm>
            <a:off x="6126480" y="2615184"/>
            <a:ext cx="5669280" cy="475488"/>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72200" y="2706624"/>
            <a:ext cx="3474720" cy="347472"/>
          </a:xfrm>
          <a:prstGeom prst="rect">
            <a:avLst/>
          </a:prstGeom>
          <a:noFill/>
        </p:spPr>
        <p:txBody>
          <a:bodyPr wrap="square">
            <a:spAutoFit/>
          </a:bodyPr>
          <a:lstStyle/>
          <a:p>
            <a:pPr algn="l"/>
            <a:r>
              <a:rPr sz="1200" b="0" i="0">
                <a:solidFill>
                  <a:srgbClr val="505050"/>
                </a:solidFill>
                <a:latin typeface="Calibri"/>
              </a:rPr>
              <a:t>Repeticiones</a:t>
            </a:r>
          </a:p>
        </p:txBody>
      </p:sp>
      <p:sp>
        <p:nvSpPr>
          <p:cNvPr id="21" name="TextBox 20"/>
          <p:cNvSpPr txBox="1"/>
          <p:nvPr/>
        </p:nvSpPr>
        <p:spPr>
          <a:xfrm>
            <a:off x="9646920" y="2706624"/>
            <a:ext cx="2103120" cy="347472"/>
          </a:xfrm>
          <a:prstGeom prst="rect">
            <a:avLst/>
          </a:prstGeom>
          <a:noFill/>
        </p:spPr>
        <p:txBody>
          <a:bodyPr wrap="square">
            <a:spAutoFit/>
          </a:bodyPr>
          <a:lstStyle/>
          <a:p>
            <a:pPr algn="ctr"/>
            <a:r>
              <a:rPr sz="1300" b="1" i="0">
                <a:solidFill>
                  <a:srgbClr val="1F3564"/>
                </a:solidFill>
                <a:latin typeface="Calibri"/>
              </a:rPr>
              <a:t>5</a:t>
            </a:r>
          </a:p>
        </p:txBody>
      </p:sp>
      <p:sp>
        <p:nvSpPr>
          <p:cNvPr id="22" name="Rectangle 21"/>
          <p:cNvSpPr/>
          <p:nvPr/>
        </p:nvSpPr>
        <p:spPr>
          <a:xfrm>
            <a:off x="6126480" y="3108960"/>
            <a:ext cx="566928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172200" y="3200400"/>
            <a:ext cx="3474720" cy="347472"/>
          </a:xfrm>
          <a:prstGeom prst="rect">
            <a:avLst/>
          </a:prstGeom>
          <a:noFill/>
        </p:spPr>
        <p:txBody>
          <a:bodyPr wrap="square">
            <a:spAutoFit/>
          </a:bodyPr>
          <a:lstStyle/>
          <a:p>
            <a:pPr algn="l"/>
            <a:r>
              <a:rPr sz="1200" b="0" i="0">
                <a:solidFill>
                  <a:srgbClr val="505050"/>
                </a:solidFill>
                <a:latin typeface="Calibri"/>
              </a:rPr>
              <a:t>Semilla aleatoria</a:t>
            </a:r>
          </a:p>
        </p:txBody>
      </p:sp>
      <p:sp>
        <p:nvSpPr>
          <p:cNvPr id="24" name="TextBox 23"/>
          <p:cNvSpPr txBox="1"/>
          <p:nvPr/>
        </p:nvSpPr>
        <p:spPr>
          <a:xfrm>
            <a:off x="9646920" y="3200400"/>
            <a:ext cx="2103120" cy="347472"/>
          </a:xfrm>
          <a:prstGeom prst="rect">
            <a:avLst/>
          </a:prstGeom>
          <a:noFill/>
        </p:spPr>
        <p:txBody>
          <a:bodyPr wrap="square">
            <a:spAutoFit/>
          </a:bodyPr>
          <a:lstStyle/>
          <a:p>
            <a:pPr algn="ctr"/>
            <a:r>
              <a:rPr sz="1300" b="1" i="0">
                <a:solidFill>
                  <a:srgbClr val="1F3564"/>
                </a:solidFill>
                <a:latin typeface="Calibri"/>
              </a:rPr>
              <a:t>12 345</a:t>
            </a:r>
          </a:p>
        </p:txBody>
      </p:sp>
      <p:sp>
        <p:nvSpPr>
          <p:cNvPr id="25" name="Rectangle 24"/>
          <p:cNvSpPr/>
          <p:nvPr/>
        </p:nvSpPr>
        <p:spPr>
          <a:xfrm>
            <a:off x="6126480" y="3602736"/>
            <a:ext cx="5669280" cy="475488"/>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172200" y="3694176"/>
            <a:ext cx="3474720" cy="347472"/>
          </a:xfrm>
          <a:prstGeom prst="rect">
            <a:avLst/>
          </a:prstGeom>
          <a:noFill/>
        </p:spPr>
        <p:txBody>
          <a:bodyPr wrap="square">
            <a:spAutoFit/>
          </a:bodyPr>
          <a:lstStyle/>
          <a:p>
            <a:pPr algn="l"/>
            <a:r>
              <a:rPr sz="1200" b="0" i="0">
                <a:solidFill>
                  <a:srgbClr val="505050"/>
                </a:solidFill>
                <a:latin typeface="Calibri"/>
              </a:rPr>
              <a:t>Prob. celda viva inicial</a:t>
            </a:r>
          </a:p>
        </p:txBody>
      </p:sp>
      <p:sp>
        <p:nvSpPr>
          <p:cNvPr id="27" name="TextBox 26"/>
          <p:cNvSpPr txBox="1"/>
          <p:nvPr/>
        </p:nvSpPr>
        <p:spPr>
          <a:xfrm>
            <a:off x="9646920" y="3694176"/>
            <a:ext cx="2103120" cy="347472"/>
          </a:xfrm>
          <a:prstGeom prst="rect">
            <a:avLst/>
          </a:prstGeom>
          <a:noFill/>
        </p:spPr>
        <p:txBody>
          <a:bodyPr wrap="square">
            <a:spAutoFit/>
          </a:bodyPr>
          <a:lstStyle/>
          <a:p>
            <a:pPr algn="ctr"/>
            <a:r>
              <a:rPr sz="1300" b="1" i="0">
                <a:solidFill>
                  <a:srgbClr val="1F3564"/>
                </a:solidFill>
                <a:latin typeface="Calibri"/>
              </a:rPr>
              <a:t>30%</a:t>
            </a:r>
          </a:p>
        </p:txBody>
      </p:sp>
      <p:sp>
        <p:nvSpPr>
          <p:cNvPr id="28" name="Rectangle 27"/>
          <p:cNvSpPr/>
          <p:nvPr/>
        </p:nvSpPr>
        <p:spPr>
          <a:xfrm>
            <a:off x="6126480" y="4096512"/>
            <a:ext cx="566928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172200" y="4187952"/>
            <a:ext cx="3474720" cy="347472"/>
          </a:xfrm>
          <a:prstGeom prst="rect">
            <a:avLst/>
          </a:prstGeom>
          <a:noFill/>
        </p:spPr>
        <p:txBody>
          <a:bodyPr wrap="square">
            <a:spAutoFit/>
          </a:bodyPr>
          <a:lstStyle/>
          <a:p>
            <a:pPr algn="l"/>
            <a:r>
              <a:rPr sz="1200" b="0" i="0">
                <a:solidFill>
                  <a:srgbClr val="505050"/>
                </a:solidFill>
                <a:latin typeface="Calibri"/>
              </a:rPr>
              <a:t>Células vivas finales</a:t>
            </a:r>
          </a:p>
        </p:txBody>
      </p:sp>
      <p:sp>
        <p:nvSpPr>
          <p:cNvPr id="30" name="TextBox 29"/>
          <p:cNvSpPr txBox="1"/>
          <p:nvPr/>
        </p:nvSpPr>
        <p:spPr>
          <a:xfrm>
            <a:off x="9646920" y="4187952"/>
            <a:ext cx="2103120" cy="347472"/>
          </a:xfrm>
          <a:prstGeom prst="rect">
            <a:avLst/>
          </a:prstGeom>
          <a:noFill/>
        </p:spPr>
        <p:txBody>
          <a:bodyPr wrap="square">
            <a:spAutoFit/>
          </a:bodyPr>
          <a:lstStyle/>
          <a:p>
            <a:pPr algn="ctr"/>
            <a:r>
              <a:rPr sz="1300" b="1" i="0">
                <a:solidFill>
                  <a:srgbClr val="1F3564"/>
                </a:solidFill>
                <a:latin typeface="Calibri"/>
              </a:rPr>
              <a:t>43 306  ← validación</a:t>
            </a:r>
          </a:p>
        </p:txBody>
      </p:sp>
      <p:sp>
        <p:nvSpPr>
          <p:cNvPr id="31" name="TextBox 30"/>
          <p:cNvSpPr txBox="1"/>
          <p:nvPr/>
        </p:nvSpPr>
        <p:spPr>
          <a:xfrm>
            <a:off x="6126480" y="4645152"/>
            <a:ext cx="2743200" cy="256032"/>
          </a:xfrm>
          <a:prstGeom prst="rect">
            <a:avLst/>
          </a:prstGeom>
          <a:noFill/>
        </p:spPr>
        <p:txBody>
          <a:bodyPr wrap="square">
            <a:spAutoFit/>
          </a:bodyPr>
          <a:lstStyle/>
          <a:p>
            <a:pPr algn="l"/>
            <a:r>
              <a:rPr sz="1200" b="1" i="0">
                <a:solidFill>
                  <a:srgbClr val="1F3564"/>
                </a:solidFill>
                <a:latin typeface="Calibri"/>
              </a:rPr>
              <a:t>Vecindad de Moore:</a:t>
            </a:r>
          </a:p>
        </p:txBody>
      </p:sp>
      <p:sp>
        <p:nvSpPr>
          <p:cNvPr id="32" name="Rectangle 31"/>
          <p:cNvSpPr/>
          <p:nvPr/>
        </p:nvSpPr>
        <p:spPr>
          <a:xfrm>
            <a:off x="6583680" y="4937760"/>
            <a:ext cx="384048" cy="384048"/>
          </a:xfrm>
          <a:prstGeom prst="rect">
            <a:avLst/>
          </a:prstGeom>
          <a:solidFill>
            <a:srgbClr val="D6E4F7"/>
          </a:solidFill>
          <a:ln w="6350">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004304" y="4937760"/>
            <a:ext cx="384048" cy="384048"/>
          </a:xfrm>
          <a:prstGeom prst="rect">
            <a:avLst/>
          </a:prstGeom>
          <a:solidFill>
            <a:srgbClr val="D6E4F7"/>
          </a:solidFill>
          <a:ln w="6350">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424928" y="4937760"/>
            <a:ext cx="384048" cy="384048"/>
          </a:xfrm>
          <a:prstGeom prst="rect">
            <a:avLst/>
          </a:prstGeom>
          <a:solidFill>
            <a:srgbClr val="D6E4F7"/>
          </a:solidFill>
          <a:ln w="6350">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583680" y="5358384"/>
            <a:ext cx="384048" cy="384048"/>
          </a:xfrm>
          <a:prstGeom prst="rect">
            <a:avLst/>
          </a:prstGeom>
          <a:solidFill>
            <a:srgbClr val="D6E4F7"/>
          </a:solidFill>
          <a:ln w="6350">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7004304" y="5358384"/>
            <a:ext cx="384048" cy="384048"/>
          </a:xfrm>
          <a:prstGeom prst="rect">
            <a:avLst/>
          </a:prstGeom>
          <a:solidFill>
            <a:srgbClr val="1F3564"/>
          </a:solidFill>
          <a:ln w="6350">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004304" y="5358384"/>
            <a:ext cx="384048" cy="384048"/>
          </a:xfrm>
          <a:prstGeom prst="rect">
            <a:avLst/>
          </a:prstGeom>
          <a:noFill/>
        </p:spPr>
        <p:txBody>
          <a:bodyPr wrap="square">
            <a:spAutoFit/>
          </a:bodyPr>
          <a:lstStyle/>
          <a:p>
            <a:pPr algn="ctr"/>
            <a:r>
              <a:rPr sz="1400" b="1" i="0">
                <a:solidFill>
                  <a:srgbClr val="FFFFFF"/>
                </a:solidFill>
                <a:latin typeface="Calibri"/>
              </a:rPr>
              <a:t>●</a:t>
            </a:r>
          </a:p>
        </p:txBody>
      </p:sp>
      <p:sp>
        <p:nvSpPr>
          <p:cNvPr id="38" name="Rectangle 37"/>
          <p:cNvSpPr/>
          <p:nvPr/>
        </p:nvSpPr>
        <p:spPr>
          <a:xfrm>
            <a:off x="7424928" y="5358384"/>
            <a:ext cx="384048" cy="384048"/>
          </a:xfrm>
          <a:prstGeom prst="rect">
            <a:avLst/>
          </a:prstGeom>
          <a:solidFill>
            <a:srgbClr val="D6E4F7"/>
          </a:solidFill>
          <a:ln w="6350">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583680" y="5779008"/>
            <a:ext cx="384048" cy="384048"/>
          </a:xfrm>
          <a:prstGeom prst="rect">
            <a:avLst/>
          </a:prstGeom>
          <a:solidFill>
            <a:srgbClr val="D6E4F7"/>
          </a:solidFill>
          <a:ln w="6350">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7004304" y="5779008"/>
            <a:ext cx="384048" cy="384048"/>
          </a:xfrm>
          <a:prstGeom prst="rect">
            <a:avLst/>
          </a:prstGeom>
          <a:solidFill>
            <a:srgbClr val="D6E4F7"/>
          </a:solidFill>
          <a:ln w="6350">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7424928" y="5779008"/>
            <a:ext cx="384048" cy="384048"/>
          </a:xfrm>
          <a:prstGeom prst="rect">
            <a:avLst/>
          </a:prstGeom>
          <a:solidFill>
            <a:srgbClr val="D6E4F7"/>
          </a:solidFill>
          <a:ln w="6350">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882127" y="5120640"/>
            <a:ext cx="3200400" cy="256032"/>
          </a:xfrm>
          <a:prstGeom prst="rect">
            <a:avLst/>
          </a:prstGeom>
          <a:noFill/>
        </p:spPr>
        <p:txBody>
          <a:bodyPr wrap="square">
            <a:spAutoFit/>
          </a:bodyPr>
          <a:lstStyle/>
          <a:p>
            <a:pPr algn="l"/>
            <a:r>
              <a:rPr sz="1100" b="0" i="1">
                <a:solidFill>
                  <a:srgbClr val="1F3564"/>
                </a:solidFill>
                <a:latin typeface="Calibri"/>
              </a:rPr>
              <a:t>← celda objetivo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7899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12880" cy="658368"/>
          </a:xfrm>
          <a:prstGeom prst="rect">
            <a:avLst/>
          </a:prstGeom>
          <a:noFill/>
        </p:spPr>
        <p:txBody>
          <a:bodyPr wrap="square">
            <a:spAutoFit/>
          </a:bodyPr>
          <a:lstStyle/>
          <a:p>
            <a:pPr algn="l"/>
            <a:r>
              <a:rPr sz="2600" b="1" i="0">
                <a:solidFill>
                  <a:srgbClr val="FFFFFF"/>
                </a:solidFill>
                <a:latin typeface="Calibri"/>
              </a:rPr>
              <a:t>Solución Secuencial — V1</a:t>
            </a:r>
          </a:p>
        </p:txBody>
      </p:sp>
      <p:sp>
        <p:nvSpPr>
          <p:cNvPr id="4" name="TextBox 3"/>
          <p:cNvSpPr txBox="1"/>
          <p:nvPr/>
        </p:nvSpPr>
        <p:spPr>
          <a:xfrm>
            <a:off x="274320" y="713232"/>
            <a:ext cx="11612880" cy="329184"/>
          </a:xfrm>
          <a:prstGeom prst="rect">
            <a:avLst/>
          </a:prstGeom>
          <a:noFill/>
        </p:spPr>
        <p:txBody>
          <a:bodyPr wrap="square">
            <a:spAutoFit/>
          </a:bodyPr>
          <a:lstStyle/>
          <a:p>
            <a:pPr algn="l"/>
            <a:r>
              <a:rPr sz="1200" b="0" i="0">
                <a:solidFill>
                  <a:srgbClr val="D6E4F7"/>
                </a:solidFill>
                <a:latin typeface="Calibri"/>
              </a:rPr>
              <a:t>Implementación base con vector&lt;vector&lt;int&gt;&gt;</a:t>
            </a:r>
          </a:p>
        </p:txBody>
      </p:sp>
      <p:sp>
        <p:nvSpPr>
          <p:cNvPr id="5" name="Rectangle 4"/>
          <p:cNvSpPr/>
          <p:nvPr/>
        </p:nvSpPr>
        <p:spPr>
          <a:xfrm>
            <a:off x="365760" y="1188720"/>
            <a:ext cx="4389120" cy="256032"/>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38912" y="1162847"/>
            <a:ext cx="4242816" cy="307777"/>
          </a:xfrm>
          <a:prstGeom prst="rect">
            <a:avLst/>
          </a:prstGeom>
          <a:noFill/>
        </p:spPr>
        <p:txBody>
          <a:bodyPr wrap="square">
            <a:spAutoFit/>
          </a:bodyPr>
          <a:lstStyle/>
          <a:p>
            <a:pPr algn="l"/>
            <a:r>
              <a:rPr sz="1400" b="1" i="0" dirty="0" err="1">
                <a:solidFill>
                  <a:srgbClr val="FFFFFF"/>
                </a:solidFill>
                <a:latin typeface="Calibri"/>
              </a:rPr>
              <a:t>Pseudocódigo</a:t>
            </a:r>
            <a:endParaRPr sz="1400" b="1" i="0" dirty="0">
              <a:solidFill>
                <a:srgbClr val="FFFFFF"/>
              </a:solidFill>
              <a:latin typeface="Calibri"/>
            </a:endParaRPr>
          </a:p>
        </p:txBody>
      </p:sp>
      <p:sp>
        <p:nvSpPr>
          <p:cNvPr id="7" name="Rectangle 6"/>
          <p:cNvSpPr/>
          <p:nvPr/>
        </p:nvSpPr>
        <p:spPr>
          <a:xfrm>
            <a:off x="365760" y="1463040"/>
            <a:ext cx="4389120" cy="2743200"/>
          </a:xfrm>
          <a:prstGeom prst="rect">
            <a:avLst/>
          </a:prstGeom>
          <a:solidFill>
            <a:srgbClr val="1E1E2E"/>
          </a:solidFill>
          <a:ln w="9525">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677228"/>
            <a:ext cx="4262705" cy="1938992"/>
          </a:xfrm>
          <a:prstGeom prst="rect">
            <a:avLst/>
          </a:prstGeom>
          <a:noFill/>
        </p:spPr>
        <p:txBody>
          <a:bodyPr wrap="none">
            <a:spAutoFit/>
          </a:bodyPr>
          <a:lstStyle/>
          <a:p>
            <a:pPr>
              <a:spcBef>
                <a:spcPts val="0"/>
              </a:spcBef>
              <a:spcAft>
                <a:spcPts val="0"/>
              </a:spcAft>
            </a:pPr>
            <a:r>
              <a:rPr sz="1200" dirty="0" err="1">
                <a:solidFill>
                  <a:srgbClr val="CBD2E0"/>
                </a:solidFill>
                <a:latin typeface="Consolas"/>
              </a:rPr>
              <a:t>Inicializar</a:t>
            </a:r>
            <a:r>
              <a:rPr sz="1200" dirty="0">
                <a:solidFill>
                  <a:srgbClr val="CBD2E0"/>
                </a:solidFill>
                <a:latin typeface="Consolas"/>
              </a:rPr>
              <a:t> </a:t>
            </a:r>
            <a:r>
              <a:rPr sz="1200" dirty="0" err="1">
                <a:solidFill>
                  <a:srgbClr val="CBD2E0"/>
                </a:solidFill>
                <a:latin typeface="Consolas"/>
              </a:rPr>
              <a:t>matriz</a:t>
            </a:r>
            <a:r>
              <a:rPr sz="1200" dirty="0">
                <a:solidFill>
                  <a:srgbClr val="CBD2E0"/>
                </a:solidFill>
                <a:latin typeface="Consolas"/>
              </a:rPr>
              <a:t> (interior al 30%; </a:t>
            </a:r>
            <a:r>
              <a:rPr sz="1200" dirty="0" err="1">
                <a:solidFill>
                  <a:srgbClr val="CBD2E0"/>
                </a:solidFill>
                <a:latin typeface="Consolas"/>
              </a:rPr>
              <a:t>bordes</a:t>
            </a:r>
            <a:r>
              <a:rPr sz="1200" dirty="0">
                <a:solidFill>
                  <a:srgbClr val="CBD2E0"/>
                </a:solidFill>
                <a:latin typeface="Consolas"/>
              </a:rPr>
              <a:t> = 0)</a:t>
            </a:r>
          </a:p>
          <a:p>
            <a:pPr>
              <a:spcBef>
                <a:spcPts val="0"/>
              </a:spcBef>
              <a:spcAft>
                <a:spcPts val="0"/>
              </a:spcAft>
            </a:pPr>
            <a:endParaRPr sz="1200" dirty="0">
              <a:solidFill>
                <a:srgbClr val="CBD2E0"/>
              </a:solidFill>
              <a:latin typeface="Consolas"/>
            </a:endParaRPr>
          </a:p>
          <a:p>
            <a:pPr>
              <a:spcBef>
                <a:spcPts val="0"/>
              </a:spcBef>
              <a:spcAft>
                <a:spcPts val="0"/>
              </a:spcAft>
            </a:pPr>
            <a:r>
              <a:rPr sz="1200" dirty="0">
                <a:solidFill>
                  <a:srgbClr val="CBD2E0"/>
                </a:solidFill>
                <a:latin typeface="Consolas"/>
              </a:rPr>
              <a:t>PARA g = 0 .. 999:</a:t>
            </a:r>
          </a:p>
          <a:p>
            <a:pPr>
              <a:spcBef>
                <a:spcPts val="0"/>
              </a:spcBef>
              <a:spcAft>
                <a:spcPts val="0"/>
              </a:spcAft>
            </a:pPr>
            <a:r>
              <a:rPr sz="1200" dirty="0">
                <a:solidFill>
                  <a:srgbClr val="CBD2E0"/>
                </a:solidFill>
                <a:latin typeface="Consolas"/>
              </a:rPr>
              <a:t>  PARA </a:t>
            </a:r>
            <a:r>
              <a:rPr sz="1200" dirty="0" err="1">
                <a:solidFill>
                  <a:srgbClr val="CBD2E0"/>
                </a:solidFill>
                <a:latin typeface="Consolas"/>
              </a:rPr>
              <a:t>cada</a:t>
            </a:r>
            <a:r>
              <a:rPr sz="1200" dirty="0">
                <a:solidFill>
                  <a:srgbClr val="CBD2E0"/>
                </a:solidFill>
                <a:latin typeface="Consolas"/>
              </a:rPr>
              <a:t> </a:t>
            </a:r>
            <a:r>
              <a:rPr sz="1200" dirty="0" err="1">
                <a:solidFill>
                  <a:srgbClr val="CBD2E0"/>
                </a:solidFill>
                <a:latin typeface="Consolas"/>
              </a:rPr>
              <a:t>celda</a:t>
            </a:r>
            <a:r>
              <a:rPr sz="1200" dirty="0">
                <a:solidFill>
                  <a:srgbClr val="CBD2E0"/>
                </a:solidFill>
                <a:latin typeface="Consolas"/>
              </a:rPr>
              <a:t> interior (</a:t>
            </a:r>
            <a:r>
              <a:rPr sz="1200" dirty="0" err="1">
                <a:solidFill>
                  <a:srgbClr val="CBD2E0"/>
                </a:solidFill>
                <a:latin typeface="Consolas"/>
              </a:rPr>
              <a:t>i</a:t>
            </a:r>
            <a:r>
              <a:rPr sz="1200" dirty="0">
                <a:solidFill>
                  <a:srgbClr val="CBD2E0"/>
                </a:solidFill>
                <a:latin typeface="Consolas"/>
              </a:rPr>
              <a:t>, j):</a:t>
            </a:r>
          </a:p>
          <a:p>
            <a:pPr>
              <a:spcBef>
                <a:spcPts val="0"/>
              </a:spcBef>
              <a:spcAft>
                <a:spcPts val="0"/>
              </a:spcAft>
            </a:pPr>
            <a:r>
              <a:rPr sz="1200" dirty="0">
                <a:solidFill>
                  <a:srgbClr val="CBD2E0"/>
                </a:solidFill>
                <a:latin typeface="Consolas"/>
              </a:rPr>
              <a:t>    </a:t>
            </a:r>
            <a:r>
              <a:rPr sz="1200" dirty="0" err="1">
                <a:solidFill>
                  <a:srgbClr val="CBD2E0"/>
                </a:solidFill>
                <a:latin typeface="Consolas"/>
              </a:rPr>
              <a:t>vecinosVivos</a:t>
            </a:r>
            <a:r>
              <a:rPr sz="1200" dirty="0">
                <a:solidFill>
                  <a:srgbClr val="CBD2E0"/>
                </a:solidFill>
                <a:latin typeface="Consolas"/>
              </a:rPr>
              <a:t> = </a:t>
            </a:r>
            <a:r>
              <a:rPr sz="1200" dirty="0" err="1">
                <a:solidFill>
                  <a:srgbClr val="CBD2E0"/>
                </a:solidFill>
                <a:latin typeface="Consolas"/>
              </a:rPr>
              <a:t>suma</a:t>
            </a:r>
            <a:r>
              <a:rPr sz="1200" dirty="0">
                <a:solidFill>
                  <a:srgbClr val="CBD2E0"/>
                </a:solidFill>
                <a:latin typeface="Consolas"/>
              </a:rPr>
              <a:t> 8 </a:t>
            </a:r>
            <a:r>
              <a:rPr sz="1200" dirty="0" err="1">
                <a:solidFill>
                  <a:srgbClr val="CBD2E0"/>
                </a:solidFill>
                <a:latin typeface="Consolas"/>
              </a:rPr>
              <a:t>vecinos</a:t>
            </a:r>
            <a:r>
              <a:rPr sz="1200" dirty="0">
                <a:solidFill>
                  <a:srgbClr val="CBD2E0"/>
                </a:solidFill>
                <a:latin typeface="Consolas"/>
              </a:rPr>
              <a:t> </a:t>
            </a:r>
            <a:r>
              <a:rPr sz="1200" dirty="0" err="1">
                <a:solidFill>
                  <a:srgbClr val="CBD2E0"/>
                </a:solidFill>
                <a:latin typeface="Consolas"/>
              </a:rPr>
              <a:t>en</a:t>
            </a:r>
            <a:r>
              <a:rPr sz="1200" dirty="0">
                <a:solidFill>
                  <a:srgbClr val="CBD2E0"/>
                </a:solidFill>
                <a:latin typeface="Consolas"/>
              </a:rPr>
              <a:t> grid</a:t>
            </a:r>
          </a:p>
          <a:p>
            <a:pPr>
              <a:spcBef>
                <a:spcPts val="0"/>
              </a:spcBef>
              <a:spcAft>
                <a:spcPts val="0"/>
              </a:spcAft>
            </a:pPr>
            <a:r>
              <a:rPr sz="1200" dirty="0">
                <a:solidFill>
                  <a:srgbClr val="CBD2E0"/>
                </a:solidFill>
                <a:latin typeface="Consolas"/>
              </a:rPr>
              <a:t>    APLICAR </a:t>
            </a:r>
            <a:r>
              <a:rPr sz="1200" dirty="0" err="1">
                <a:solidFill>
                  <a:srgbClr val="CBD2E0"/>
                </a:solidFill>
                <a:latin typeface="Consolas"/>
              </a:rPr>
              <a:t>reglas</a:t>
            </a:r>
            <a:r>
              <a:rPr sz="1200" dirty="0">
                <a:solidFill>
                  <a:srgbClr val="CBD2E0"/>
                </a:solidFill>
                <a:latin typeface="Consolas"/>
              </a:rPr>
              <a:t> de Conway</a:t>
            </a:r>
          </a:p>
          <a:p>
            <a:pPr>
              <a:spcBef>
                <a:spcPts val="0"/>
              </a:spcBef>
              <a:spcAft>
                <a:spcPts val="0"/>
              </a:spcAft>
            </a:pPr>
            <a:r>
              <a:rPr sz="1200" dirty="0">
                <a:solidFill>
                  <a:srgbClr val="CBD2E0"/>
                </a:solidFill>
                <a:latin typeface="Consolas"/>
              </a:rPr>
              <a:t>    → </a:t>
            </a:r>
            <a:r>
              <a:rPr sz="1200" dirty="0" err="1">
                <a:solidFill>
                  <a:srgbClr val="CBD2E0"/>
                </a:solidFill>
                <a:latin typeface="Consolas"/>
              </a:rPr>
              <a:t>escribir</a:t>
            </a:r>
            <a:r>
              <a:rPr sz="1200" dirty="0">
                <a:solidFill>
                  <a:srgbClr val="CBD2E0"/>
                </a:solidFill>
                <a:latin typeface="Consolas"/>
              </a:rPr>
              <a:t> </a:t>
            </a:r>
            <a:r>
              <a:rPr sz="1200" dirty="0" err="1">
                <a:solidFill>
                  <a:srgbClr val="CBD2E0"/>
                </a:solidFill>
                <a:latin typeface="Consolas"/>
              </a:rPr>
              <a:t>resultado</a:t>
            </a:r>
            <a:r>
              <a:rPr sz="1200" dirty="0">
                <a:solidFill>
                  <a:srgbClr val="CBD2E0"/>
                </a:solidFill>
                <a:latin typeface="Consolas"/>
              </a:rPr>
              <a:t> </a:t>
            </a:r>
            <a:r>
              <a:rPr sz="1200" dirty="0" err="1">
                <a:solidFill>
                  <a:srgbClr val="CBD2E0"/>
                </a:solidFill>
                <a:latin typeface="Consolas"/>
              </a:rPr>
              <a:t>en</a:t>
            </a:r>
            <a:r>
              <a:rPr sz="1200" dirty="0">
                <a:solidFill>
                  <a:srgbClr val="CBD2E0"/>
                </a:solidFill>
                <a:latin typeface="Consolas"/>
              </a:rPr>
              <a:t> </a:t>
            </a:r>
            <a:r>
              <a:rPr sz="1200" dirty="0" err="1">
                <a:solidFill>
                  <a:srgbClr val="CBD2E0"/>
                </a:solidFill>
                <a:latin typeface="Consolas"/>
              </a:rPr>
              <a:t>nextGrid</a:t>
            </a:r>
            <a:r>
              <a:rPr sz="1200" dirty="0">
                <a:solidFill>
                  <a:srgbClr val="CBD2E0"/>
                </a:solidFill>
                <a:latin typeface="Consolas"/>
              </a:rPr>
              <a:t>[</a:t>
            </a:r>
            <a:r>
              <a:rPr sz="1200" dirty="0" err="1">
                <a:solidFill>
                  <a:srgbClr val="CBD2E0"/>
                </a:solidFill>
                <a:latin typeface="Consolas"/>
              </a:rPr>
              <a:t>i</a:t>
            </a:r>
            <a:r>
              <a:rPr sz="1200" dirty="0">
                <a:solidFill>
                  <a:srgbClr val="CBD2E0"/>
                </a:solidFill>
                <a:latin typeface="Consolas"/>
              </a:rPr>
              <a:t>][j]</a:t>
            </a:r>
          </a:p>
          <a:p>
            <a:pPr>
              <a:spcBef>
                <a:spcPts val="0"/>
              </a:spcBef>
              <a:spcAft>
                <a:spcPts val="0"/>
              </a:spcAft>
            </a:pPr>
            <a:r>
              <a:rPr sz="1200" dirty="0">
                <a:solidFill>
                  <a:srgbClr val="CBD2E0"/>
                </a:solidFill>
                <a:latin typeface="Consolas"/>
              </a:rPr>
              <a:t>  std::swap(grid, </a:t>
            </a:r>
            <a:r>
              <a:rPr sz="1200" dirty="0" err="1">
                <a:solidFill>
                  <a:srgbClr val="CBD2E0"/>
                </a:solidFill>
                <a:latin typeface="Consolas"/>
              </a:rPr>
              <a:t>nextGrid</a:t>
            </a:r>
            <a:r>
              <a:rPr sz="1200" dirty="0">
                <a:solidFill>
                  <a:srgbClr val="CBD2E0"/>
                </a:solidFill>
                <a:latin typeface="Consolas"/>
              </a:rPr>
              <a:t>)</a:t>
            </a:r>
          </a:p>
          <a:p>
            <a:pPr>
              <a:spcBef>
                <a:spcPts val="0"/>
              </a:spcBef>
              <a:spcAft>
                <a:spcPts val="0"/>
              </a:spcAft>
            </a:pPr>
            <a:endParaRPr sz="1200" dirty="0">
              <a:solidFill>
                <a:srgbClr val="CBD2E0"/>
              </a:solidFill>
              <a:latin typeface="Consolas"/>
            </a:endParaRPr>
          </a:p>
          <a:p>
            <a:pPr>
              <a:spcBef>
                <a:spcPts val="0"/>
              </a:spcBef>
              <a:spcAft>
                <a:spcPts val="0"/>
              </a:spcAft>
            </a:pPr>
            <a:r>
              <a:rPr sz="1200" dirty="0" err="1">
                <a:solidFill>
                  <a:srgbClr val="CBD2E0"/>
                </a:solidFill>
                <a:latin typeface="Consolas"/>
              </a:rPr>
              <a:t>Contar</a:t>
            </a:r>
            <a:r>
              <a:rPr sz="1200" dirty="0">
                <a:solidFill>
                  <a:srgbClr val="CBD2E0"/>
                </a:solidFill>
                <a:latin typeface="Consolas"/>
              </a:rPr>
              <a:t> </a:t>
            </a:r>
            <a:r>
              <a:rPr sz="1200" dirty="0" err="1">
                <a:solidFill>
                  <a:srgbClr val="CBD2E0"/>
                </a:solidFill>
                <a:latin typeface="Consolas"/>
              </a:rPr>
              <a:t>células</a:t>
            </a:r>
            <a:r>
              <a:rPr sz="1200" dirty="0">
                <a:solidFill>
                  <a:srgbClr val="CBD2E0"/>
                </a:solidFill>
                <a:latin typeface="Consolas"/>
              </a:rPr>
              <a:t> </a:t>
            </a:r>
            <a:r>
              <a:rPr sz="1200" dirty="0" err="1">
                <a:solidFill>
                  <a:srgbClr val="CBD2E0"/>
                </a:solidFill>
                <a:latin typeface="Consolas"/>
              </a:rPr>
              <a:t>vivas</a:t>
            </a:r>
            <a:r>
              <a:rPr sz="1200" dirty="0">
                <a:solidFill>
                  <a:srgbClr val="CBD2E0"/>
                </a:solidFill>
                <a:latin typeface="Consolas"/>
              </a:rPr>
              <a:t> finales</a:t>
            </a:r>
          </a:p>
        </p:txBody>
      </p:sp>
      <p:sp>
        <p:nvSpPr>
          <p:cNvPr id="9" name="Rectangle 8"/>
          <p:cNvSpPr/>
          <p:nvPr/>
        </p:nvSpPr>
        <p:spPr>
          <a:xfrm>
            <a:off x="4983480" y="1188720"/>
            <a:ext cx="6858000" cy="256032"/>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56632" y="1162846"/>
            <a:ext cx="6711696" cy="307777"/>
          </a:xfrm>
          <a:prstGeom prst="rect">
            <a:avLst/>
          </a:prstGeom>
          <a:noFill/>
        </p:spPr>
        <p:txBody>
          <a:bodyPr wrap="square">
            <a:spAutoFit/>
          </a:bodyPr>
          <a:lstStyle/>
          <a:p>
            <a:pPr algn="l"/>
            <a:r>
              <a:rPr sz="1400" b="1" i="0" dirty="0">
                <a:solidFill>
                  <a:srgbClr val="FFFFFF"/>
                </a:solidFill>
                <a:latin typeface="Calibri"/>
              </a:rPr>
              <a:t>Código clave — V1_secuencial_base.cpp</a:t>
            </a:r>
          </a:p>
        </p:txBody>
      </p:sp>
      <p:sp>
        <p:nvSpPr>
          <p:cNvPr id="11" name="Rectangle 10"/>
          <p:cNvSpPr/>
          <p:nvPr/>
        </p:nvSpPr>
        <p:spPr>
          <a:xfrm>
            <a:off x="4983480" y="1463040"/>
            <a:ext cx="6858000" cy="3840480"/>
          </a:xfrm>
          <a:prstGeom prst="rect">
            <a:avLst/>
          </a:prstGeom>
          <a:solidFill>
            <a:srgbClr val="1E1E2E"/>
          </a:solidFill>
          <a:ln w="9525">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74920" y="1536192"/>
            <a:ext cx="5707012" cy="3600986"/>
          </a:xfrm>
          <a:prstGeom prst="rect">
            <a:avLst/>
          </a:prstGeom>
          <a:noFill/>
        </p:spPr>
        <p:txBody>
          <a:bodyPr wrap="none">
            <a:spAutoFit/>
          </a:bodyPr>
          <a:lstStyle/>
          <a:p>
            <a:pPr>
              <a:spcBef>
                <a:spcPts val="0"/>
              </a:spcBef>
              <a:spcAft>
                <a:spcPts val="0"/>
              </a:spcAft>
            </a:pPr>
            <a:r>
              <a:rPr sz="1200" dirty="0">
                <a:solidFill>
                  <a:srgbClr val="CBD2E0"/>
                </a:solidFill>
                <a:latin typeface="Consolas"/>
              </a:rPr>
              <a:t>// Doble buffer: sin </a:t>
            </a:r>
            <a:r>
              <a:rPr sz="1200" dirty="0" err="1">
                <a:solidFill>
                  <a:srgbClr val="CBD2E0"/>
                </a:solidFill>
                <a:latin typeface="Consolas"/>
              </a:rPr>
              <a:t>condiciones</a:t>
            </a:r>
            <a:r>
              <a:rPr sz="1200" dirty="0">
                <a:solidFill>
                  <a:srgbClr val="CBD2E0"/>
                </a:solidFill>
                <a:latin typeface="Consolas"/>
              </a:rPr>
              <a:t> de </a:t>
            </a:r>
            <a:r>
              <a:rPr sz="1200" dirty="0" err="1">
                <a:solidFill>
                  <a:srgbClr val="CBD2E0"/>
                </a:solidFill>
                <a:latin typeface="Consolas"/>
              </a:rPr>
              <a:t>carrera</a:t>
            </a:r>
            <a:endParaRPr sz="1200" dirty="0">
              <a:solidFill>
                <a:srgbClr val="CBD2E0"/>
              </a:solidFill>
              <a:latin typeface="Consolas"/>
            </a:endParaRPr>
          </a:p>
          <a:p>
            <a:pPr>
              <a:spcBef>
                <a:spcPts val="0"/>
              </a:spcBef>
              <a:spcAft>
                <a:spcPts val="0"/>
              </a:spcAft>
            </a:pPr>
            <a:r>
              <a:rPr sz="1200" dirty="0">
                <a:solidFill>
                  <a:srgbClr val="CBD2E0"/>
                </a:solidFill>
                <a:latin typeface="Consolas"/>
              </a:rPr>
              <a:t>std::vector&lt;std::vector&lt;int&gt;&gt; grid(N, std::vector&lt;int&gt;(N,0));</a:t>
            </a:r>
          </a:p>
          <a:p>
            <a:pPr>
              <a:spcBef>
                <a:spcPts val="0"/>
              </a:spcBef>
              <a:spcAft>
                <a:spcPts val="0"/>
              </a:spcAft>
            </a:pPr>
            <a:r>
              <a:rPr sz="1200" dirty="0">
                <a:solidFill>
                  <a:srgbClr val="CBD2E0"/>
                </a:solidFill>
                <a:latin typeface="Consolas"/>
              </a:rPr>
              <a:t>std::vector&lt;std::vector&lt;int&gt;&gt; </a:t>
            </a:r>
            <a:r>
              <a:rPr sz="1200" dirty="0" err="1">
                <a:solidFill>
                  <a:srgbClr val="CBD2E0"/>
                </a:solidFill>
                <a:latin typeface="Consolas"/>
              </a:rPr>
              <a:t>nextGrid</a:t>
            </a:r>
            <a:r>
              <a:rPr sz="1200" dirty="0">
                <a:solidFill>
                  <a:srgbClr val="CBD2E0"/>
                </a:solidFill>
                <a:latin typeface="Consolas"/>
              </a:rPr>
              <a:t>(N, std::vector&lt;int&gt;(N,0));</a:t>
            </a:r>
          </a:p>
          <a:p>
            <a:pPr>
              <a:spcBef>
                <a:spcPts val="0"/>
              </a:spcBef>
              <a:spcAft>
                <a:spcPts val="0"/>
              </a:spcAft>
            </a:pPr>
            <a:endParaRPr sz="1200" dirty="0">
              <a:solidFill>
                <a:srgbClr val="CBD2E0"/>
              </a:solidFill>
              <a:latin typeface="Consolas"/>
            </a:endParaRPr>
          </a:p>
          <a:p>
            <a:pPr>
              <a:spcBef>
                <a:spcPts val="0"/>
              </a:spcBef>
              <a:spcAft>
                <a:spcPts val="0"/>
              </a:spcAft>
            </a:pPr>
            <a:r>
              <a:rPr sz="1200" dirty="0">
                <a:solidFill>
                  <a:srgbClr val="CBD2E0"/>
                </a:solidFill>
                <a:latin typeface="Consolas"/>
              </a:rPr>
              <a:t>// </a:t>
            </a:r>
            <a:r>
              <a:rPr sz="1200" dirty="0" err="1">
                <a:solidFill>
                  <a:srgbClr val="CBD2E0"/>
                </a:solidFill>
                <a:latin typeface="Consolas"/>
              </a:rPr>
              <a:t>Núcleo</a:t>
            </a:r>
            <a:r>
              <a:rPr sz="1200" dirty="0">
                <a:solidFill>
                  <a:srgbClr val="CBD2E0"/>
                </a:solidFill>
                <a:latin typeface="Consolas"/>
              </a:rPr>
              <a:t> del </a:t>
            </a:r>
            <a:r>
              <a:rPr sz="1200" dirty="0" err="1">
                <a:solidFill>
                  <a:srgbClr val="CBD2E0"/>
                </a:solidFill>
                <a:latin typeface="Consolas"/>
              </a:rPr>
              <a:t>cálculo</a:t>
            </a:r>
            <a:r>
              <a:rPr sz="1200" dirty="0">
                <a:solidFill>
                  <a:srgbClr val="CBD2E0"/>
                </a:solidFill>
                <a:latin typeface="Consolas"/>
              </a:rPr>
              <a:t> (</a:t>
            </a:r>
            <a:r>
              <a:rPr sz="1200" dirty="0" err="1">
                <a:solidFill>
                  <a:srgbClr val="CBD2E0"/>
                </a:solidFill>
                <a:latin typeface="Consolas"/>
              </a:rPr>
              <a:t>celda</a:t>
            </a:r>
            <a:r>
              <a:rPr sz="1200" dirty="0">
                <a:solidFill>
                  <a:srgbClr val="CBD2E0"/>
                </a:solidFill>
                <a:latin typeface="Consolas"/>
              </a:rPr>
              <a:t> interior)</a:t>
            </a:r>
          </a:p>
          <a:p>
            <a:pPr>
              <a:spcBef>
                <a:spcPts val="0"/>
              </a:spcBef>
              <a:spcAft>
                <a:spcPts val="0"/>
              </a:spcAft>
            </a:pPr>
            <a:r>
              <a:rPr sz="1200" dirty="0">
                <a:solidFill>
                  <a:srgbClr val="CBD2E0"/>
                </a:solidFill>
                <a:latin typeface="Consolas"/>
              </a:rPr>
              <a:t>int </a:t>
            </a:r>
            <a:r>
              <a:rPr sz="1200" dirty="0" err="1">
                <a:solidFill>
                  <a:srgbClr val="CBD2E0"/>
                </a:solidFill>
                <a:latin typeface="Consolas"/>
              </a:rPr>
              <a:t>vecinosVivos</a:t>
            </a:r>
            <a:r>
              <a:rPr sz="1200" dirty="0">
                <a:solidFill>
                  <a:srgbClr val="CBD2E0"/>
                </a:solidFill>
                <a:latin typeface="Consolas"/>
              </a:rPr>
              <a:t> =</a:t>
            </a:r>
          </a:p>
          <a:p>
            <a:pPr>
              <a:spcBef>
                <a:spcPts val="0"/>
              </a:spcBef>
              <a:spcAft>
                <a:spcPts val="0"/>
              </a:spcAft>
            </a:pPr>
            <a:r>
              <a:rPr sz="1200" dirty="0">
                <a:solidFill>
                  <a:srgbClr val="CBD2E0"/>
                </a:solidFill>
                <a:latin typeface="Consolas"/>
              </a:rPr>
              <a:t>  actual[i-1][j-1] + actual[i-1][j] + actual[i-1][j+1] +</a:t>
            </a:r>
          </a:p>
          <a:p>
            <a:pPr>
              <a:spcBef>
                <a:spcPts val="0"/>
              </a:spcBef>
              <a:spcAft>
                <a:spcPts val="0"/>
              </a:spcAft>
            </a:pPr>
            <a:r>
              <a:rPr sz="1200" dirty="0">
                <a:solidFill>
                  <a:srgbClr val="CBD2E0"/>
                </a:solidFill>
                <a:latin typeface="Consolas"/>
              </a:rPr>
              <a:t>  actual[</a:t>
            </a:r>
            <a:r>
              <a:rPr sz="1200" dirty="0" err="1">
                <a:solidFill>
                  <a:srgbClr val="CBD2E0"/>
                </a:solidFill>
                <a:latin typeface="Consolas"/>
              </a:rPr>
              <a:t>i</a:t>
            </a:r>
            <a:r>
              <a:rPr sz="1200" dirty="0">
                <a:solidFill>
                  <a:srgbClr val="CBD2E0"/>
                </a:solidFill>
                <a:latin typeface="Consolas"/>
              </a:rPr>
              <a:t>  ][j-1]                  + actual[</a:t>
            </a:r>
            <a:r>
              <a:rPr sz="1200" dirty="0" err="1">
                <a:solidFill>
                  <a:srgbClr val="CBD2E0"/>
                </a:solidFill>
                <a:latin typeface="Consolas"/>
              </a:rPr>
              <a:t>i</a:t>
            </a:r>
            <a:r>
              <a:rPr sz="1200" dirty="0">
                <a:solidFill>
                  <a:srgbClr val="CBD2E0"/>
                </a:solidFill>
                <a:latin typeface="Consolas"/>
              </a:rPr>
              <a:t>  ][j+1] +</a:t>
            </a:r>
          </a:p>
          <a:p>
            <a:pPr>
              <a:spcBef>
                <a:spcPts val="0"/>
              </a:spcBef>
              <a:spcAft>
                <a:spcPts val="0"/>
              </a:spcAft>
            </a:pPr>
            <a:r>
              <a:rPr sz="1200" dirty="0">
                <a:solidFill>
                  <a:srgbClr val="CBD2E0"/>
                </a:solidFill>
                <a:latin typeface="Consolas"/>
              </a:rPr>
              <a:t>  actual[i+1][j-1] + actual[i+1][j] + actual[i+1][j+1];</a:t>
            </a:r>
          </a:p>
          <a:p>
            <a:pPr>
              <a:spcBef>
                <a:spcPts val="0"/>
              </a:spcBef>
              <a:spcAft>
                <a:spcPts val="0"/>
              </a:spcAft>
            </a:pPr>
            <a:endParaRPr sz="1200" dirty="0">
              <a:solidFill>
                <a:srgbClr val="CBD2E0"/>
              </a:solidFill>
              <a:latin typeface="Consolas"/>
            </a:endParaRPr>
          </a:p>
          <a:p>
            <a:pPr>
              <a:spcBef>
                <a:spcPts val="0"/>
              </a:spcBef>
              <a:spcAft>
                <a:spcPts val="0"/>
              </a:spcAft>
            </a:pPr>
            <a:r>
              <a:rPr sz="1200" dirty="0">
                <a:solidFill>
                  <a:srgbClr val="CBD2E0"/>
                </a:solidFill>
                <a:latin typeface="Consolas"/>
              </a:rPr>
              <a:t>if (actual[</a:t>
            </a:r>
            <a:r>
              <a:rPr sz="1200" dirty="0" err="1">
                <a:solidFill>
                  <a:srgbClr val="CBD2E0"/>
                </a:solidFill>
                <a:latin typeface="Consolas"/>
              </a:rPr>
              <a:t>i</a:t>
            </a:r>
            <a:r>
              <a:rPr sz="1200" dirty="0">
                <a:solidFill>
                  <a:srgbClr val="CBD2E0"/>
                </a:solidFill>
                <a:latin typeface="Consolas"/>
              </a:rPr>
              <a:t>][j]==1 &amp;&amp; (</a:t>
            </a:r>
            <a:r>
              <a:rPr sz="1200" dirty="0" err="1">
                <a:solidFill>
                  <a:srgbClr val="CBD2E0"/>
                </a:solidFill>
                <a:latin typeface="Consolas"/>
              </a:rPr>
              <a:t>vecinosVivos</a:t>
            </a:r>
            <a:r>
              <a:rPr sz="1200" dirty="0">
                <a:solidFill>
                  <a:srgbClr val="CBD2E0"/>
                </a:solidFill>
                <a:latin typeface="Consolas"/>
              </a:rPr>
              <a:t>==2 || </a:t>
            </a:r>
            <a:r>
              <a:rPr sz="1200" dirty="0" err="1">
                <a:solidFill>
                  <a:srgbClr val="CBD2E0"/>
                </a:solidFill>
                <a:latin typeface="Consolas"/>
              </a:rPr>
              <a:t>vecinosVivos</a:t>
            </a:r>
            <a:r>
              <a:rPr sz="1200" dirty="0">
                <a:solidFill>
                  <a:srgbClr val="CBD2E0"/>
                </a:solidFill>
                <a:latin typeface="Consolas"/>
              </a:rPr>
              <a:t>==3))</a:t>
            </a:r>
          </a:p>
          <a:p>
            <a:pPr>
              <a:spcBef>
                <a:spcPts val="0"/>
              </a:spcBef>
              <a:spcAft>
                <a:spcPts val="0"/>
              </a:spcAft>
            </a:pPr>
            <a:r>
              <a:rPr sz="1200" dirty="0">
                <a:solidFill>
                  <a:srgbClr val="CBD2E0"/>
                </a:solidFill>
                <a:latin typeface="Consolas"/>
              </a:rPr>
              <a:t>    </a:t>
            </a:r>
            <a:r>
              <a:rPr sz="1200" dirty="0" err="1">
                <a:solidFill>
                  <a:srgbClr val="CBD2E0"/>
                </a:solidFill>
                <a:latin typeface="Consolas"/>
              </a:rPr>
              <a:t>siguiente</a:t>
            </a:r>
            <a:r>
              <a:rPr sz="1200" dirty="0">
                <a:solidFill>
                  <a:srgbClr val="CBD2E0"/>
                </a:solidFill>
                <a:latin typeface="Consolas"/>
              </a:rPr>
              <a:t>[</a:t>
            </a:r>
            <a:r>
              <a:rPr sz="1200" dirty="0" err="1">
                <a:solidFill>
                  <a:srgbClr val="CBD2E0"/>
                </a:solidFill>
                <a:latin typeface="Consolas"/>
              </a:rPr>
              <a:t>i</a:t>
            </a:r>
            <a:r>
              <a:rPr sz="1200" dirty="0">
                <a:solidFill>
                  <a:srgbClr val="CBD2E0"/>
                </a:solidFill>
                <a:latin typeface="Consolas"/>
              </a:rPr>
              <a:t>][j] = 1;</a:t>
            </a:r>
          </a:p>
          <a:p>
            <a:pPr>
              <a:spcBef>
                <a:spcPts val="0"/>
              </a:spcBef>
              <a:spcAft>
                <a:spcPts val="0"/>
              </a:spcAft>
            </a:pPr>
            <a:r>
              <a:rPr sz="1200" dirty="0">
                <a:solidFill>
                  <a:srgbClr val="CBD2E0"/>
                </a:solidFill>
                <a:latin typeface="Consolas"/>
              </a:rPr>
              <a:t>else if (actual[</a:t>
            </a:r>
            <a:r>
              <a:rPr sz="1200" dirty="0" err="1">
                <a:solidFill>
                  <a:srgbClr val="CBD2E0"/>
                </a:solidFill>
                <a:latin typeface="Consolas"/>
              </a:rPr>
              <a:t>i</a:t>
            </a:r>
            <a:r>
              <a:rPr sz="1200" dirty="0">
                <a:solidFill>
                  <a:srgbClr val="CBD2E0"/>
                </a:solidFill>
                <a:latin typeface="Consolas"/>
              </a:rPr>
              <a:t>][j]==0 &amp;&amp; </a:t>
            </a:r>
            <a:r>
              <a:rPr sz="1200" dirty="0" err="1">
                <a:solidFill>
                  <a:srgbClr val="CBD2E0"/>
                </a:solidFill>
                <a:latin typeface="Consolas"/>
              </a:rPr>
              <a:t>vecinosVivos</a:t>
            </a:r>
            <a:r>
              <a:rPr sz="1200" dirty="0">
                <a:solidFill>
                  <a:srgbClr val="CBD2E0"/>
                </a:solidFill>
                <a:latin typeface="Consolas"/>
              </a:rPr>
              <a:t>==3)</a:t>
            </a:r>
          </a:p>
          <a:p>
            <a:pPr>
              <a:spcBef>
                <a:spcPts val="0"/>
              </a:spcBef>
              <a:spcAft>
                <a:spcPts val="0"/>
              </a:spcAft>
            </a:pPr>
            <a:r>
              <a:rPr sz="1200" dirty="0">
                <a:solidFill>
                  <a:srgbClr val="CBD2E0"/>
                </a:solidFill>
                <a:latin typeface="Consolas"/>
              </a:rPr>
              <a:t>    </a:t>
            </a:r>
            <a:r>
              <a:rPr sz="1200" dirty="0" err="1">
                <a:solidFill>
                  <a:srgbClr val="CBD2E0"/>
                </a:solidFill>
                <a:latin typeface="Consolas"/>
              </a:rPr>
              <a:t>siguiente</a:t>
            </a:r>
            <a:r>
              <a:rPr sz="1200" dirty="0">
                <a:solidFill>
                  <a:srgbClr val="CBD2E0"/>
                </a:solidFill>
                <a:latin typeface="Consolas"/>
              </a:rPr>
              <a:t>[</a:t>
            </a:r>
            <a:r>
              <a:rPr sz="1200" dirty="0" err="1">
                <a:solidFill>
                  <a:srgbClr val="CBD2E0"/>
                </a:solidFill>
                <a:latin typeface="Consolas"/>
              </a:rPr>
              <a:t>i</a:t>
            </a:r>
            <a:r>
              <a:rPr sz="1200" dirty="0">
                <a:solidFill>
                  <a:srgbClr val="CBD2E0"/>
                </a:solidFill>
                <a:latin typeface="Consolas"/>
              </a:rPr>
              <a:t>][j] = 1;</a:t>
            </a:r>
          </a:p>
          <a:p>
            <a:pPr>
              <a:spcBef>
                <a:spcPts val="0"/>
              </a:spcBef>
              <a:spcAft>
                <a:spcPts val="0"/>
              </a:spcAft>
            </a:pPr>
            <a:r>
              <a:rPr sz="1200" dirty="0">
                <a:solidFill>
                  <a:srgbClr val="CBD2E0"/>
                </a:solidFill>
                <a:latin typeface="Consolas"/>
              </a:rPr>
              <a:t>else</a:t>
            </a:r>
          </a:p>
          <a:p>
            <a:pPr>
              <a:spcBef>
                <a:spcPts val="0"/>
              </a:spcBef>
              <a:spcAft>
                <a:spcPts val="0"/>
              </a:spcAft>
            </a:pPr>
            <a:r>
              <a:rPr sz="1200" dirty="0">
                <a:solidFill>
                  <a:srgbClr val="CBD2E0"/>
                </a:solidFill>
                <a:latin typeface="Consolas"/>
              </a:rPr>
              <a:t>    </a:t>
            </a:r>
            <a:r>
              <a:rPr sz="1200" dirty="0" err="1">
                <a:solidFill>
                  <a:srgbClr val="CBD2E0"/>
                </a:solidFill>
                <a:latin typeface="Consolas"/>
              </a:rPr>
              <a:t>siguiente</a:t>
            </a:r>
            <a:r>
              <a:rPr sz="1200" dirty="0">
                <a:solidFill>
                  <a:srgbClr val="CBD2E0"/>
                </a:solidFill>
                <a:latin typeface="Consolas"/>
              </a:rPr>
              <a:t>[</a:t>
            </a:r>
            <a:r>
              <a:rPr sz="1200" dirty="0" err="1">
                <a:solidFill>
                  <a:srgbClr val="CBD2E0"/>
                </a:solidFill>
                <a:latin typeface="Consolas"/>
              </a:rPr>
              <a:t>i</a:t>
            </a:r>
            <a:r>
              <a:rPr sz="1200" dirty="0">
                <a:solidFill>
                  <a:srgbClr val="CBD2E0"/>
                </a:solidFill>
                <a:latin typeface="Consolas"/>
              </a:rPr>
              <a:t>][j] = 0;</a:t>
            </a:r>
          </a:p>
          <a:p>
            <a:pPr>
              <a:spcBef>
                <a:spcPts val="0"/>
              </a:spcBef>
              <a:spcAft>
                <a:spcPts val="0"/>
              </a:spcAft>
            </a:pPr>
            <a:endParaRPr sz="1200" dirty="0">
              <a:solidFill>
                <a:srgbClr val="CBD2E0"/>
              </a:solidFill>
              <a:latin typeface="Consolas"/>
            </a:endParaRPr>
          </a:p>
          <a:p>
            <a:pPr>
              <a:spcBef>
                <a:spcPts val="0"/>
              </a:spcBef>
              <a:spcAft>
                <a:spcPts val="0"/>
              </a:spcAft>
            </a:pPr>
            <a:r>
              <a:rPr sz="1200" dirty="0">
                <a:solidFill>
                  <a:srgbClr val="CBD2E0"/>
                </a:solidFill>
                <a:latin typeface="Consolas"/>
              </a:rPr>
              <a:t>// </a:t>
            </a:r>
            <a:r>
              <a:rPr sz="1200" dirty="0" err="1">
                <a:solidFill>
                  <a:srgbClr val="CBD2E0"/>
                </a:solidFill>
                <a:latin typeface="Consolas"/>
              </a:rPr>
              <a:t>Intercambio</a:t>
            </a:r>
            <a:r>
              <a:rPr sz="1200" dirty="0">
                <a:solidFill>
                  <a:srgbClr val="CBD2E0"/>
                </a:solidFill>
                <a:latin typeface="Consolas"/>
              </a:rPr>
              <a:t> O(1) sin </a:t>
            </a:r>
            <a:r>
              <a:rPr sz="1200" dirty="0" err="1">
                <a:solidFill>
                  <a:srgbClr val="CBD2E0"/>
                </a:solidFill>
                <a:latin typeface="Consolas"/>
              </a:rPr>
              <a:t>copiar</a:t>
            </a:r>
            <a:r>
              <a:rPr sz="1200" dirty="0">
                <a:solidFill>
                  <a:srgbClr val="CBD2E0"/>
                </a:solidFill>
                <a:latin typeface="Consolas"/>
              </a:rPr>
              <a:t> la </a:t>
            </a:r>
            <a:r>
              <a:rPr sz="1200" dirty="0" err="1">
                <a:solidFill>
                  <a:srgbClr val="CBD2E0"/>
                </a:solidFill>
                <a:latin typeface="Consolas"/>
              </a:rPr>
              <a:t>matriz</a:t>
            </a:r>
            <a:endParaRPr sz="1200" dirty="0">
              <a:solidFill>
                <a:srgbClr val="CBD2E0"/>
              </a:solidFill>
              <a:latin typeface="Consolas"/>
            </a:endParaRPr>
          </a:p>
          <a:p>
            <a:pPr>
              <a:spcBef>
                <a:spcPts val="0"/>
              </a:spcBef>
              <a:spcAft>
                <a:spcPts val="0"/>
              </a:spcAft>
            </a:pPr>
            <a:r>
              <a:rPr sz="1200" dirty="0">
                <a:solidFill>
                  <a:srgbClr val="CBD2E0"/>
                </a:solidFill>
                <a:latin typeface="Consolas"/>
              </a:rPr>
              <a:t>std::swap(grid, </a:t>
            </a:r>
            <a:r>
              <a:rPr sz="1200" dirty="0" err="1">
                <a:solidFill>
                  <a:srgbClr val="CBD2E0"/>
                </a:solidFill>
                <a:latin typeface="Consolas"/>
              </a:rPr>
              <a:t>nextGrid</a:t>
            </a:r>
            <a:r>
              <a:rPr sz="1200" dirty="0">
                <a:solidFill>
                  <a:srgbClr val="CBD2E0"/>
                </a:solidFill>
                <a:latin typeface="Consolas"/>
              </a:rPr>
              <a:t>);</a:t>
            </a:r>
          </a:p>
        </p:txBody>
      </p:sp>
      <p:sp>
        <p:nvSpPr>
          <p:cNvPr id="13" name="TextBox 12"/>
          <p:cNvSpPr txBox="1"/>
          <p:nvPr/>
        </p:nvSpPr>
        <p:spPr>
          <a:xfrm>
            <a:off x="365760" y="4315968"/>
            <a:ext cx="4389120" cy="292388"/>
          </a:xfrm>
          <a:prstGeom prst="rect">
            <a:avLst/>
          </a:prstGeom>
          <a:noFill/>
        </p:spPr>
        <p:txBody>
          <a:bodyPr wrap="square">
            <a:spAutoFit/>
          </a:bodyPr>
          <a:lstStyle/>
          <a:p>
            <a:pPr algn="l"/>
            <a:r>
              <a:rPr sz="1300" b="1" i="0" dirty="0" err="1">
                <a:solidFill>
                  <a:srgbClr val="1F3564"/>
                </a:solidFill>
                <a:latin typeface="Calibri"/>
              </a:rPr>
              <a:t>Limitación</a:t>
            </a:r>
            <a:r>
              <a:rPr sz="1300" b="1" i="0" dirty="0">
                <a:solidFill>
                  <a:srgbClr val="1F3564"/>
                </a:solidFill>
                <a:latin typeface="Calibri"/>
              </a:rPr>
              <a:t> de V1:</a:t>
            </a:r>
          </a:p>
        </p:txBody>
      </p:sp>
      <p:sp>
        <p:nvSpPr>
          <p:cNvPr id="14" name="TextBox 13"/>
          <p:cNvSpPr txBox="1"/>
          <p:nvPr/>
        </p:nvSpPr>
        <p:spPr>
          <a:xfrm>
            <a:off x="365760" y="4599432"/>
            <a:ext cx="4389120" cy="769441"/>
          </a:xfrm>
          <a:prstGeom prst="rect">
            <a:avLst/>
          </a:prstGeom>
          <a:noFill/>
        </p:spPr>
        <p:txBody>
          <a:bodyPr wrap="square">
            <a:spAutoFit/>
          </a:bodyPr>
          <a:lstStyle/>
          <a:p>
            <a:pPr>
              <a:spcBef>
                <a:spcPts val="300"/>
              </a:spcBef>
            </a:pPr>
            <a:r>
              <a:rPr sz="1200" dirty="0">
                <a:solidFill>
                  <a:srgbClr val="000000"/>
                </a:solidFill>
                <a:latin typeface="Calibri"/>
              </a:rPr>
              <a:t>• </a:t>
            </a:r>
            <a:r>
              <a:rPr sz="1300" dirty="0">
                <a:solidFill>
                  <a:srgbClr val="000000"/>
                </a:solidFill>
                <a:latin typeface="Calibri"/>
              </a:rPr>
              <a:t>vector&lt;vector&lt;int&gt;&gt;: </a:t>
            </a:r>
            <a:r>
              <a:rPr sz="1300" dirty="0" err="1">
                <a:solidFill>
                  <a:srgbClr val="000000"/>
                </a:solidFill>
                <a:latin typeface="Calibri"/>
              </a:rPr>
              <a:t>filas</a:t>
            </a:r>
            <a:r>
              <a:rPr sz="1300" dirty="0">
                <a:solidFill>
                  <a:srgbClr val="000000"/>
                </a:solidFill>
                <a:latin typeface="Calibri"/>
              </a:rPr>
              <a:t> no </a:t>
            </a:r>
            <a:r>
              <a:rPr sz="1300" dirty="0" err="1">
                <a:solidFill>
                  <a:srgbClr val="000000"/>
                </a:solidFill>
                <a:latin typeface="Calibri"/>
              </a:rPr>
              <a:t>contiguas</a:t>
            </a:r>
            <a:r>
              <a:rPr sz="1300" dirty="0">
                <a:solidFill>
                  <a:srgbClr val="000000"/>
                </a:solidFill>
                <a:latin typeface="Calibri"/>
              </a:rPr>
              <a:t> </a:t>
            </a:r>
            <a:r>
              <a:rPr sz="1300" dirty="0" err="1">
                <a:solidFill>
                  <a:srgbClr val="000000"/>
                </a:solidFill>
                <a:latin typeface="Calibri"/>
              </a:rPr>
              <a:t>en</a:t>
            </a:r>
            <a:r>
              <a:rPr sz="1300" dirty="0">
                <a:solidFill>
                  <a:srgbClr val="000000"/>
                </a:solidFill>
                <a:latin typeface="Calibri"/>
              </a:rPr>
              <a:t> memoria</a:t>
            </a:r>
          </a:p>
          <a:p>
            <a:pPr>
              <a:spcBef>
                <a:spcPts val="300"/>
              </a:spcBef>
            </a:pPr>
            <a:r>
              <a:rPr sz="1300" dirty="0">
                <a:solidFill>
                  <a:srgbClr val="000000"/>
                </a:solidFill>
                <a:latin typeface="Calibri"/>
              </a:rPr>
              <a:t>• Saltos de </a:t>
            </a:r>
            <a:r>
              <a:rPr sz="1300" dirty="0" err="1">
                <a:solidFill>
                  <a:srgbClr val="000000"/>
                </a:solidFill>
                <a:latin typeface="Calibri"/>
              </a:rPr>
              <a:t>puntero</a:t>
            </a:r>
            <a:r>
              <a:rPr sz="1300" dirty="0">
                <a:solidFill>
                  <a:srgbClr val="000000"/>
                </a:solidFill>
                <a:latin typeface="Calibri"/>
              </a:rPr>
              <a:t> </a:t>
            </a:r>
            <a:r>
              <a:rPr sz="1300" dirty="0" err="1">
                <a:solidFill>
                  <a:srgbClr val="000000"/>
                </a:solidFill>
                <a:latin typeface="Calibri"/>
              </a:rPr>
              <a:t>en</a:t>
            </a:r>
            <a:r>
              <a:rPr sz="1300" dirty="0">
                <a:solidFill>
                  <a:srgbClr val="000000"/>
                </a:solidFill>
                <a:latin typeface="Calibri"/>
              </a:rPr>
              <a:t> </a:t>
            </a:r>
            <a:r>
              <a:rPr sz="1300" dirty="0" err="1">
                <a:solidFill>
                  <a:srgbClr val="000000"/>
                </a:solidFill>
                <a:latin typeface="Calibri"/>
              </a:rPr>
              <a:t>cada</a:t>
            </a:r>
            <a:r>
              <a:rPr sz="1300" dirty="0">
                <a:solidFill>
                  <a:srgbClr val="000000"/>
                </a:solidFill>
                <a:latin typeface="Calibri"/>
              </a:rPr>
              <a:t> </a:t>
            </a:r>
            <a:r>
              <a:rPr sz="1300" dirty="0" err="1">
                <a:solidFill>
                  <a:srgbClr val="000000"/>
                </a:solidFill>
                <a:latin typeface="Calibri"/>
              </a:rPr>
              <a:t>acceso</a:t>
            </a:r>
            <a:r>
              <a:rPr sz="1300" dirty="0">
                <a:solidFill>
                  <a:srgbClr val="000000"/>
                </a:solidFill>
                <a:latin typeface="Calibri"/>
              </a:rPr>
              <a:t> → </a:t>
            </a:r>
            <a:r>
              <a:rPr sz="1300" dirty="0" err="1">
                <a:solidFill>
                  <a:srgbClr val="000000"/>
                </a:solidFill>
                <a:latin typeface="Calibri"/>
              </a:rPr>
              <a:t>fallo</a:t>
            </a:r>
            <a:r>
              <a:rPr sz="1300" dirty="0">
                <a:solidFill>
                  <a:srgbClr val="000000"/>
                </a:solidFill>
                <a:latin typeface="Calibri"/>
              </a:rPr>
              <a:t> de </a:t>
            </a:r>
            <a:r>
              <a:rPr sz="1300" dirty="0" err="1">
                <a:solidFill>
                  <a:srgbClr val="000000"/>
                </a:solidFill>
                <a:latin typeface="Calibri"/>
              </a:rPr>
              <a:t>caché</a:t>
            </a:r>
            <a:endParaRPr sz="1300" dirty="0">
              <a:solidFill>
                <a:srgbClr val="000000"/>
              </a:solidFill>
              <a:latin typeface="Calibri"/>
            </a:endParaRPr>
          </a:p>
          <a:p>
            <a:pPr>
              <a:spcBef>
                <a:spcPts val="300"/>
              </a:spcBef>
            </a:pPr>
            <a:r>
              <a:rPr sz="1300" dirty="0">
                <a:solidFill>
                  <a:srgbClr val="000000"/>
                </a:solidFill>
                <a:latin typeface="Calibri"/>
              </a:rPr>
              <a:t>• </a:t>
            </a:r>
            <a:r>
              <a:rPr sz="1300" dirty="0" err="1">
                <a:solidFill>
                  <a:srgbClr val="000000"/>
                </a:solidFill>
                <a:latin typeface="Calibri"/>
              </a:rPr>
              <a:t>Solución</a:t>
            </a:r>
            <a:r>
              <a:rPr sz="1300" dirty="0">
                <a:solidFill>
                  <a:srgbClr val="000000"/>
                </a:solidFill>
                <a:latin typeface="Calibri"/>
              </a:rPr>
              <a:t>: V2 </a:t>
            </a:r>
            <a:r>
              <a:rPr sz="1300" dirty="0" err="1">
                <a:solidFill>
                  <a:srgbClr val="000000"/>
                </a:solidFill>
                <a:latin typeface="Calibri"/>
              </a:rPr>
              <a:t>aplana</a:t>
            </a:r>
            <a:r>
              <a:rPr sz="1300" dirty="0">
                <a:solidFill>
                  <a:srgbClr val="000000"/>
                </a:solidFill>
                <a:latin typeface="Calibri"/>
              </a:rPr>
              <a:t> a un </a:t>
            </a:r>
            <a:r>
              <a:rPr sz="1300" dirty="0" err="1">
                <a:solidFill>
                  <a:srgbClr val="000000"/>
                </a:solidFill>
                <a:latin typeface="Calibri"/>
              </a:rPr>
              <a:t>único</a:t>
            </a:r>
            <a:r>
              <a:rPr sz="1300" dirty="0">
                <a:solidFill>
                  <a:srgbClr val="000000"/>
                </a:solidFill>
                <a:latin typeface="Calibri"/>
              </a:rPr>
              <a:t> vector&lt;int&gt;</a:t>
            </a:r>
          </a:p>
        </p:txBody>
      </p:sp>
      <p:sp>
        <p:nvSpPr>
          <p:cNvPr id="15" name="Rectangle 14">
            <a:hlinkClick r:id="rId3"/>
          </p:cNvPr>
          <p:cNvSpPr/>
          <p:nvPr/>
        </p:nvSpPr>
        <p:spPr>
          <a:xfrm>
            <a:off x="4983480" y="5577840"/>
            <a:ext cx="6858000" cy="320040"/>
          </a:xfrm>
          <a:prstGeom prst="rect">
            <a:avLst/>
          </a:prstGeom>
          <a:solidFill>
            <a:srgbClr val="2E74B5"/>
          </a:solidFill>
          <a:ln w="6350">
            <a:solidFill>
              <a:srgbClr val="1F3564"/>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dirty="0">
                <a:solidFill>
                  <a:srgbClr val="FFFFFF"/>
                </a:solidFill>
                <a:latin typeface="Calibri"/>
              </a:rPr>
              <a:t>Ver V1_secuencial_base.cpp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7899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12880" cy="658368"/>
          </a:xfrm>
          <a:prstGeom prst="rect">
            <a:avLst/>
          </a:prstGeom>
          <a:noFill/>
        </p:spPr>
        <p:txBody>
          <a:bodyPr wrap="square">
            <a:spAutoFit/>
          </a:bodyPr>
          <a:lstStyle/>
          <a:p>
            <a:pPr algn="l"/>
            <a:r>
              <a:rPr sz="2600" b="1" i="0">
                <a:solidFill>
                  <a:srgbClr val="FFFFFF"/>
                </a:solidFill>
                <a:latin typeface="Calibri"/>
              </a:rPr>
              <a:t>ILP — Código C++ vs. Ensamblador generado por -O2</a:t>
            </a:r>
          </a:p>
        </p:txBody>
      </p:sp>
      <p:sp>
        <p:nvSpPr>
          <p:cNvPr id="4" name="TextBox 3"/>
          <p:cNvSpPr txBox="1"/>
          <p:nvPr/>
        </p:nvSpPr>
        <p:spPr>
          <a:xfrm>
            <a:off x="274320" y="713232"/>
            <a:ext cx="11612880" cy="329184"/>
          </a:xfrm>
          <a:prstGeom prst="rect">
            <a:avLst/>
          </a:prstGeom>
          <a:noFill/>
        </p:spPr>
        <p:txBody>
          <a:bodyPr wrap="square">
            <a:spAutoFit/>
          </a:bodyPr>
          <a:lstStyle/>
          <a:p>
            <a:pPr algn="l"/>
            <a:r>
              <a:rPr sz="1200" b="0" i="0">
                <a:solidFill>
                  <a:srgbClr val="D6E4F7"/>
                </a:solidFill>
                <a:latin typeface="Calibri"/>
              </a:rPr>
              <a:t>El compilador detecta independencias y explota el pipeline superscalar del procesador</a:t>
            </a:r>
          </a:p>
        </p:txBody>
      </p:sp>
      <p:sp>
        <p:nvSpPr>
          <p:cNvPr id="5" name="Rectangle 4"/>
          <p:cNvSpPr/>
          <p:nvPr/>
        </p:nvSpPr>
        <p:spPr>
          <a:xfrm>
            <a:off x="365760" y="1170432"/>
            <a:ext cx="5577840" cy="256032"/>
          </a:xfrm>
          <a:prstGeom prst="rect">
            <a:avLst/>
          </a:prstGeom>
          <a:solidFill>
            <a:srgbClr val="008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20623" y="1143000"/>
            <a:ext cx="5431536" cy="307777"/>
          </a:xfrm>
          <a:prstGeom prst="rect">
            <a:avLst/>
          </a:prstGeom>
          <a:noFill/>
        </p:spPr>
        <p:txBody>
          <a:bodyPr wrap="square">
            <a:spAutoFit/>
          </a:bodyPr>
          <a:lstStyle/>
          <a:p>
            <a:pPr algn="l"/>
            <a:r>
              <a:rPr sz="1400" b="1" i="0" dirty="0">
                <a:solidFill>
                  <a:srgbClr val="FFFFFF"/>
                </a:solidFill>
                <a:latin typeface="Calibri"/>
              </a:rPr>
              <a:t>Código C++ </a:t>
            </a:r>
            <a:r>
              <a:rPr sz="1400" b="1" i="0" dirty="0" err="1">
                <a:solidFill>
                  <a:srgbClr val="FFFFFF"/>
                </a:solidFill>
                <a:latin typeface="Calibri"/>
              </a:rPr>
              <a:t>implementado</a:t>
            </a:r>
            <a:r>
              <a:rPr sz="1400" b="1" i="0" dirty="0">
                <a:solidFill>
                  <a:srgbClr val="FFFFFF"/>
                </a:solidFill>
                <a:latin typeface="Calibri"/>
              </a:rPr>
              <a:t> a mano</a:t>
            </a:r>
          </a:p>
        </p:txBody>
      </p:sp>
      <p:sp>
        <p:nvSpPr>
          <p:cNvPr id="7" name="Rectangle 6"/>
          <p:cNvSpPr/>
          <p:nvPr/>
        </p:nvSpPr>
        <p:spPr>
          <a:xfrm>
            <a:off x="365760" y="1444752"/>
            <a:ext cx="5577840" cy="3108960"/>
          </a:xfrm>
          <a:prstGeom prst="rect">
            <a:avLst/>
          </a:prstGeom>
          <a:solidFill>
            <a:srgbClr val="1E1E2E"/>
          </a:solidFill>
          <a:ln w="9525">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517904"/>
            <a:ext cx="4602542" cy="2677656"/>
          </a:xfrm>
          <a:prstGeom prst="rect">
            <a:avLst/>
          </a:prstGeom>
          <a:noFill/>
        </p:spPr>
        <p:txBody>
          <a:bodyPr wrap="none">
            <a:spAutoFit/>
          </a:bodyPr>
          <a:lstStyle/>
          <a:p>
            <a:pPr>
              <a:spcBef>
                <a:spcPts val="0"/>
              </a:spcBef>
              <a:spcAft>
                <a:spcPts val="0"/>
              </a:spcAft>
            </a:pPr>
            <a:r>
              <a:rPr sz="1200" dirty="0">
                <a:solidFill>
                  <a:srgbClr val="CBD2E0"/>
                </a:solidFill>
                <a:latin typeface="Consolas"/>
              </a:rPr>
              <a:t>// C++ — </a:t>
            </a:r>
            <a:r>
              <a:rPr sz="1200" dirty="0" err="1">
                <a:solidFill>
                  <a:srgbClr val="CBD2E0"/>
                </a:solidFill>
                <a:latin typeface="Consolas"/>
              </a:rPr>
              <a:t>bucle</a:t>
            </a:r>
            <a:r>
              <a:rPr sz="1200" dirty="0">
                <a:solidFill>
                  <a:srgbClr val="CBD2E0"/>
                </a:solidFill>
                <a:latin typeface="Consolas"/>
              </a:rPr>
              <a:t> interior (V1/V2, </a:t>
            </a:r>
            <a:r>
              <a:rPr sz="1200" dirty="0" err="1">
                <a:solidFill>
                  <a:srgbClr val="CBD2E0"/>
                </a:solidFill>
                <a:latin typeface="Consolas"/>
              </a:rPr>
              <a:t>escrito</a:t>
            </a:r>
            <a:r>
              <a:rPr sz="1200" dirty="0">
                <a:solidFill>
                  <a:srgbClr val="CBD2E0"/>
                </a:solidFill>
                <a:latin typeface="Consolas"/>
              </a:rPr>
              <a:t> a mano)</a:t>
            </a:r>
          </a:p>
          <a:p>
            <a:pPr>
              <a:spcBef>
                <a:spcPts val="0"/>
              </a:spcBef>
              <a:spcAft>
                <a:spcPts val="0"/>
              </a:spcAft>
            </a:pPr>
            <a:r>
              <a:rPr sz="1200" dirty="0">
                <a:solidFill>
                  <a:srgbClr val="CBD2E0"/>
                </a:solidFill>
                <a:latin typeface="Consolas"/>
              </a:rPr>
              <a:t>// Las 8 </a:t>
            </a:r>
            <a:r>
              <a:rPr sz="1200" dirty="0" err="1">
                <a:solidFill>
                  <a:srgbClr val="CBD2E0"/>
                </a:solidFill>
                <a:latin typeface="Consolas"/>
              </a:rPr>
              <a:t>sumas</a:t>
            </a:r>
            <a:r>
              <a:rPr sz="1200" dirty="0">
                <a:solidFill>
                  <a:srgbClr val="CBD2E0"/>
                </a:solidFill>
                <a:latin typeface="Consolas"/>
              </a:rPr>
              <a:t> son INDEPENDIENTES entre </a:t>
            </a:r>
            <a:r>
              <a:rPr sz="1200" dirty="0" err="1">
                <a:solidFill>
                  <a:srgbClr val="CBD2E0"/>
                </a:solidFill>
                <a:latin typeface="Consolas"/>
              </a:rPr>
              <a:t>sí</a:t>
            </a:r>
            <a:r>
              <a:rPr sz="1200" dirty="0">
                <a:solidFill>
                  <a:srgbClr val="CBD2E0"/>
                </a:solidFill>
                <a:latin typeface="Consolas"/>
              </a:rPr>
              <a:t>:</a:t>
            </a:r>
          </a:p>
          <a:p>
            <a:pPr>
              <a:spcBef>
                <a:spcPts val="0"/>
              </a:spcBef>
              <a:spcAft>
                <a:spcPts val="0"/>
              </a:spcAft>
            </a:pPr>
            <a:r>
              <a:rPr sz="1200" dirty="0">
                <a:solidFill>
                  <a:srgbClr val="CBD2E0"/>
                </a:solidFill>
                <a:latin typeface="Consolas"/>
              </a:rPr>
              <a:t>// no </a:t>
            </a:r>
            <a:r>
              <a:rPr sz="1200" dirty="0" err="1">
                <a:solidFill>
                  <a:srgbClr val="CBD2E0"/>
                </a:solidFill>
                <a:latin typeface="Consolas"/>
              </a:rPr>
              <a:t>existe</a:t>
            </a:r>
            <a:r>
              <a:rPr sz="1200" dirty="0">
                <a:solidFill>
                  <a:srgbClr val="CBD2E0"/>
                </a:solidFill>
                <a:latin typeface="Consolas"/>
              </a:rPr>
              <a:t> </a:t>
            </a:r>
            <a:r>
              <a:rPr sz="1200" dirty="0" err="1">
                <a:solidFill>
                  <a:srgbClr val="CBD2E0"/>
                </a:solidFill>
                <a:latin typeface="Consolas"/>
              </a:rPr>
              <a:t>dependencia</a:t>
            </a:r>
            <a:r>
              <a:rPr sz="1200" dirty="0">
                <a:solidFill>
                  <a:srgbClr val="CBD2E0"/>
                </a:solidFill>
                <a:latin typeface="Consolas"/>
              </a:rPr>
              <a:t> de </a:t>
            </a:r>
            <a:r>
              <a:rPr sz="1200" dirty="0" err="1">
                <a:solidFill>
                  <a:srgbClr val="CBD2E0"/>
                </a:solidFill>
                <a:latin typeface="Consolas"/>
              </a:rPr>
              <a:t>datos</a:t>
            </a:r>
            <a:r>
              <a:rPr sz="1200" dirty="0">
                <a:solidFill>
                  <a:srgbClr val="CBD2E0"/>
                </a:solidFill>
                <a:latin typeface="Consolas"/>
              </a:rPr>
              <a:t> entre </a:t>
            </a:r>
            <a:r>
              <a:rPr sz="1200" dirty="0" err="1">
                <a:solidFill>
                  <a:srgbClr val="CBD2E0"/>
                </a:solidFill>
                <a:latin typeface="Consolas"/>
              </a:rPr>
              <a:t>ellas</a:t>
            </a:r>
            <a:r>
              <a:rPr sz="1200" dirty="0">
                <a:solidFill>
                  <a:srgbClr val="CBD2E0"/>
                </a:solidFill>
                <a:latin typeface="Consolas"/>
              </a:rPr>
              <a:t>.</a:t>
            </a:r>
          </a:p>
          <a:p>
            <a:pPr>
              <a:spcBef>
                <a:spcPts val="0"/>
              </a:spcBef>
              <a:spcAft>
                <a:spcPts val="0"/>
              </a:spcAft>
            </a:pPr>
            <a:r>
              <a:rPr sz="1200" dirty="0">
                <a:solidFill>
                  <a:srgbClr val="CBD2E0"/>
                </a:solidFill>
                <a:latin typeface="Consolas"/>
              </a:rPr>
              <a:t>// El </a:t>
            </a:r>
            <a:r>
              <a:rPr sz="1200" dirty="0" err="1">
                <a:solidFill>
                  <a:srgbClr val="CBD2E0"/>
                </a:solidFill>
                <a:latin typeface="Consolas"/>
              </a:rPr>
              <a:t>programador</a:t>
            </a:r>
            <a:r>
              <a:rPr sz="1200" dirty="0">
                <a:solidFill>
                  <a:srgbClr val="CBD2E0"/>
                </a:solidFill>
                <a:latin typeface="Consolas"/>
              </a:rPr>
              <a:t> las escribe </a:t>
            </a:r>
            <a:r>
              <a:rPr sz="1200" dirty="0" err="1">
                <a:solidFill>
                  <a:srgbClr val="CBD2E0"/>
                </a:solidFill>
                <a:latin typeface="Consolas"/>
              </a:rPr>
              <a:t>como</a:t>
            </a:r>
            <a:r>
              <a:rPr sz="1200" dirty="0">
                <a:solidFill>
                  <a:srgbClr val="CBD2E0"/>
                </a:solidFill>
                <a:latin typeface="Consolas"/>
              </a:rPr>
              <a:t> </a:t>
            </a:r>
            <a:r>
              <a:rPr sz="1200" dirty="0" err="1">
                <a:solidFill>
                  <a:srgbClr val="CBD2E0"/>
                </a:solidFill>
                <a:latin typeface="Consolas"/>
              </a:rPr>
              <a:t>secuenciales</a:t>
            </a:r>
            <a:r>
              <a:rPr sz="1200" dirty="0">
                <a:solidFill>
                  <a:srgbClr val="CBD2E0"/>
                </a:solidFill>
                <a:latin typeface="Consolas"/>
              </a:rPr>
              <a:t>...</a:t>
            </a:r>
          </a:p>
          <a:p>
            <a:pPr>
              <a:spcBef>
                <a:spcPts val="0"/>
              </a:spcBef>
              <a:spcAft>
                <a:spcPts val="0"/>
              </a:spcAft>
            </a:pPr>
            <a:endParaRPr sz="1200" dirty="0">
              <a:solidFill>
                <a:srgbClr val="CBD2E0"/>
              </a:solidFill>
              <a:latin typeface="Consolas"/>
            </a:endParaRPr>
          </a:p>
          <a:p>
            <a:pPr>
              <a:spcBef>
                <a:spcPts val="0"/>
              </a:spcBef>
              <a:spcAft>
                <a:spcPts val="0"/>
              </a:spcAft>
            </a:pPr>
            <a:r>
              <a:rPr sz="1200" dirty="0">
                <a:solidFill>
                  <a:srgbClr val="CBD2E0"/>
                </a:solidFill>
                <a:latin typeface="Consolas"/>
              </a:rPr>
              <a:t>int </a:t>
            </a:r>
            <a:r>
              <a:rPr sz="1200" dirty="0" err="1">
                <a:solidFill>
                  <a:srgbClr val="CBD2E0"/>
                </a:solidFill>
                <a:latin typeface="Consolas"/>
              </a:rPr>
              <a:t>vecinosVivos</a:t>
            </a:r>
            <a:r>
              <a:rPr sz="1200" dirty="0">
                <a:solidFill>
                  <a:srgbClr val="CBD2E0"/>
                </a:solidFill>
                <a:latin typeface="Consolas"/>
              </a:rPr>
              <a:t> =</a:t>
            </a:r>
          </a:p>
          <a:p>
            <a:pPr>
              <a:spcBef>
                <a:spcPts val="0"/>
              </a:spcBef>
              <a:spcAft>
                <a:spcPts val="0"/>
              </a:spcAft>
            </a:pPr>
            <a:r>
              <a:rPr sz="1200" dirty="0">
                <a:solidFill>
                  <a:srgbClr val="CBD2E0"/>
                </a:solidFill>
                <a:latin typeface="Consolas"/>
              </a:rPr>
              <a:t>  actual[filaAnterior+j-1] + actual[</a:t>
            </a:r>
            <a:r>
              <a:rPr sz="1200" dirty="0" err="1">
                <a:solidFill>
                  <a:srgbClr val="CBD2E0"/>
                </a:solidFill>
                <a:latin typeface="Consolas"/>
              </a:rPr>
              <a:t>filaAnterior+j</a:t>
            </a:r>
            <a:r>
              <a:rPr sz="1200" dirty="0">
                <a:solidFill>
                  <a:srgbClr val="CBD2E0"/>
                </a:solidFill>
                <a:latin typeface="Consolas"/>
              </a:rPr>
              <a:t>]</a:t>
            </a:r>
          </a:p>
          <a:p>
            <a:pPr>
              <a:spcBef>
                <a:spcPts val="0"/>
              </a:spcBef>
              <a:spcAft>
                <a:spcPts val="0"/>
              </a:spcAft>
            </a:pPr>
            <a:r>
              <a:rPr sz="1200" dirty="0">
                <a:solidFill>
                  <a:srgbClr val="CBD2E0"/>
                </a:solidFill>
                <a:latin typeface="Consolas"/>
              </a:rPr>
              <a:t>+ actual[filaAnterior+j+1] + actual[filaActual+j-1]</a:t>
            </a:r>
          </a:p>
          <a:p>
            <a:pPr>
              <a:spcBef>
                <a:spcPts val="0"/>
              </a:spcBef>
              <a:spcAft>
                <a:spcPts val="0"/>
              </a:spcAft>
            </a:pPr>
            <a:r>
              <a:rPr sz="1200" dirty="0">
                <a:solidFill>
                  <a:srgbClr val="CBD2E0"/>
                </a:solidFill>
                <a:latin typeface="Consolas"/>
              </a:rPr>
              <a:t>+ actual[filaActual+j+1]</a:t>
            </a:r>
          </a:p>
          <a:p>
            <a:pPr>
              <a:spcBef>
                <a:spcPts val="0"/>
              </a:spcBef>
              <a:spcAft>
                <a:spcPts val="0"/>
              </a:spcAft>
            </a:pPr>
            <a:r>
              <a:rPr sz="1200" dirty="0">
                <a:solidFill>
                  <a:srgbClr val="CBD2E0"/>
                </a:solidFill>
                <a:latin typeface="Consolas"/>
              </a:rPr>
              <a:t>+ actual[filaSiguiente+j-1]+ actual[</a:t>
            </a:r>
            <a:r>
              <a:rPr sz="1200" dirty="0" err="1">
                <a:solidFill>
                  <a:srgbClr val="CBD2E0"/>
                </a:solidFill>
                <a:latin typeface="Consolas"/>
              </a:rPr>
              <a:t>filaSiguiente+j</a:t>
            </a:r>
            <a:r>
              <a:rPr sz="1200" dirty="0">
                <a:solidFill>
                  <a:srgbClr val="CBD2E0"/>
                </a:solidFill>
                <a:latin typeface="Consolas"/>
              </a:rPr>
              <a:t>]</a:t>
            </a:r>
          </a:p>
          <a:p>
            <a:pPr>
              <a:spcBef>
                <a:spcPts val="0"/>
              </a:spcBef>
              <a:spcAft>
                <a:spcPts val="0"/>
              </a:spcAft>
            </a:pPr>
            <a:r>
              <a:rPr sz="1200" dirty="0">
                <a:solidFill>
                  <a:srgbClr val="CBD2E0"/>
                </a:solidFill>
                <a:latin typeface="Consolas"/>
              </a:rPr>
              <a:t>+ actual[filaSiguiente+j+1];</a:t>
            </a:r>
          </a:p>
          <a:p>
            <a:pPr>
              <a:spcBef>
                <a:spcPts val="0"/>
              </a:spcBef>
              <a:spcAft>
                <a:spcPts val="0"/>
              </a:spcAft>
            </a:pPr>
            <a:endParaRPr sz="1200" dirty="0">
              <a:solidFill>
                <a:srgbClr val="CBD2E0"/>
              </a:solidFill>
              <a:latin typeface="Consolas"/>
            </a:endParaRPr>
          </a:p>
          <a:p>
            <a:pPr>
              <a:spcBef>
                <a:spcPts val="0"/>
              </a:spcBef>
              <a:spcAft>
                <a:spcPts val="0"/>
              </a:spcAft>
            </a:pPr>
            <a:r>
              <a:rPr sz="1200" dirty="0">
                <a:solidFill>
                  <a:srgbClr val="CBD2E0"/>
                </a:solidFill>
                <a:latin typeface="Consolas"/>
              </a:rPr>
              <a:t>// ...</a:t>
            </a:r>
            <a:r>
              <a:rPr sz="1200" dirty="0" err="1">
                <a:solidFill>
                  <a:srgbClr val="CBD2E0"/>
                </a:solidFill>
                <a:latin typeface="Consolas"/>
              </a:rPr>
              <a:t>pero</a:t>
            </a:r>
            <a:r>
              <a:rPr sz="1200" dirty="0">
                <a:solidFill>
                  <a:srgbClr val="CBD2E0"/>
                </a:solidFill>
                <a:latin typeface="Consolas"/>
              </a:rPr>
              <a:t> </a:t>
            </a:r>
            <a:r>
              <a:rPr sz="1200" dirty="0" err="1">
                <a:solidFill>
                  <a:srgbClr val="CBD2E0"/>
                </a:solidFill>
                <a:latin typeface="Consolas"/>
              </a:rPr>
              <a:t>el</a:t>
            </a:r>
            <a:r>
              <a:rPr sz="1200" dirty="0">
                <a:solidFill>
                  <a:srgbClr val="CBD2E0"/>
                </a:solidFill>
                <a:latin typeface="Consolas"/>
              </a:rPr>
              <a:t> </a:t>
            </a:r>
            <a:r>
              <a:rPr sz="1200" dirty="0" err="1">
                <a:solidFill>
                  <a:srgbClr val="CBD2E0"/>
                </a:solidFill>
                <a:latin typeface="Consolas"/>
              </a:rPr>
              <a:t>compilador</a:t>
            </a:r>
            <a:r>
              <a:rPr sz="1200" dirty="0">
                <a:solidFill>
                  <a:srgbClr val="CBD2E0"/>
                </a:solidFill>
                <a:latin typeface="Consolas"/>
              </a:rPr>
              <a:t> -O2 lo </a:t>
            </a:r>
            <a:r>
              <a:rPr sz="1200" dirty="0" err="1">
                <a:solidFill>
                  <a:srgbClr val="CBD2E0"/>
                </a:solidFill>
                <a:latin typeface="Consolas"/>
              </a:rPr>
              <a:t>detecta</a:t>
            </a:r>
            <a:r>
              <a:rPr sz="1200" dirty="0">
                <a:solidFill>
                  <a:srgbClr val="CBD2E0"/>
                </a:solidFill>
                <a:latin typeface="Consolas"/>
              </a:rPr>
              <a:t> y</a:t>
            </a:r>
          </a:p>
          <a:p>
            <a:pPr>
              <a:spcBef>
                <a:spcPts val="0"/>
              </a:spcBef>
              <a:spcAft>
                <a:spcPts val="0"/>
              </a:spcAft>
            </a:pPr>
            <a:r>
              <a:rPr sz="1200" dirty="0">
                <a:solidFill>
                  <a:srgbClr val="CBD2E0"/>
                </a:solidFill>
                <a:latin typeface="Consolas"/>
              </a:rPr>
              <a:t>// genera </a:t>
            </a:r>
            <a:r>
              <a:rPr sz="1200" dirty="0" err="1">
                <a:solidFill>
                  <a:srgbClr val="CBD2E0"/>
                </a:solidFill>
                <a:latin typeface="Consolas"/>
              </a:rPr>
              <a:t>código</a:t>
            </a:r>
            <a:r>
              <a:rPr sz="1200" dirty="0">
                <a:solidFill>
                  <a:srgbClr val="CBD2E0"/>
                </a:solidFill>
                <a:latin typeface="Consolas"/>
              </a:rPr>
              <a:t> </a:t>
            </a:r>
            <a:r>
              <a:rPr sz="1200" dirty="0" err="1">
                <a:solidFill>
                  <a:srgbClr val="CBD2E0"/>
                </a:solidFill>
                <a:latin typeface="Consolas"/>
              </a:rPr>
              <a:t>que</a:t>
            </a:r>
            <a:r>
              <a:rPr sz="1200" dirty="0">
                <a:solidFill>
                  <a:srgbClr val="CBD2E0"/>
                </a:solidFill>
                <a:latin typeface="Consolas"/>
              </a:rPr>
              <a:t> </a:t>
            </a:r>
            <a:r>
              <a:rPr sz="1200" dirty="0" err="1">
                <a:solidFill>
                  <a:srgbClr val="CBD2E0"/>
                </a:solidFill>
                <a:latin typeface="Consolas"/>
              </a:rPr>
              <a:t>explota</a:t>
            </a:r>
            <a:r>
              <a:rPr sz="1200" dirty="0">
                <a:solidFill>
                  <a:srgbClr val="CBD2E0"/>
                </a:solidFill>
                <a:latin typeface="Consolas"/>
              </a:rPr>
              <a:t> </a:t>
            </a:r>
            <a:r>
              <a:rPr sz="1200" dirty="0" err="1">
                <a:solidFill>
                  <a:srgbClr val="CBD2E0"/>
                </a:solidFill>
                <a:latin typeface="Consolas"/>
              </a:rPr>
              <a:t>el</a:t>
            </a:r>
            <a:r>
              <a:rPr sz="1200" dirty="0">
                <a:solidFill>
                  <a:srgbClr val="CBD2E0"/>
                </a:solidFill>
                <a:latin typeface="Consolas"/>
              </a:rPr>
              <a:t> hardware.</a:t>
            </a:r>
          </a:p>
        </p:txBody>
      </p:sp>
      <p:sp>
        <p:nvSpPr>
          <p:cNvPr id="9" name="Rectangle 8"/>
          <p:cNvSpPr/>
          <p:nvPr/>
        </p:nvSpPr>
        <p:spPr>
          <a:xfrm>
            <a:off x="6126480" y="1170432"/>
            <a:ext cx="5669280" cy="256032"/>
          </a:xfrm>
          <a:prstGeom prst="rect">
            <a:avLst/>
          </a:prstGeom>
          <a:solidFill>
            <a:srgbClr val="5B2C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199632" y="1143000"/>
            <a:ext cx="5522976" cy="307777"/>
          </a:xfrm>
          <a:prstGeom prst="rect">
            <a:avLst/>
          </a:prstGeom>
          <a:noFill/>
        </p:spPr>
        <p:txBody>
          <a:bodyPr wrap="square">
            <a:spAutoFit/>
          </a:bodyPr>
          <a:lstStyle/>
          <a:p>
            <a:pPr algn="l"/>
            <a:r>
              <a:rPr sz="1400" b="1" i="0" dirty="0" err="1">
                <a:solidFill>
                  <a:srgbClr val="FFFFFF"/>
                </a:solidFill>
                <a:latin typeface="Calibri"/>
              </a:rPr>
              <a:t>Ensamblador</a:t>
            </a:r>
            <a:r>
              <a:rPr sz="1400" b="1" i="0" dirty="0">
                <a:solidFill>
                  <a:srgbClr val="FFFFFF"/>
                </a:solidFill>
                <a:latin typeface="Calibri"/>
              </a:rPr>
              <a:t> </a:t>
            </a:r>
            <a:r>
              <a:rPr sz="1400" b="1" i="0" dirty="0" err="1">
                <a:solidFill>
                  <a:srgbClr val="FFFFFF"/>
                </a:solidFill>
                <a:latin typeface="Calibri"/>
              </a:rPr>
              <a:t>generado</a:t>
            </a:r>
            <a:r>
              <a:rPr sz="1400" b="1" i="0" dirty="0">
                <a:solidFill>
                  <a:srgbClr val="FFFFFF"/>
                </a:solidFill>
                <a:latin typeface="Calibri"/>
              </a:rPr>
              <a:t> — </a:t>
            </a:r>
            <a:r>
              <a:rPr sz="1400" b="1" i="0" dirty="0" err="1">
                <a:solidFill>
                  <a:srgbClr val="FFFFFF"/>
                </a:solidFill>
                <a:latin typeface="Calibri"/>
              </a:rPr>
              <a:t>gcc</a:t>
            </a:r>
            <a:r>
              <a:rPr sz="1400" b="1" i="0" dirty="0">
                <a:solidFill>
                  <a:srgbClr val="FFFFFF"/>
                </a:solidFill>
                <a:latin typeface="Calibri"/>
              </a:rPr>
              <a:t> -O2</a:t>
            </a:r>
          </a:p>
        </p:txBody>
      </p:sp>
      <p:sp>
        <p:nvSpPr>
          <p:cNvPr id="11" name="Rectangle 10"/>
          <p:cNvSpPr/>
          <p:nvPr/>
        </p:nvSpPr>
        <p:spPr>
          <a:xfrm>
            <a:off x="6126480" y="1444752"/>
            <a:ext cx="5669280" cy="3364992"/>
          </a:xfrm>
          <a:prstGeom prst="rect">
            <a:avLst/>
          </a:prstGeom>
          <a:solidFill>
            <a:srgbClr val="1E1E2E"/>
          </a:solidFill>
          <a:ln w="9525">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17920" y="1517904"/>
            <a:ext cx="5647700" cy="2600712"/>
          </a:xfrm>
          <a:prstGeom prst="rect">
            <a:avLst/>
          </a:prstGeom>
          <a:noFill/>
        </p:spPr>
        <p:txBody>
          <a:bodyPr wrap="square">
            <a:spAutoFit/>
          </a:bodyPr>
          <a:lstStyle/>
          <a:p>
            <a:r>
              <a:rPr lang="es-ES" sz="1100" dirty="0">
                <a:solidFill>
                  <a:schemeClr val="accent1">
                    <a:lumMod val="20000"/>
                    <a:lumOff val="80000"/>
                  </a:schemeClr>
                </a:solidFill>
                <a:latin typeface="Consolas" panose="020B0609020204030204" pitchFamily="49" charset="0"/>
              </a:rPr>
              <a:t>; g++ -O2 -S V2_memoria_contigua.cpp</a:t>
            </a:r>
          </a:p>
          <a:p>
            <a:r>
              <a:rPr lang="es-ES" sz="1100" dirty="0">
                <a:solidFill>
                  <a:schemeClr val="accent1">
                    <a:lumMod val="20000"/>
                    <a:lumOff val="80000"/>
                  </a:schemeClr>
                </a:solidFill>
                <a:latin typeface="Consolas" panose="020B0609020204030204" pitchFamily="49" charset="0"/>
              </a:rPr>
              <a:t>.L32:</a:t>
            </a:r>
          </a:p>
          <a:p>
            <a:r>
              <a:rPr lang="es-ES" sz="1100" dirty="0" err="1">
                <a:solidFill>
                  <a:schemeClr val="accent1">
                    <a:lumMod val="20000"/>
                    <a:lumOff val="80000"/>
                  </a:schemeClr>
                </a:solidFill>
                <a:latin typeface="Consolas" panose="020B0609020204030204" pitchFamily="49" charset="0"/>
              </a:rPr>
              <a:t>movl</a:t>
            </a:r>
            <a:r>
              <a:rPr lang="es-ES" sz="1100" dirty="0">
                <a:solidFill>
                  <a:schemeClr val="accent1">
                    <a:lumMod val="20000"/>
                    <a:lumOff val="80000"/>
                  </a:schemeClr>
                </a:solidFill>
                <a:latin typeface="Consolas" panose="020B0609020204030204" pitchFamily="49" charset="0"/>
              </a:rPr>
              <a:t>  -4000(%</a:t>
            </a:r>
            <a:r>
              <a:rPr lang="es-ES" sz="1100" dirty="0" err="1">
                <a:solidFill>
                  <a:schemeClr val="accent1">
                    <a:lumMod val="20000"/>
                    <a:lumOff val="80000"/>
                  </a:schemeClr>
                </a:solidFill>
                <a:latin typeface="Consolas" panose="020B0609020204030204" pitchFamily="49" charset="0"/>
              </a:rPr>
              <a:t>rdx</a:t>
            </a:r>
            <a:r>
              <a:rPr lang="es-ES" sz="1100" dirty="0">
                <a:solidFill>
                  <a:schemeClr val="accent1">
                    <a:lumMod val="20000"/>
                    <a:lumOff val="80000"/>
                  </a:schemeClr>
                </a:solidFill>
                <a:latin typeface="Consolas" panose="020B0609020204030204" pitchFamily="49" charset="0"/>
              </a:rPr>
              <a:t>), %</a:t>
            </a:r>
            <a:r>
              <a:rPr lang="es-ES" sz="1100" dirty="0" err="1">
                <a:solidFill>
                  <a:schemeClr val="accent1">
                    <a:lumMod val="20000"/>
                    <a:lumOff val="80000"/>
                  </a:schemeClr>
                </a:solidFill>
                <a:latin typeface="Consolas" panose="020B0609020204030204" pitchFamily="49" charset="0"/>
              </a:rPr>
              <a:t>eax</a:t>
            </a:r>
            <a:r>
              <a:rPr lang="es-ES" sz="1100" dirty="0">
                <a:solidFill>
                  <a:schemeClr val="accent1">
                    <a:lumMod val="20000"/>
                    <a:lumOff val="80000"/>
                  </a:schemeClr>
                </a:solidFill>
                <a:latin typeface="Consolas" panose="020B0609020204030204" pitchFamily="49" charset="0"/>
              </a:rPr>
              <a:t>  ; vecino NW (Fila anterior)</a:t>
            </a:r>
          </a:p>
          <a:p>
            <a:r>
              <a:rPr lang="es-ES" sz="1100" dirty="0" err="1">
                <a:solidFill>
                  <a:schemeClr val="accent1">
                    <a:lumMod val="20000"/>
                    <a:lumOff val="80000"/>
                  </a:schemeClr>
                </a:solidFill>
                <a:latin typeface="Consolas" panose="020B0609020204030204" pitchFamily="49" charset="0"/>
              </a:rPr>
              <a:t>addl</a:t>
            </a:r>
            <a:r>
              <a:rPr lang="es-ES" sz="1100" dirty="0">
                <a:solidFill>
                  <a:schemeClr val="accent1">
                    <a:lumMod val="20000"/>
                    <a:lumOff val="80000"/>
                  </a:schemeClr>
                </a:solidFill>
                <a:latin typeface="Consolas" panose="020B0609020204030204" pitchFamily="49" charset="0"/>
              </a:rPr>
              <a:t>  -3996(%</a:t>
            </a:r>
            <a:r>
              <a:rPr lang="es-ES" sz="1100" dirty="0" err="1">
                <a:solidFill>
                  <a:schemeClr val="accent1">
                    <a:lumMod val="20000"/>
                    <a:lumOff val="80000"/>
                  </a:schemeClr>
                </a:solidFill>
                <a:latin typeface="Consolas" panose="020B0609020204030204" pitchFamily="49" charset="0"/>
              </a:rPr>
              <a:t>rdx</a:t>
            </a:r>
            <a:r>
              <a:rPr lang="es-ES" sz="1100" dirty="0">
                <a:solidFill>
                  <a:schemeClr val="accent1">
                    <a:lumMod val="20000"/>
                    <a:lumOff val="80000"/>
                  </a:schemeClr>
                </a:solidFill>
                <a:latin typeface="Consolas" panose="020B0609020204030204" pitchFamily="49" charset="0"/>
              </a:rPr>
              <a:t>), %</a:t>
            </a:r>
            <a:r>
              <a:rPr lang="es-ES" sz="1100" dirty="0" err="1">
                <a:solidFill>
                  <a:schemeClr val="accent1">
                    <a:lumMod val="20000"/>
                    <a:lumOff val="80000"/>
                  </a:schemeClr>
                </a:solidFill>
                <a:latin typeface="Consolas" panose="020B0609020204030204" pitchFamily="49" charset="0"/>
              </a:rPr>
              <a:t>eax</a:t>
            </a:r>
            <a:r>
              <a:rPr lang="es-ES" sz="1100" dirty="0">
                <a:solidFill>
                  <a:schemeClr val="accent1">
                    <a:lumMod val="20000"/>
                    <a:lumOff val="80000"/>
                  </a:schemeClr>
                </a:solidFill>
                <a:latin typeface="Consolas" panose="020B0609020204030204" pitchFamily="49" charset="0"/>
              </a:rPr>
              <a:t>  ; vecino N</a:t>
            </a:r>
          </a:p>
          <a:p>
            <a:r>
              <a:rPr lang="es-ES" sz="1100" dirty="0" err="1">
                <a:solidFill>
                  <a:schemeClr val="accent1">
                    <a:lumMod val="20000"/>
                    <a:lumOff val="80000"/>
                  </a:schemeClr>
                </a:solidFill>
                <a:latin typeface="Consolas" panose="020B0609020204030204" pitchFamily="49" charset="0"/>
              </a:rPr>
              <a:t>addl</a:t>
            </a:r>
            <a:r>
              <a:rPr lang="es-ES" sz="1100" dirty="0">
                <a:solidFill>
                  <a:schemeClr val="accent1">
                    <a:lumMod val="20000"/>
                    <a:lumOff val="80000"/>
                  </a:schemeClr>
                </a:solidFill>
                <a:latin typeface="Consolas" panose="020B0609020204030204" pitchFamily="49" charset="0"/>
              </a:rPr>
              <a:t>  -3992(%</a:t>
            </a:r>
            <a:r>
              <a:rPr lang="es-ES" sz="1100" dirty="0" err="1">
                <a:solidFill>
                  <a:schemeClr val="accent1">
                    <a:lumMod val="20000"/>
                    <a:lumOff val="80000"/>
                  </a:schemeClr>
                </a:solidFill>
                <a:latin typeface="Consolas" panose="020B0609020204030204" pitchFamily="49" charset="0"/>
              </a:rPr>
              <a:t>rdx</a:t>
            </a:r>
            <a:r>
              <a:rPr lang="es-ES" sz="1100" dirty="0">
                <a:solidFill>
                  <a:schemeClr val="accent1">
                    <a:lumMod val="20000"/>
                    <a:lumOff val="80000"/>
                  </a:schemeClr>
                </a:solidFill>
                <a:latin typeface="Consolas" panose="020B0609020204030204" pitchFamily="49" charset="0"/>
              </a:rPr>
              <a:t>), %</a:t>
            </a:r>
            <a:r>
              <a:rPr lang="es-ES" sz="1100" dirty="0" err="1">
                <a:solidFill>
                  <a:schemeClr val="accent1">
                    <a:lumMod val="20000"/>
                    <a:lumOff val="80000"/>
                  </a:schemeClr>
                </a:solidFill>
                <a:latin typeface="Consolas" panose="020B0609020204030204" pitchFamily="49" charset="0"/>
              </a:rPr>
              <a:t>eax</a:t>
            </a:r>
            <a:r>
              <a:rPr lang="es-ES" sz="1100" dirty="0">
                <a:solidFill>
                  <a:schemeClr val="accent1">
                    <a:lumMod val="20000"/>
                    <a:lumOff val="80000"/>
                  </a:schemeClr>
                </a:solidFill>
                <a:latin typeface="Consolas" panose="020B0609020204030204" pitchFamily="49" charset="0"/>
              </a:rPr>
              <a:t>  ; vecino NE</a:t>
            </a:r>
          </a:p>
          <a:p>
            <a:r>
              <a:rPr lang="es-ES" sz="1100" dirty="0" err="1">
                <a:solidFill>
                  <a:schemeClr val="accent1">
                    <a:lumMod val="20000"/>
                    <a:lumOff val="80000"/>
                  </a:schemeClr>
                </a:solidFill>
                <a:latin typeface="Consolas" panose="020B0609020204030204" pitchFamily="49" charset="0"/>
              </a:rPr>
              <a:t>addl</a:t>
            </a:r>
            <a:r>
              <a:rPr lang="es-ES" sz="1100" dirty="0">
                <a:solidFill>
                  <a:schemeClr val="accent1">
                    <a:lumMod val="20000"/>
                    <a:lumOff val="80000"/>
                  </a:schemeClr>
                </a:solidFill>
                <a:latin typeface="Consolas" panose="020B0609020204030204" pitchFamily="49" charset="0"/>
              </a:rPr>
              <a:t>  (%</a:t>
            </a:r>
            <a:r>
              <a:rPr lang="es-ES" sz="1100" dirty="0" err="1">
                <a:solidFill>
                  <a:schemeClr val="accent1">
                    <a:lumMod val="20000"/>
                    <a:lumOff val="80000"/>
                  </a:schemeClr>
                </a:solidFill>
                <a:latin typeface="Consolas" panose="020B0609020204030204" pitchFamily="49" charset="0"/>
              </a:rPr>
              <a:t>rdx</a:t>
            </a:r>
            <a:r>
              <a:rPr lang="es-ES" sz="1100" dirty="0">
                <a:solidFill>
                  <a:schemeClr val="accent1">
                    <a:lumMod val="20000"/>
                    <a:lumOff val="80000"/>
                  </a:schemeClr>
                </a:solidFill>
                <a:latin typeface="Consolas" panose="020B0609020204030204" pitchFamily="49" charset="0"/>
              </a:rPr>
              <a:t>), %</a:t>
            </a:r>
            <a:r>
              <a:rPr lang="es-ES" sz="1100" dirty="0" err="1">
                <a:solidFill>
                  <a:schemeClr val="accent1">
                    <a:lumMod val="20000"/>
                    <a:lumOff val="80000"/>
                  </a:schemeClr>
                </a:solidFill>
                <a:latin typeface="Consolas" panose="020B0609020204030204" pitchFamily="49" charset="0"/>
              </a:rPr>
              <a:t>eax</a:t>
            </a:r>
            <a:r>
              <a:rPr lang="es-ES" sz="1100" dirty="0">
                <a:solidFill>
                  <a:schemeClr val="accent1">
                    <a:lumMod val="20000"/>
                    <a:lumOff val="80000"/>
                  </a:schemeClr>
                </a:solidFill>
                <a:latin typeface="Consolas" panose="020B0609020204030204" pitchFamily="49" charset="0"/>
              </a:rPr>
              <a:t>       ; vecino W  (Fila actual)</a:t>
            </a:r>
          </a:p>
          <a:p>
            <a:r>
              <a:rPr lang="es-ES" sz="1100" dirty="0" err="1">
                <a:solidFill>
                  <a:schemeClr val="accent1">
                    <a:lumMod val="20000"/>
                    <a:lumOff val="80000"/>
                  </a:schemeClr>
                </a:solidFill>
                <a:latin typeface="Consolas" panose="020B0609020204030204" pitchFamily="49" charset="0"/>
              </a:rPr>
              <a:t>addl</a:t>
            </a:r>
            <a:r>
              <a:rPr lang="es-ES" sz="1100" dirty="0">
                <a:solidFill>
                  <a:schemeClr val="accent1">
                    <a:lumMod val="20000"/>
                    <a:lumOff val="80000"/>
                  </a:schemeClr>
                </a:solidFill>
                <a:latin typeface="Consolas" panose="020B0609020204030204" pitchFamily="49" charset="0"/>
              </a:rPr>
              <a:t>  8(%</a:t>
            </a:r>
            <a:r>
              <a:rPr lang="es-ES" sz="1100" dirty="0" err="1">
                <a:solidFill>
                  <a:schemeClr val="accent1">
                    <a:lumMod val="20000"/>
                    <a:lumOff val="80000"/>
                  </a:schemeClr>
                </a:solidFill>
                <a:latin typeface="Consolas" panose="020B0609020204030204" pitchFamily="49" charset="0"/>
              </a:rPr>
              <a:t>rdx</a:t>
            </a:r>
            <a:r>
              <a:rPr lang="es-ES" sz="1100" dirty="0">
                <a:solidFill>
                  <a:schemeClr val="accent1">
                    <a:lumMod val="20000"/>
                    <a:lumOff val="80000"/>
                  </a:schemeClr>
                </a:solidFill>
                <a:latin typeface="Consolas" panose="020B0609020204030204" pitchFamily="49" charset="0"/>
              </a:rPr>
              <a:t>), %</a:t>
            </a:r>
            <a:r>
              <a:rPr lang="es-ES" sz="1100" dirty="0" err="1">
                <a:solidFill>
                  <a:schemeClr val="accent1">
                    <a:lumMod val="20000"/>
                    <a:lumOff val="80000"/>
                  </a:schemeClr>
                </a:solidFill>
                <a:latin typeface="Consolas" panose="020B0609020204030204" pitchFamily="49" charset="0"/>
              </a:rPr>
              <a:t>eax</a:t>
            </a:r>
            <a:r>
              <a:rPr lang="es-ES" sz="1100" dirty="0">
                <a:solidFill>
                  <a:schemeClr val="accent1">
                    <a:lumMod val="20000"/>
                    <a:lumOff val="80000"/>
                  </a:schemeClr>
                </a:solidFill>
                <a:latin typeface="Consolas" panose="020B0609020204030204" pitchFamily="49" charset="0"/>
              </a:rPr>
              <a:t>      ; vecino E</a:t>
            </a:r>
          </a:p>
          <a:p>
            <a:r>
              <a:rPr lang="es-ES" sz="1100" dirty="0" err="1">
                <a:solidFill>
                  <a:schemeClr val="accent1">
                    <a:lumMod val="20000"/>
                    <a:lumOff val="80000"/>
                  </a:schemeClr>
                </a:solidFill>
                <a:latin typeface="Consolas" panose="020B0609020204030204" pitchFamily="49" charset="0"/>
              </a:rPr>
              <a:t>addl</a:t>
            </a:r>
            <a:r>
              <a:rPr lang="es-ES" sz="1100" dirty="0">
                <a:solidFill>
                  <a:schemeClr val="accent1">
                    <a:lumMod val="20000"/>
                    <a:lumOff val="80000"/>
                  </a:schemeClr>
                </a:solidFill>
                <a:latin typeface="Consolas" panose="020B0609020204030204" pitchFamily="49" charset="0"/>
              </a:rPr>
              <a:t>  4000(%</a:t>
            </a:r>
            <a:r>
              <a:rPr lang="es-ES" sz="1100" dirty="0" err="1">
                <a:solidFill>
                  <a:schemeClr val="accent1">
                    <a:lumMod val="20000"/>
                    <a:lumOff val="80000"/>
                  </a:schemeClr>
                </a:solidFill>
                <a:latin typeface="Consolas" panose="020B0609020204030204" pitchFamily="49" charset="0"/>
              </a:rPr>
              <a:t>rdx</a:t>
            </a:r>
            <a:r>
              <a:rPr lang="es-ES" sz="1100" dirty="0">
                <a:solidFill>
                  <a:schemeClr val="accent1">
                    <a:lumMod val="20000"/>
                    <a:lumOff val="80000"/>
                  </a:schemeClr>
                </a:solidFill>
                <a:latin typeface="Consolas" panose="020B0609020204030204" pitchFamily="49" charset="0"/>
              </a:rPr>
              <a:t>), %</a:t>
            </a:r>
            <a:r>
              <a:rPr lang="es-ES" sz="1100" dirty="0" err="1">
                <a:solidFill>
                  <a:schemeClr val="accent1">
                    <a:lumMod val="20000"/>
                    <a:lumOff val="80000"/>
                  </a:schemeClr>
                </a:solidFill>
                <a:latin typeface="Consolas" panose="020B0609020204030204" pitchFamily="49" charset="0"/>
              </a:rPr>
              <a:t>eax</a:t>
            </a:r>
            <a:r>
              <a:rPr lang="es-ES" sz="1100" dirty="0">
                <a:solidFill>
                  <a:schemeClr val="accent1">
                    <a:lumMod val="20000"/>
                    <a:lumOff val="80000"/>
                  </a:schemeClr>
                </a:solidFill>
                <a:latin typeface="Consolas" panose="020B0609020204030204" pitchFamily="49" charset="0"/>
              </a:rPr>
              <a:t>   ; vecino SW (Fila siguiente)</a:t>
            </a:r>
          </a:p>
          <a:p>
            <a:r>
              <a:rPr lang="es-ES" sz="1100" dirty="0" err="1">
                <a:solidFill>
                  <a:schemeClr val="accent1">
                    <a:lumMod val="20000"/>
                    <a:lumOff val="80000"/>
                  </a:schemeClr>
                </a:solidFill>
                <a:latin typeface="Consolas" panose="020B0609020204030204" pitchFamily="49" charset="0"/>
              </a:rPr>
              <a:t>addl</a:t>
            </a:r>
            <a:r>
              <a:rPr lang="es-ES" sz="1100" dirty="0">
                <a:solidFill>
                  <a:schemeClr val="accent1">
                    <a:lumMod val="20000"/>
                    <a:lumOff val="80000"/>
                  </a:schemeClr>
                </a:solidFill>
                <a:latin typeface="Consolas" panose="020B0609020204030204" pitchFamily="49" charset="0"/>
              </a:rPr>
              <a:t>  4004(%</a:t>
            </a:r>
            <a:r>
              <a:rPr lang="es-ES" sz="1100" dirty="0" err="1">
                <a:solidFill>
                  <a:schemeClr val="accent1">
                    <a:lumMod val="20000"/>
                    <a:lumOff val="80000"/>
                  </a:schemeClr>
                </a:solidFill>
                <a:latin typeface="Consolas" panose="020B0609020204030204" pitchFamily="49" charset="0"/>
              </a:rPr>
              <a:t>rdx</a:t>
            </a:r>
            <a:r>
              <a:rPr lang="es-ES" sz="1100" dirty="0">
                <a:solidFill>
                  <a:schemeClr val="accent1">
                    <a:lumMod val="20000"/>
                    <a:lumOff val="80000"/>
                  </a:schemeClr>
                </a:solidFill>
                <a:latin typeface="Consolas" panose="020B0609020204030204" pitchFamily="49" charset="0"/>
              </a:rPr>
              <a:t>), %</a:t>
            </a:r>
            <a:r>
              <a:rPr lang="es-ES" sz="1100" dirty="0" err="1">
                <a:solidFill>
                  <a:schemeClr val="accent1">
                    <a:lumMod val="20000"/>
                    <a:lumOff val="80000"/>
                  </a:schemeClr>
                </a:solidFill>
                <a:latin typeface="Consolas" panose="020B0609020204030204" pitchFamily="49" charset="0"/>
              </a:rPr>
              <a:t>eax</a:t>
            </a:r>
            <a:r>
              <a:rPr lang="es-ES" sz="1100" dirty="0">
                <a:solidFill>
                  <a:schemeClr val="accent1">
                    <a:lumMod val="20000"/>
                    <a:lumOff val="80000"/>
                  </a:schemeClr>
                </a:solidFill>
                <a:latin typeface="Consolas" panose="020B0609020204030204" pitchFamily="49" charset="0"/>
              </a:rPr>
              <a:t>   ; vecino S</a:t>
            </a:r>
          </a:p>
          <a:p>
            <a:r>
              <a:rPr lang="es-ES" sz="1100" dirty="0" err="1">
                <a:solidFill>
                  <a:schemeClr val="accent1">
                    <a:lumMod val="20000"/>
                    <a:lumOff val="80000"/>
                  </a:schemeClr>
                </a:solidFill>
                <a:latin typeface="Consolas" panose="020B0609020204030204" pitchFamily="49" charset="0"/>
              </a:rPr>
              <a:t>addl</a:t>
            </a:r>
            <a:r>
              <a:rPr lang="es-ES" sz="1100" dirty="0">
                <a:solidFill>
                  <a:schemeClr val="accent1">
                    <a:lumMod val="20000"/>
                    <a:lumOff val="80000"/>
                  </a:schemeClr>
                </a:solidFill>
                <a:latin typeface="Consolas" panose="020B0609020204030204" pitchFamily="49" charset="0"/>
              </a:rPr>
              <a:t>  4008(%</a:t>
            </a:r>
            <a:r>
              <a:rPr lang="es-ES" sz="1100" dirty="0" err="1">
                <a:solidFill>
                  <a:schemeClr val="accent1">
                    <a:lumMod val="20000"/>
                    <a:lumOff val="80000"/>
                  </a:schemeClr>
                </a:solidFill>
                <a:latin typeface="Consolas" panose="020B0609020204030204" pitchFamily="49" charset="0"/>
              </a:rPr>
              <a:t>rdx</a:t>
            </a:r>
            <a:r>
              <a:rPr lang="es-ES" sz="1100" dirty="0">
                <a:solidFill>
                  <a:schemeClr val="accent1">
                    <a:lumMod val="20000"/>
                    <a:lumOff val="80000"/>
                  </a:schemeClr>
                </a:solidFill>
                <a:latin typeface="Consolas" panose="020B0609020204030204" pitchFamily="49" charset="0"/>
              </a:rPr>
              <a:t>), %</a:t>
            </a:r>
            <a:r>
              <a:rPr lang="es-ES" sz="1100" dirty="0" err="1">
                <a:solidFill>
                  <a:schemeClr val="accent1">
                    <a:lumMod val="20000"/>
                    <a:lumOff val="80000"/>
                  </a:schemeClr>
                </a:solidFill>
                <a:latin typeface="Consolas" panose="020B0609020204030204" pitchFamily="49" charset="0"/>
              </a:rPr>
              <a:t>eax</a:t>
            </a:r>
            <a:r>
              <a:rPr lang="es-ES" sz="1100" dirty="0">
                <a:solidFill>
                  <a:schemeClr val="accent1">
                    <a:lumMod val="20000"/>
                    <a:lumOff val="80000"/>
                  </a:schemeClr>
                </a:solidFill>
                <a:latin typeface="Consolas" panose="020B0609020204030204" pitchFamily="49" charset="0"/>
              </a:rPr>
              <a:t>   ; vecino SE</a:t>
            </a:r>
          </a:p>
          <a:p>
            <a:r>
              <a:rPr lang="es-ES" sz="1100" dirty="0">
                <a:solidFill>
                  <a:schemeClr val="accent1">
                    <a:lumMod val="20000"/>
                    <a:lumOff val="80000"/>
                  </a:schemeClr>
                </a:solidFill>
                <a:latin typeface="Consolas" panose="020B0609020204030204" pitchFamily="49" charset="0"/>
              </a:rPr>
              <a:t>...</a:t>
            </a:r>
          </a:p>
          <a:p>
            <a:r>
              <a:rPr lang="es-ES" sz="1100" dirty="0">
                <a:solidFill>
                  <a:schemeClr val="accent1">
                    <a:lumMod val="20000"/>
                    <a:lumOff val="80000"/>
                  </a:schemeClr>
                </a:solidFill>
                <a:latin typeface="Consolas" panose="020B0609020204030204" pitchFamily="49" charset="0"/>
              </a:rPr>
              <a:t>.L38:</a:t>
            </a:r>
          </a:p>
          <a:p>
            <a:r>
              <a:rPr lang="es-ES" sz="1100" dirty="0" err="1">
                <a:solidFill>
                  <a:schemeClr val="accent1">
                    <a:lumMod val="20000"/>
                    <a:lumOff val="80000"/>
                  </a:schemeClr>
                </a:solidFill>
                <a:latin typeface="Consolas" panose="020B0609020204030204" pitchFamily="49" charset="0"/>
              </a:rPr>
              <a:t>cmpl</a:t>
            </a:r>
            <a:r>
              <a:rPr lang="es-ES" sz="1100" dirty="0">
                <a:solidFill>
                  <a:schemeClr val="accent1">
                    <a:lumMod val="20000"/>
                    <a:lumOff val="80000"/>
                  </a:schemeClr>
                </a:solidFill>
                <a:latin typeface="Consolas" panose="020B0609020204030204" pitchFamily="49" charset="0"/>
              </a:rPr>
              <a:t>  $3, %</a:t>
            </a:r>
            <a:r>
              <a:rPr lang="es-ES" sz="1100" dirty="0" err="1">
                <a:solidFill>
                  <a:schemeClr val="accent1">
                    <a:lumMod val="20000"/>
                    <a:lumOff val="80000"/>
                  </a:schemeClr>
                </a:solidFill>
                <a:latin typeface="Consolas" panose="020B0609020204030204" pitchFamily="49" charset="0"/>
              </a:rPr>
              <a:t>eax</a:t>
            </a:r>
            <a:endParaRPr lang="es-ES" sz="1100" dirty="0">
              <a:solidFill>
                <a:schemeClr val="accent1">
                  <a:lumMod val="20000"/>
                  <a:lumOff val="80000"/>
                </a:schemeClr>
              </a:solidFill>
              <a:latin typeface="Consolas" panose="020B0609020204030204" pitchFamily="49" charset="0"/>
            </a:endParaRPr>
          </a:p>
          <a:p>
            <a:r>
              <a:rPr lang="es-ES" sz="1100" dirty="0">
                <a:solidFill>
                  <a:schemeClr val="accent1">
                    <a:lumMod val="20000"/>
                    <a:lumOff val="80000"/>
                  </a:schemeClr>
                </a:solidFill>
                <a:latin typeface="Consolas" panose="020B0609020204030204" pitchFamily="49" charset="0"/>
              </a:rPr>
              <a:t>sete  %al                ; n==3, sin saltos condicionales (</a:t>
            </a:r>
            <a:r>
              <a:rPr lang="es-ES" sz="1100" dirty="0" err="1">
                <a:solidFill>
                  <a:schemeClr val="accent1">
                    <a:lumMod val="20000"/>
                    <a:lumOff val="80000"/>
                  </a:schemeClr>
                </a:solidFill>
                <a:latin typeface="Consolas" panose="020B0609020204030204" pitchFamily="49" charset="0"/>
              </a:rPr>
              <a:t>branch</a:t>
            </a:r>
            <a:r>
              <a:rPr lang="es-ES" sz="1100" dirty="0">
                <a:solidFill>
                  <a:schemeClr val="accent1">
                    <a:lumMod val="20000"/>
                    <a:lumOff val="80000"/>
                  </a:schemeClr>
                </a:solidFill>
                <a:latin typeface="Consolas" panose="020B0609020204030204" pitchFamily="49" charset="0"/>
              </a:rPr>
              <a:t>-free)</a:t>
            </a:r>
          </a:p>
          <a:p>
            <a:pPr>
              <a:spcBef>
                <a:spcPts val="0"/>
              </a:spcBef>
              <a:spcAft>
                <a:spcPts val="0"/>
              </a:spcAft>
            </a:pPr>
            <a:endParaRPr sz="900" dirty="0">
              <a:solidFill>
                <a:srgbClr val="CBD2E0"/>
              </a:solidFill>
              <a:latin typeface="Consolas"/>
            </a:endParaRPr>
          </a:p>
        </p:txBody>
      </p:sp>
      <p:sp>
        <p:nvSpPr>
          <p:cNvPr id="13" name="TextBox 12"/>
          <p:cNvSpPr txBox="1"/>
          <p:nvPr/>
        </p:nvSpPr>
        <p:spPr>
          <a:xfrm>
            <a:off x="365760" y="4663440"/>
            <a:ext cx="5577840" cy="307777"/>
          </a:xfrm>
          <a:prstGeom prst="rect">
            <a:avLst/>
          </a:prstGeom>
          <a:noFill/>
        </p:spPr>
        <p:txBody>
          <a:bodyPr wrap="square">
            <a:spAutoFit/>
          </a:bodyPr>
          <a:lstStyle/>
          <a:p>
            <a:pPr algn="l"/>
            <a:r>
              <a:rPr sz="1400" b="1" i="0" dirty="0">
                <a:solidFill>
                  <a:srgbClr val="1F3564"/>
                </a:solidFill>
                <a:latin typeface="Calibri"/>
              </a:rPr>
              <a:t>¿</a:t>
            </a:r>
            <a:r>
              <a:rPr sz="1400" b="1" i="0" dirty="0" err="1">
                <a:solidFill>
                  <a:srgbClr val="1F3564"/>
                </a:solidFill>
                <a:latin typeface="Calibri"/>
              </a:rPr>
              <a:t>Qué</a:t>
            </a:r>
            <a:r>
              <a:rPr sz="1400" b="1" i="0" dirty="0">
                <a:solidFill>
                  <a:srgbClr val="1F3564"/>
                </a:solidFill>
                <a:latin typeface="Calibri"/>
              </a:rPr>
              <a:t> es </a:t>
            </a:r>
            <a:r>
              <a:rPr sz="1400" b="1" i="0" dirty="0" err="1">
                <a:solidFill>
                  <a:srgbClr val="1F3564"/>
                </a:solidFill>
                <a:latin typeface="Calibri"/>
              </a:rPr>
              <a:t>el</a:t>
            </a:r>
            <a:r>
              <a:rPr sz="1400" b="1" i="0" dirty="0">
                <a:solidFill>
                  <a:srgbClr val="1F3564"/>
                </a:solidFill>
                <a:latin typeface="Calibri"/>
              </a:rPr>
              <a:t> ILP y </a:t>
            </a:r>
            <a:r>
              <a:rPr sz="1400" b="1" i="0" dirty="0" err="1">
                <a:solidFill>
                  <a:srgbClr val="1F3564"/>
                </a:solidFill>
                <a:latin typeface="Calibri"/>
              </a:rPr>
              <a:t>por</a:t>
            </a:r>
            <a:r>
              <a:rPr sz="1400" b="1" i="0" dirty="0">
                <a:solidFill>
                  <a:srgbClr val="1F3564"/>
                </a:solidFill>
                <a:latin typeface="Calibri"/>
              </a:rPr>
              <a:t> </a:t>
            </a:r>
            <a:r>
              <a:rPr sz="1400" b="1" i="0" dirty="0" err="1">
                <a:solidFill>
                  <a:srgbClr val="1F3564"/>
                </a:solidFill>
                <a:latin typeface="Calibri"/>
              </a:rPr>
              <a:t>qué</a:t>
            </a:r>
            <a:r>
              <a:rPr sz="1400" b="1" i="0" dirty="0">
                <a:solidFill>
                  <a:srgbClr val="1F3564"/>
                </a:solidFill>
                <a:latin typeface="Calibri"/>
              </a:rPr>
              <a:t> </a:t>
            </a:r>
            <a:r>
              <a:rPr sz="1400" b="1" i="0" dirty="0" err="1">
                <a:solidFill>
                  <a:srgbClr val="1F3564"/>
                </a:solidFill>
                <a:latin typeface="Calibri"/>
              </a:rPr>
              <a:t>aparece</a:t>
            </a:r>
            <a:r>
              <a:rPr sz="1400" b="1" i="0" dirty="0">
                <a:solidFill>
                  <a:srgbClr val="1F3564"/>
                </a:solidFill>
                <a:latin typeface="Calibri"/>
              </a:rPr>
              <a:t> </a:t>
            </a:r>
            <a:r>
              <a:rPr sz="1400" b="1" i="0" dirty="0" err="1">
                <a:solidFill>
                  <a:srgbClr val="1F3564"/>
                </a:solidFill>
                <a:latin typeface="Calibri"/>
              </a:rPr>
              <a:t>aquí</a:t>
            </a:r>
            <a:r>
              <a:rPr sz="1400" b="1" i="0" dirty="0">
                <a:solidFill>
                  <a:srgbClr val="1F3564"/>
                </a:solidFill>
                <a:latin typeface="Calibri"/>
              </a:rPr>
              <a:t>?</a:t>
            </a:r>
          </a:p>
        </p:txBody>
      </p:sp>
      <p:sp>
        <p:nvSpPr>
          <p:cNvPr id="14" name="TextBox 13"/>
          <p:cNvSpPr txBox="1"/>
          <p:nvPr/>
        </p:nvSpPr>
        <p:spPr>
          <a:xfrm>
            <a:off x="365760" y="4956048"/>
            <a:ext cx="5577840" cy="1369606"/>
          </a:xfrm>
          <a:prstGeom prst="rect">
            <a:avLst/>
          </a:prstGeom>
          <a:noFill/>
        </p:spPr>
        <p:txBody>
          <a:bodyPr wrap="square">
            <a:spAutoFit/>
          </a:bodyPr>
          <a:lstStyle/>
          <a:p>
            <a:pPr>
              <a:spcBef>
                <a:spcPts val="300"/>
              </a:spcBef>
            </a:pPr>
            <a:r>
              <a:rPr sz="1300" dirty="0">
                <a:solidFill>
                  <a:srgbClr val="000000"/>
                </a:solidFill>
                <a:latin typeface="Calibri"/>
              </a:rPr>
              <a:t>• Las 8 </a:t>
            </a:r>
            <a:r>
              <a:rPr sz="1300" dirty="0" err="1">
                <a:solidFill>
                  <a:srgbClr val="000000"/>
                </a:solidFill>
                <a:latin typeface="Calibri"/>
              </a:rPr>
              <a:t>sumas</a:t>
            </a:r>
            <a:r>
              <a:rPr sz="1300" dirty="0">
                <a:solidFill>
                  <a:srgbClr val="000000"/>
                </a:solidFill>
                <a:latin typeface="Calibri"/>
              </a:rPr>
              <a:t> de </a:t>
            </a:r>
            <a:r>
              <a:rPr sz="1300" dirty="0" err="1">
                <a:solidFill>
                  <a:srgbClr val="000000"/>
                </a:solidFill>
                <a:latin typeface="Calibri"/>
              </a:rPr>
              <a:t>vecinos</a:t>
            </a:r>
            <a:r>
              <a:rPr sz="1300" dirty="0">
                <a:solidFill>
                  <a:srgbClr val="000000"/>
                </a:solidFill>
                <a:latin typeface="Calibri"/>
              </a:rPr>
              <a:t> no </a:t>
            </a:r>
            <a:r>
              <a:rPr sz="1300" dirty="0" err="1">
                <a:solidFill>
                  <a:srgbClr val="000000"/>
                </a:solidFill>
                <a:latin typeface="Calibri"/>
              </a:rPr>
              <a:t>tienen</a:t>
            </a:r>
            <a:r>
              <a:rPr sz="1300" dirty="0">
                <a:solidFill>
                  <a:srgbClr val="000000"/>
                </a:solidFill>
                <a:latin typeface="Calibri"/>
              </a:rPr>
              <a:t> </a:t>
            </a:r>
            <a:r>
              <a:rPr sz="1300" dirty="0" err="1">
                <a:solidFill>
                  <a:srgbClr val="000000"/>
                </a:solidFill>
                <a:latin typeface="Calibri"/>
              </a:rPr>
              <a:t>dependencias</a:t>
            </a:r>
            <a:r>
              <a:rPr sz="1300" dirty="0">
                <a:solidFill>
                  <a:srgbClr val="000000"/>
                </a:solidFill>
                <a:latin typeface="Calibri"/>
              </a:rPr>
              <a:t> entre </a:t>
            </a:r>
            <a:r>
              <a:rPr sz="1300" dirty="0" err="1">
                <a:solidFill>
                  <a:srgbClr val="000000"/>
                </a:solidFill>
                <a:latin typeface="Calibri"/>
              </a:rPr>
              <a:t>sí</a:t>
            </a:r>
            <a:r>
              <a:rPr sz="1300" dirty="0">
                <a:solidFill>
                  <a:srgbClr val="000000"/>
                </a:solidFill>
                <a:latin typeface="Calibri"/>
              </a:rPr>
              <a:t> → CPU </a:t>
            </a:r>
            <a:r>
              <a:rPr sz="1300" dirty="0" err="1">
                <a:solidFill>
                  <a:srgbClr val="000000"/>
                </a:solidFill>
                <a:latin typeface="Calibri"/>
              </a:rPr>
              <a:t>puede</a:t>
            </a:r>
            <a:r>
              <a:rPr sz="1300" dirty="0">
                <a:solidFill>
                  <a:srgbClr val="000000"/>
                </a:solidFill>
                <a:latin typeface="Calibri"/>
              </a:rPr>
              <a:t> </a:t>
            </a:r>
            <a:r>
              <a:rPr sz="1300" dirty="0" err="1">
                <a:solidFill>
                  <a:srgbClr val="000000"/>
                </a:solidFill>
                <a:latin typeface="Calibri"/>
              </a:rPr>
              <a:t>emitirlas</a:t>
            </a:r>
            <a:r>
              <a:rPr sz="1300" dirty="0">
                <a:solidFill>
                  <a:srgbClr val="000000"/>
                </a:solidFill>
                <a:latin typeface="Calibri"/>
              </a:rPr>
              <a:t> </a:t>
            </a:r>
            <a:r>
              <a:rPr sz="1300" dirty="0" err="1">
                <a:solidFill>
                  <a:srgbClr val="000000"/>
                </a:solidFill>
                <a:latin typeface="Calibri"/>
              </a:rPr>
              <a:t>en</a:t>
            </a:r>
            <a:r>
              <a:rPr sz="1300" dirty="0">
                <a:solidFill>
                  <a:srgbClr val="000000"/>
                </a:solidFill>
                <a:latin typeface="Calibri"/>
              </a:rPr>
              <a:t> </a:t>
            </a:r>
            <a:r>
              <a:rPr sz="1300" dirty="0" err="1">
                <a:solidFill>
                  <a:srgbClr val="000000"/>
                </a:solidFill>
                <a:latin typeface="Calibri"/>
              </a:rPr>
              <a:t>paralelo</a:t>
            </a:r>
            <a:endParaRPr sz="1300" dirty="0">
              <a:solidFill>
                <a:srgbClr val="000000"/>
              </a:solidFill>
              <a:latin typeface="Calibri"/>
            </a:endParaRPr>
          </a:p>
          <a:p>
            <a:pPr>
              <a:spcBef>
                <a:spcPts val="300"/>
              </a:spcBef>
            </a:pPr>
            <a:r>
              <a:rPr sz="1300" dirty="0">
                <a:solidFill>
                  <a:srgbClr val="000000"/>
                </a:solidFill>
                <a:latin typeface="Calibri"/>
              </a:rPr>
              <a:t>• </a:t>
            </a:r>
            <a:r>
              <a:rPr sz="1300" dirty="0" err="1">
                <a:solidFill>
                  <a:srgbClr val="000000"/>
                </a:solidFill>
                <a:latin typeface="Calibri"/>
              </a:rPr>
              <a:t>Procesador</a:t>
            </a:r>
            <a:r>
              <a:rPr sz="1300" dirty="0">
                <a:solidFill>
                  <a:srgbClr val="000000"/>
                </a:solidFill>
                <a:latin typeface="Calibri"/>
              </a:rPr>
              <a:t> superscalar (i5-14600KF): </a:t>
            </a:r>
            <a:r>
              <a:rPr sz="1300" dirty="0" err="1">
                <a:solidFill>
                  <a:srgbClr val="000000"/>
                </a:solidFill>
                <a:latin typeface="Calibri"/>
              </a:rPr>
              <a:t>ejecuta</a:t>
            </a:r>
            <a:r>
              <a:rPr sz="1300" dirty="0">
                <a:solidFill>
                  <a:srgbClr val="000000"/>
                </a:solidFill>
                <a:latin typeface="Calibri"/>
              </a:rPr>
              <a:t> hasta 4–6 </a:t>
            </a:r>
            <a:r>
              <a:rPr sz="1300" dirty="0" err="1">
                <a:solidFill>
                  <a:srgbClr val="000000"/>
                </a:solidFill>
                <a:latin typeface="Calibri"/>
              </a:rPr>
              <a:t>instrucciones</a:t>
            </a:r>
            <a:r>
              <a:rPr sz="1300" dirty="0">
                <a:solidFill>
                  <a:srgbClr val="000000"/>
                </a:solidFill>
                <a:latin typeface="Calibri"/>
              </a:rPr>
              <a:t> </a:t>
            </a:r>
            <a:r>
              <a:rPr sz="1300" dirty="0" err="1">
                <a:solidFill>
                  <a:srgbClr val="000000"/>
                </a:solidFill>
                <a:latin typeface="Calibri"/>
              </a:rPr>
              <a:t>por</a:t>
            </a:r>
            <a:r>
              <a:rPr sz="1300" dirty="0">
                <a:solidFill>
                  <a:srgbClr val="000000"/>
                </a:solidFill>
                <a:latin typeface="Calibri"/>
              </a:rPr>
              <a:t> </a:t>
            </a:r>
            <a:r>
              <a:rPr sz="1300" dirty="0" err="1">
                <a:solidFill>
                  <a:srgbClr val="000000"/>
                </a:solidFill>
                <a:latin typeface="Calibri"/>
              </a:rPr>
              <a:t>ciclo</a:t>
            </a:r>
            <a:r>
              <a:rPr sz="1300" dirty="0">
                <a:solidFill>
                  <a:srgbClr val="000000"/>
                </a:solidFill>
                <a:latin typeface="Calibri"/>
              </a:rPr>
              <a:t> de </a:t>
            </a:r>
            <a:r>
              <a:rPr sz="1300" dirty="0" err="1">
                <a:solidFill>
                  <a:srgbClr val="000000"/>
                </a:solidFill>
                <a:latin typeface="Calibri"/>
              </a:rPr>
              <a:t>reloj</a:t>
            </a:r>
            <a:endParaRPr sz="1300" dirty="0">
              <a:solidFill>
                <a:srgbClr val="000000"/>
              </a:solidFill>
              <a:latin typeface="Calibri"/>
            </a:endParaRPr>
          </a:p>
          <a:p>
            <a:pPr>
              <a:spcBef>
                <a:spcPts val="300"/>
              </a:spcBef>
            </a:pPr>
            <a:r>
              <a:t>• -O2 genera código eficiente y la CPU superscalar/out-of-order aprovecha esas independencias</a:t>
            </a:r>
            <a:endParaRPr sz="1300" dirty="0">
              <a:solidFill>
                <a:srgbClr val="000000"/>
              </a:solidFill>
              <a:latin typeface="Calibri"/>
            </a:endParaRPr>
          </a:p>
        </p:txBody>
      </p:sp>
      <p:sp>
        <p:nvSpPr>
          <p:cNvPr id="15" name="TextBox 14"/>
          <p:cNvSpPr txBox="1"/>
          <p:nvPr/>
        </p:nvSpPr>
        <p:spPr>
          <a:xfrm>
            <a:off x="6112060" y="4846320"/>
            <a:ext cx="5669280" cy="307777"/>
          </a:xfrm>
          <a:prstGeom prst="rect">
            <a:avLst/>
          </a:prstGeom>
          <a:noFill/>
        </p:spPr>
        <p:txBody>
          <a:bodyPr wrap="square">
            <a:spAutoFit/>
          </a:bodyPr>
          <a:lstStyle/>
          <a:p>
            <a:pPr algn="l"/>
            <a:r>
              <a:rPr sz="1400" b="1" i="0" dirty="0" err="1">
                <a:solidFill>
                  <a:srgbClr val="1F3564"/>
                </a:solidFill>
                <a:latin typeface="Calibri"/>
              </a:rPr>
              <a:t>Optimizaciones</a:t>
            </a:r>
            <a:r>
              <a:rPr sz="1400" b="1" i="0" dirty="0">
                <a:solidFill>
                  <a:srgbClr val="1F3564"/>
                </a:solidFill>
                <a:latin typeface="Calibri"/>
              </a:rPr>
              <a:t> de -O2 </a:t>
            </a:r>
            <a:r>
              <a:rPr sz="1400" b="1" i="0" dirty="0" err="1">
                <a:solidFill>
                  <a:srgbClr val="1F3564"/>
                </a:solidFill>
                <a:latin typeface="Calibri"/>
              </a:rPr>
              <a:t>visibles</a:t>
            </a:r>
            <a:r>
              <a:rPr sz="1400" b="1" i="0" dirty="0">
                <a:solidFill>
                  <a:srgbClr val="1F3564"/>
                </a:solidFill>
                <a:latin typeface="Calibri"/>
              </a:rPr>
              <a:t> </a:t>
            </a:r>
            <a:r>
              <a:rPr sz="1400" b="1" i="0" dirty="0" err="1">
                <a:solidFill>
                  <a:srgbClr val="1F3564"/>
                </a:solidFill>
                <a:latin typeface="Calibri"/>
              </a:rPr>
              <a:t>en</a:t>
            </a:r>
            <a:r>
              <a:rPr sz="1400" b="1" i="0" dirty="0">
                <a:solidFill>
                  <a:srgbClr val="1F3564"/>
                </a:solidFill>
                <a:latin typeface="Calibri"/>
              </a:rPr>
              <a:t> </a:t>
            </a:r>
            <a:r>
              <a:rPr sz="1400" b="1" i="0" dirty="0" err="1">
                <a:solidFill>
                  <a:srgbClr val="1F3564"/>
                </a:solidFill>
                <a:latin typeface="Calibri"/>
              </a:rPr>
              <a:t>el</a:t>
            </a:r>
            <a:r>
              <a:rPr sz="1400" b="1" i="0" dirty="0">
                <a:solidFill>
                  <a:srgbClr val="1F3564"/>
                </a:solidFill>
                <a:latin typeface="Calibri"/>
              </a:rPr>
              <a:t> </a:t>
            </a:r>
            <a:r>
              <a:rPr sz="1400" b="1" i="0" dirty="0" err="1">
                <a:solidFill>
                  <a:srgbClr val="1F3564"/>
                </a:solidFill>
                <a:latin typeface="Calibri"/>
              </a:rPr>
              <a:t>ensamblador</a:t>
            </a:r>
            <a:endParaRPr sz="1400" b="1" i="0" dirty="0">
              <a:solidFill>
                <a:srgbClr val="1F3564"/>
              </a:solidFill>
              <a:latin typeface="Calibri"/>
            </a:endParaRPr>
          </a:p>
        </p:txBody>
      </p:sp>
      <p:sp>
        <p:nvSpPr>
          <p:cNvPr id="16" name="TextBox 15"/>
          <p:cNvSpPr txBox="1"/>
          <p:nvPr/>
        </p:nvSpPr>
        <p:spPr>
          <a:xfrm>
            <a:off x="6112060" y="5138928"/>
            <a:ext cx="5669280" cy="1569660"/>
          </a:xfrm>
          <a:prstGeom prst="rect">
            <a:avLst/>
          </a:prstGeom>
          <a:noFill/>
        </p:spPr>
        <p:txBody>
          <a:bodyPr wrap="square">
            <a:spAutoFit/>
          </a:bodyPr>
          <a:lstStyle/>
          <a:p>
            <a:pPr>
              <a:spcBef>
                <a:spcPts val="300"/>
              </a:spcBef>
            </a:pPr>
            <a:r>
              <a:rPr sz="1300" dirty="0">
                <a:solidFill>
                  <a:srgbClr val="000000"/>
                </a:solidFill>
                <a:latin typeface="Calibri"/>
              </a:rPr>
              <a:t>• Offsets </a:t>
            </a:r>
            <a:r>
              <a:rPr sz="1300" dirty="0" err="1">
                <a:solidFill>
                  <a:srgbClr val="000000"/>
                </a:solidFill>
                <a:latin typeface="Calibri"/>
              </a:rPr>
              <a:t>precalculados</a:t>
            </a:r>
            <a:r>
              <a:rPr sz="1300" dirty="0">
                <a:solidFill>
                  <a:srgbClr val="000000"/>
                </a:solidFill>
                <a:latin typeface="Calibri"/>
              </a:rPr>
              <a:t> </a:t>
            </a:r>
            <a:r>
              <a:rPr lang="es-ES" sz="1300" dirty="0">
                <a:solidFill>
                  <a:srgbClr val="000000"/>
                </a:solidFill>
                <a:latin typeface="Calibri"/>
              </a:rPr>
              <a:t>en memoria</a:t>
            </a:r>
            <a:r>
              <a:rPr sz="1300" dirty="0">
                <a:solidFill>
                  <a:srgbClr val="000000"/>
                </a:solidFill>
                <a:latin typeface="Calibri"/>
              </a:rPr>
              <a:t> (</a:t>
            </a:r>
            <a:r>
              <a:rPr lang="es-ES" sz="1300" dirty="0">
                <a:solidFill>
                  <a:srgbClr val="000000"/>
                </a:solidFill>
                <a:latin typeface="Calibri"/>
              </a:rPr>
              <a:t>ej.-4000,+4000</a:t>
            </a:r>
            <a:r>
              <a:rPr sz="1300" dirty="0">
                <a:solidFill>
                  <a:srgbClr val="000000"/>
                </a:solidFill>
                <a:latin typeface="Calibri"/>
              </a:rPr>
              <a:t>): cero </a:t>
            </a:r>
            <a:r>
              <a:rPr sz="1300" dirty="0" err="1">
                <a:solidFill>
                  <a:srgbClr val="000000"/>
                </a:solidFill>
                <a:latin typeface="Calibri"/>
              </a:rPr>
              <a:t>multiplicaciones</a:t>
            </a:r>
            <a:r>
              <a:rPr sz="1300" dirty="0">
                <a:solidFill>
                  <a:srgbClr val="000000"/>
                </a:solidFill>
                <a:latin typeface="Calibri"/>
              </a:rPr>
              <a:t> </a:t>
            </a:r>
            <a:r>
              <a:rPr sz="1300" dirty="0" err="1">
                <a:solidFill>
                  <a:srgbClr val="000000"/>
                </a:solidFill>
                <a:latin typeface="Calibri"/>
              </a:rPr>
              <a:t>dentro</a:t>
            </a:r>
            <a:r>
              <a:rPr sz="1300" dirty="0">
                <a:solidFill>
                  <a:srgbClr val="000000"/>
                </a:solidFill>
                <a:latin typeface="Calibri"/>
              </a:rPr>
              <a:t> del </a:t>
            </a:r>
            <a:r>
              <a:rPr sz="1300" dirty="0" err="1">
                <a:solidFill>
                  <a:srgbClr val="000000"/>
                </a:solidFill>
                <a:latin typeface="Calibri"/>
              </a:rPr>
              <a:t>bucle</a:t>
            </a:r>
            <a:r>
              <a:rPr sz="1300" dirty="0">
                <a:solidFill>
                  <a:srgbClr val="000000"/>
                </a:solidFill>
                <a:latin typeface="Calibri"/>
              </a:rPr>
              <a:t> j</a:t>
            </a:r>
            <a:r>
              <a:rPr lang="es-ES" sz="1300" dirty="0">
                <a:solidFill>
                  <a:srgbClr val="000000"/>
                </a:solidFill>
                <a:latin typeface="Calibri"/>
              </a:rPr>
              <a:t>. El compilador ya sabe a cuántos bytes exactos está la fila anterior y la siguiente. </a:t>
            </a:r>
            <a:endParaRPr sz="1300" dirty="0">
              <a:solidFill>
                <a:srgbClr val="000000"/>
              </a:solidFill>
              <a:latin typeface="Calibri"/>
            </a:endParaRPr>
          </a:p>
          <a:p>
            <a:pPr>
              <a:spcBef>
                <a:spcPts val="300"/>
              </a:spcBef>
            </a:pPr>
            <a:r>
              <a:rPr sz="1300" dirty="0">
                <a:solidFill>
                  <a:srgbClr val="000000"/>
                </a:solidFill>
                <a:latin typeface="Calibri"/>
              </a:rPr>
              <a:t>• </a:t>
            </a:r>
            <a:r>
              <a:rPr sz="1300" dirty="0" err="1">
                <a:solidFill>
                  <a:srgbClr val="000000"/>
                </a:solidFill>
                <a:latin typeface="Calibri"/>
              </a:rPr>
              <a:t>sete</a:t>
            </a:r>
            <a:r>
              <a:rPr sz="1300" dirty="0">
                <a:solidFill>
                  <a:srgbClr val="000000"/>
                </a:solidFill>
                <a:latin typeface="Calibri"/>
              </a:rPr>
              <a:t> + or (branch-free): </a:t>
            </a:r>
            <a:r>
              <a:rPr sz="1300" dirty="0" err="1">
                <a:solidFill>
                  <a:srgbClr val="000000"/>
                </a:solidFill>
                <a:latin typeface="Calibri"/>
              </a:rPr>
              <a:t>evita</a:t>
            </a:r>
            <a:r>
              <a:rPr sz="1300" dirty="0">
                <a:solidFill>
                  <a:srgbClr val="000000"/>
                </a:solidFill>
                <a:latin typeface="Calibri"/>
              </a:rPr>
              <a:t> </a:t>
            </a:r>
            <a:r>
              <a:rPr sz="1300" dirty="0" err="1">
                <a:solidFill>
                  <a:srgbClr val="000000"/>
                </a:solidFill>
                <a:latin typeface="Calibri"/>
              </a:rPr>
              <a:t>penalización</a:t>
            </a:r>
            <a:r>
              <a:rPr sz="1300" dirty="0">
                <a:solidFill>
                  <a:srgbClr val="000000"/>
                </a:solidFill>
                <a:latin typeface="Calibri"/>
              </a:rPr>
              <a:t> de ~15 </a:t>
            </a:r>
            <a:r>
              <a:rPr sz="1300" dirty="0" err="1">
                <a:solidFill>
                  <a:srgbClr val="000000"/>
                </a:solidFill>
                <a:latin typeface="Calibri"/>
              </a:rPr>
              <a:t>ciclos</a:t>
            </a:r>
            <a:r>
              <a:rPr sz="1300" dirty="0">
                <a:solidFill>
                  <a:srgbClr val="000000"/>
                </a:solidFill>
                <a:latin typeface="Calibri"/>
              </a:rPr>
              <a:t> </a:t>
            </a:r>
            <a:r>
              <a:rPr sz="1300" dirty="0" err="1">
                <a:solidFill>
                  <a:srgbClr val="000000"/>
                </a:solidFill>
                <a:latin typeface="Calibri"/>
              </a:rPr>
              <a:t>por</a:t>
            </a:r>
            <a:r>
              <a:rPr sz="1300" dirty="0">
                <a:solidFill>
                  <a:srgbClr val="000000"/>
                </a:solidFill>
                <a:latin typeface="Calibri"/>
              </a:rPr>
              <a:t> </a:t>
            </a:r>
            <a:r>
              <a:rPr sz="1300" dirty="0" err="1">
                <a:solidFill>
                  <a:srgbClr val="000000"/>
                </a:solidFill>
                <a:latin typeface="Calibri"/>
              </a:rPr>
              <a:t>salto</a:t>
            </a:r>
            <a:r>
              <a:rPr sz="1300" dirty="0">
                <a:solidFill>
                  <a:srgbClr val="000000"/>
                </a:solidFill>
                <a:latin typeface="Calibri"/>
              </a:rPr>
              <a:t> </a:t>
            </a:r>
            <a:r>
              <a:rPr sz="1300" dirty="0" err="1">
                <a:solidFill>
                  <a:srgbClr val="000000"/>
                </a:solidFill>
                <a:latin typeface="Calibri"/>
              </a:rPr>
              <a:t>condicional</a:t>
            </a:r>
            <a:r>
              <a:rPr sz="1300" dirty="0">
                <a:solidFill>
                  <a:srgbClr val="000000"/>
                </a:solidFill>
                <a:latin typeface="Calibri"/>
              </a:rPr>
              <a:t> mal </a:t>
            </a:r>
            <a:r>
              <a:rPr sz="1300" dirty="0" err="1">
                <a:solidFill>
                  <a:srgbClr val="000000"/>
                </a:solidFill>
                <a:latin typeface="Calibri"/>
              </a:rPr>
              <a:t>predicho</a:t>
            </a:r>
            <a:endParaRPr sz="1300" dirty="0">
              <a:solidFill>
                <a:srgbClr val="000000"/>
              </a:solidFill>
              <a:latin typeface="Calibri"/>
            </a:endParaRPr>
          </a:p>
          <a:p>
            <a:pPr>
              <a:spcBef>
                <a:spcPts val="300"/>
              </a:spcBef>
            </a:pPr>
            <a:r>
              <a:rPr sz="1300" dirty="0">
                <a:solidFill>
                  <a:srgbClr val="000000"/>
                </a:solidFill>
                <a:latin typeface="Calibri"/>
              </a:rPr>
              <a:t>• Este ILP es </a:t>
            </a:r>
            <a:r>
              <a:rPr sz="1300" dirty="0" err="1">
                <a:solidFill>
                  <a:srgbClr val="000000"/>
                </a:solidFill>
                <a:latin typeface="Calibri"/>
              </a:rPr>
              <a:t>heredado</a:t>
            </a:r>
            <a:r>
              <a:rPr sz="1300" dirty="0">
                <a:solidFill>
                  <a:srgbClr val="000000"/>
                </a:solidFill>
                <a:latin typeface="Calibri"/>
              </a:rPr>
              <a:t> </a:t>
            </a:r>
            <a:r>
              <a:rPr sz="1300" dirty="0" err="1">
                <a:solidFill>
                  <a:srgbClr val="000000"/>
                </a:solidFill>
                <a:latin typeface="Calibri"/>
              </a:rPr>
              <a:t>por</a:t>
            </a:r>
            <a:r>
              <a:rPr sz="1300" dirty="0">
                <a:solidFill>
                  <a:srgbClr val="000000"/>
                </a:solidFill>
                <a:latin typeface="Calibri"/>
              </a:rPr>
              <a:t> </a:t>
            </a:r>
            <a:r>
              <a:rPr sz="1300" dirty="0" err="1">
                <a:solidFill>
                  <a:srgbClr val="000000"/>
                </a:solidFill>
                <a:latin typeface="Calibri"/>
              </a:rPr>
              <a:t>todas</a:t>
            </a:r>
            <a:r>
              <a:rPr sz="1300" dirty="0">
                <a:solidFill>
                  <a:srgbClr val="000000"/>
                </a:solidFill>
                <a:latin typeface="Calibri"/>
              </a:rPr>
              <a:t> las </a:t>
            </a:r>
            <a:r>
              <a:rPr sz="1300" dirty="0" err="1">
                <a:solidFill>
                  <a:srgbClr val="000000"/>
                </a:solidFill>
                <a:latin typeface="Calibri"/>
              </a:rPr>
              <a:t>versiones</a:t>
            </a:r>
            <a:r>
              <a:rPr sz="1300" dirty="0">
                <a:solidFill>
                  <a:srgbClr val="000000"/>
                </a:solidFill>
                <a:latin typeface="Calibri"/>
              </a:rPr>
              <a:t> V2–V6: </a:t>
            </a:r>
            <a:r>
              <a:rPr sz="1300" dirty="0" err="1">
                <a:solidFill>
                  <a:srgbClr val="000000"/>
                </a:solidFill>
                <a:latin typeface="Calibri"/>
              </a:rPr>
              <a:t>el</a:t>
            </a:r>
            <a:r>
              <a:rPr sz="1300" dirty="0">
                <a:solidFill>
                  <a:srgbClr val="000000"/>
                </a:solidFill>
                <a:latin typeface="Calibri"/>
              </a:rPr>
              <a:t> </a:t>
            </a:r>
            <a:r>
              <a:rPr sz="1300" dirty="0" err="1">
                <a:solidFill>
                  <a:srgbClr val="000000"/>
                </a:solidFill>
                <a:latin typeface="Calibri"/>
              </a:rPr>
              <a:t>bucle</a:t>
            </a:r>
            <a:r>
              <a:rPr sz="1300" dirty="0">
                <a:solidFill>
                  <a:srgbClr val="000000"/>
                </a:solidFill>
                <a:latin typeface="Calibri"/>
              </a:rPr>
              <a:t> </a:t>
            </a:r>
            <a:r>
              <a:rPr sz="1300" dirty="0" err="1">
                <a:solidFill>
                  <a:srgbClr val="000000"/>
                </a:solidFill>
                <a:latin typeface="Calibri"/>
              </a:rPr>
              <a:t>interno</a:t>
            </a:r>
            <a:r>
              <a:rPr sz="1300" dirty="0">
                <a:solidFill>
                  <a:srgbClr val="000000"/>
                </a:solidFill>
                <a:latin typeface="Calibri"/>
              </a:rPr>
              <a:t> es </a:t>
            </a:r>
            <a:r>
              <a:rPr sz="1300" dirty="0" err="1">
                <a:solidFill>
                  <a:srgbClr val="000000"/>
                </a:solidFill>
                <a:latin typeface="Calibri"/>
              </a:rPr>
              <a:t>siempre</a:t>
            </a:r>
            <a:r>
              <a:rPr sz="1300" dirty="0">
                <a:solidFill>
                  <a:srgbClr val="000000"/>
                </a:solidFill>
                <a:latin typeface="Calibri"/>
              </a:rPr>
              <a:t> </a:t>
            </a:r>
            <a:r>
              <a:rPr sz="1300" dirty="0" err="1">
                <a:solidFill>
                  <a:srgbClr val="000000"/>
                </a:solidFill>
                <a:latin typeface="Calibri"/>
              </a:rPr>
              <a:t>el</a:t>
            </a:r>
            <a:r>
              <a:rPr sz="1300" dirty="0">
                <a:solidFill>
                  <a:srgbClr val="000000"/>
                </a:solidFill>
                <a:latin typeface="Calibri"/>
              </a:rPr>
              <a:t> </a:t>
            </a:r>
            <a:r>
              <a:rPr sz="1300" dirty="0" err="1">
                <a:solidFill>
                  <a:srgbClr val="000000"/>
                </a:solidFill>
                <a:latin typeface="Calibri"/>
              </a:rPr>
              <a:t>mismo</a:t>
            </a:r>
            <a:endParaRPr sz="1300" dirty="0">
              <a:solidFill>
                <a:srgbClr val="000000"/>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7899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12880" cy="658368"/>
          </a:xfrm>
          <a:prstGeom prst="rect">
            <a:avLst/>
          </a:prstGeom>
          <a:noFill/>
        </p:spPr>
        <p:txBody>
          <a:bodyPr wrap="square">
            <a:spAutoFit/>
          </a:bodyPr>
          <a:lstStyle/>
          <a:p>
            <a:pPr algn="l"/>
            <a:r>
              <a:rPr sz="2600" b="1" i="0">
                <a:solidFill>
                  <a:srgbClr val="FFFFFF"/>
                </a:solidFill>
                <a:latin typeface="Calibri"/>
              </a:rPr>
              <a:t>Análisis de Dependencias y Paralelismo Disponible</a:t>
            </a:r>
          </a:p>
        </p:txBody>
      </p:sp>
      <p:sp>
        <p:nvSpPr>
          <p:cNvPr id="4" name="TextBox 3"/>
          <p:cNvSpPr txBox="1"/>
          <p:nvPr/>
        </p:nvSpPr>
        <p:spPr>
          <a:xfrm>
            <a:off x="365760" y="1188720"/>
            <a:ext cx="11430000" cy="307777"/>
          </a:xfrm>
          <a:prstGeom prst="rect">
            <a:avLst/>
          </a:prstGeom>
          <a:noFill/>
        </p:spPr>
        <p:txBody>
          <a:bodyPr wrap="square">
            <a:spAutoFit/>
          </a:bodyPr>
          <a:lstStyle/>
          <a:p>
            <a:pPr algn="l"/>
            <a:r>
              <a:rPr sz="1400" b="1" i="0" dirty="0" err="1">
                <a:solidFill>
                  <a:srgbClr val="1F3564"/>
                </a:solidFill>
                <a:latin typeface="Calibri"/>
              </a:rPr>
              <a:t>Dependencia</a:t>
            </a:r>
            <a:r>
              <a:rPr sz="1400" b="1" i="0" dirty="0">
                <a:solidFill>
                  <a:srgbClr val="1F3564"/>
                </a:solidFill>
                <a:latin typeface="Calibri"/>
              </a:rPr>
              <a:t> temporal (no </a:t>
            </a:r>
            <a:r>
              <a:rPr sz="1400" b="1" i="0" dirty="0" err="1">
                <a:solidFill>
                  <a:srgbClr val="1F3564"/>
                </a:solidFill>
                <a:latin typeface="Calibri"/>
              </a:rPr>
              <a:t>paralelizable</a:t>
            </a:r>
            <a:r>
              <a:rPr sz="1400" b="1" i="0" dirty="0">
                <a:solidFill>
                  <a:srgbClr val="1F3564"/>
                </a:solidFill>
                <a:latin typeface="Calibri"/>
              </a:rPr>
              <a:t> entre </a:t>
            </a:r>
            <a:r>
              <a:rPr sz="1400" b="1" i="0" dirty="0" err="1">
                <a:solidFill>
                  <a:srgbClr val="1F3564"/>
                </a:solidFill>
                <a:latin typeface="Calibri"/>
              </a:rPr>
              <a:t>generaciones</a:t>
            </a:r>
            <a:r>
              <a:rPr sz="1400" b="1" i="0" dirty="0">
                <a:solidFill>
                  <a:srgbClr val="1F3564"/>
                </a:solidFill>
                <a:latin typeface="Calibri"/>
              </a:rPr>
              <a:t>)</a:t>
            </a:r>
          </a:p>
        </p:txBody>
      </p:sp>
      <p:sp>
        <p:nvSpPr>
          <p:cNvPr id="5" name="Rectangle 4"/>
          <p:cNvSpPr/>
          <p:nvPr/>
        </p:nvSpPr>
        <p:spPr>
          <a:xfrm>
            <a:off x="365760" y="1499616"/>
            <a:ext cx="11430000" cy="960120"/>
          </a:xfrm>
          <a:prstGeom prst="rect">
            <a:avLst/>
          </a:prstGeom>
          <a:solidFill>
            <a:srgbClr val="1E1E2E"/>
          </a:solidFill>
          <a:ln w="9525">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65878"/>
            <a:ext cx="4339650" cy="600164"/>
          </a:xfrm>
          <a:prstGeom prst="rect">
            <a:avLst/>
          </a:prstGeom>
          <a:noFill/>
        </p:spPr>
        <p:txBody>
          <a:bodyPr wrap="none">
            <a:spAutoFit/>
          </a:bodyPr>
          <a:lstStyle/>
          <a:p>
            <a:pPr>
              <a:spcBef>
                <a:spcPts val="0"/>
              </a:spcBef>
              <a:spcAft>
                <a:spcPts val="0"/>
              </a:spcAft>
            </a:pPr>
            <a:r>
              <a:rPr sz="1100" dirty="0">
                <a:solidFill>
                  <a:srgbClr val="CBD2E0"/>
                </a:solidFill>
                <a:latin typeface="Consolas"/>
              </a:rPr>
              <a:t>Generación g   →   Generación g + 1</a:t>
            </a:r>
          </a:p>
          <a:p>
            <a:pPr>
              <a:spcBef>
                <a:spcPts val="0"/>
              </a:spcBef>
              <a:spcAft>
                <a:spcPts val="0"/>
              </a:spcAft>
            </a:pPr>
            <a:endParaRPr sz="1100" dirty="0">
              <a:solidFill>
                <a:srgbClr val="CBD2E0"/>
              </a:solidFill>
              <a:latin typeface="Consolas"/>
            </a:endParaRPr>
          </a:p>
          <a:p>
            <a:pPr>
              <a:spcBef>
                <a:spcPts val="0"/>
              </a:spcBef>
              <a:spcAft>
                <a:spcPts val="0"/>
              </a:spcAft>
            </a:pPr>
            <a:r>
              <a:rPr sz="1100" dirty="0">
                <a:solidFill>
                  <a:srgbClr val="CBD2E0"/>
                </a:solidFill>
                <a:latin typeface="Consolas"/>
              </a:rPr>
              <a:t>No se </a:t>
            </a:r>
            <a:r>
              <a:rPr sz="1100" dirty="0" err="1">
                <a:solidFill>
                  <a:srgbClr val="CBD2E0"/>
                </a:solidFill>
                <a:latin typeface="Consolas"/>
              </a:rPr>
              <a:t>puede</a:t>
            </a:r>
            <a:r>
              <a:rPr sz="1100" dirty="0">
                <a:solidFill>
                  <a:srgbClr val="CBD2E0"/>
                </a:solidFill>
                <a:latin typeface="Consolas"/>
              </a:rPr>
              <a:t> </a:t>
            </a:r>
            <a:r>
              <a:rPr sz="1100" dirty="0" err="1">
                <a:solidFill>
                  <a:srgbClr val="CBD2E0"/>
                </a:solidFill>
                <a:latin typeface="Consolas"/>
              </a:rPr>
              <a:t>calcular</a:t>
            </a:r>
            <a:r>
              <a:rPr sz="1100" dirty="0">
                <a:solidFill>
                  <a:srgbClr val="CBD2E0"/>
                </a:solidFill>
                <a:latin typeface="Consolas"/>
              </a:rPr>
              <a:t> g+1 sin </a:t>
            </a:r>
            <a:r>
              <a:rPr sz="1100" dirty="0" err="1">
                <a:solidFill>
                  <a:srgbClr val="CBD2E0"/>
                </a:solidFill>
                <a:latin typeface="Consolas"/>
              </a:rPr>
              <a:t>completar</a:t>
            </a:r>
            <a:r>
              <a:rPr sz="1100" dirty="0">
                <a:solidFill>
                  <a:srgbClr val="CBD2E0"/>
                </a:solidFill>
                <a:latin typeface="Consolas"/>
              </a:rPr>
              <a:t> </a:t>
            </a:r>
            <a:r>
              <a:rPr sz="1100" dirty="0" err="1">
                <a:solidFill>
                  <a:srgbClr val="CBD2E0"/>
                </a:solidFill>
                <a:latin typeface="Consolas"/>
              </a:rPr>
              <a:t>íntegramente</a:t>
            </a:r>
            <a:r>
              <a:rPr sz="1100" dirty="0">
                <a:solidFill>
                  <a:srgbClr val="CBD2E0"/>
                </a:solidFill>
                <a:latin typeface="Consolas"/>
              </a:rPr>
              <a:t> g.</a:t>
            </a:r>
          </a:p>
        </p:txBody>
      </p:sp>
      <p:sp>
        <p:nvSpPr>
          <p:cNvPr id="7" name="TextBox 6"/>
          <p:cNvSpPr txBox="1"/>
          <p:nvPr/>
        </p:nvSpPr>
        <p:spPr>
          <a:xfrm>
            <a:off x="365760" y="2578608"/>
            <a:ext cx="11430000" cy="307777"/>
          </a:xfrm>
          <a:prstGeom prst="rect">
            <a:avLst/>
          </a:prstGeom>
          <a:noFill/>
        </p:spPr>
        <p:txBody>
          <a:bodyPr wrap="square">
            <a:spAutoFit/>
          </a:bodyPr>
          <a:lstStyle/>
          <a:p>
            <a:pPr algn="l"/>
            <a:r>
              <a:rPr sz="1400" b="1" i="0" dirty="0" err="1">
                <a:solidFill>
                  <a:srgbClr val="008240"/>
                </a:solidFill>
                <a:latin typeface="Calibri"/>
              </a:rPr>
              <a:t>Independencia</a:t>
            </a:r>
            <a:r>
              <a:rPr sz="1400" b="1" i="0" dirty="0">
                <a:solidFill>
                  <a:srgbClr val="008240"/>
                </a:solidFill>
                <a:latin typeface="Calibri"/>
              </a:rPr>
              <a:t> intra-</a:t>
            </a:r>
            <a:r>
              <a:rPr sz="1400" b="1" i="0" dirty="0" err="1">
                <a:solidFill>
                  <a:srgbClr val="008240"/>
                </a:solidFill>
                <a:latin typeface="Calibri"/>
              </a:rPr>
              <a:t>generación</a:t>
            </a:r>
            <a:r>
              <a:rPr sz="1400" b="1" i="0" dirty="0">
                <a:solidFill>
                  <a:srgbClr val="008240"/>
                </a:solidFill>
                <a:latin typeface="Calibri"/>
              </a:rPr>
              <a:t> — </a:t>
            </a:r>
            <a:r>
              <a:rPr sz="1400" b="1" i="0" dirty="0" err="1">
                <a:solidFill>
                  <a:srgbClr val="008240"/>
                </a:solidFill>
                <a:latin typeface="Calibri"/>
              </a:rPr>
              <a:t>paralelismo</a:t>
            </a:r>
            <a:r>
              <a:rPr sz="1400" b="1" i="0" dirty="0">
                <a:solidFill>
                  <a:srgbClr val="008240"/>
                </a:solidFill>
                <a:latin typeface="Calibri"/>
              </a:rPr>
              <a:t> de </a:t>
            </a:r>
            <a:r>
              <a:rPr sz="1400" b="1" i="0" dirty="0" err="1">
                <a:solidFill>
                  <a:srgbClr val="008240"/>
                </a:solidFill>
                <a:latin typeface="Calibri"/>
              </a:rPr>
              <a:t>datos</a:t>
            </a:r>
            <a:r>
              <a:rPr sz="1400" b="1" i="0" dirty="0">
                <a:solidFill>
                  <a:srgbClr val="008240"/>
                </a:solidFill>
                <a:latin typeface="Calibri"/>
              </a:rPr>
              <a:t> disponible</a:t>
            </a:r>
          </a:p>
        </p:txBody>
      </p:sp>
      <p:sp>
        <p:nvSpPr>
          <p:cNvPr id="8" name="TextBox 7"/>
          <p:cNvSpPr txBox="1"/>
          <p:nvPr/>
        </p:nvSpPr>
        <p:spPr>
          <a:xfrm>
            <a:off x="365760" y="2889504"/>
            <a:ext cx="11430000" cy="292388"/>
          </a:xfrm>
          <a:prstGeom prst="rect">
            <a:avLst/>
          </a:prstGeom>
          <a:noFill/>
        </p:spPr>
        <p:txBody>
          <a:bodyPr wrap="square">
            <a:spAutoFit/>
          </a:bodyPr>
          <a:lstStyle/>
          <a:p>
            <a:pPr algn="l"/>
            <a:r>
              <a:rPr sz="1300" b="0" i="0" dirty="0">
                <a:solidFill>
                  <a:srgbClr val="000000"/>
                </a:solidFill>
                <a:latin typeface="Calibri"/>
              </a:rPr>
              <a:t>Con doble buffer, </a:t>
            </a:r>
            <a:r>
              <a:rPr sz="1300" b="0" i="0" dirty="0" err="1">
                <a:solidFill>
                  <a:srgbClr val="000000"/>
                </a:solidFill>
                <a:latin typeface="Calibri"/>
              </a:rPr>
              <a:t>cada</a:t>
            </a:r>
            <a:r>
              <a:rPr sz="1300" b="0" i="0" dirty="0">
                <a:solidFill>
                  <a:srgbClr val="000000"/>
                </a:solidFill>
                <a:latin typeface="Calibri"/>
              </a:rPr>
              <a:t> </a:t>
            </a:r>
            <a:r>
              <a:rPr sz="1300" b="0" i="0" dirty="0" err="1">
                <a:solidFill>
                  <a:srgbClr val="000000"/>
                </a:solidFill>
                <a:latin typeface="Calibri"/>
              </a:rPr>
              <a:t>celda</a:t>
            </a:r>
            <a:r>
              <a:rPr sz="1300" b="0" i="0" dirty="0">
                <a:solidFill>
                  <a:srgbClr val="000000"/>
                </a:solidFill>
                <a:latin typeface="Calibri"/>
              </a:rPr>
              <a:t> (</a:t>
            </a:r>
            <a:r>
              <a:rPr sz="1300" b="0" i="0" dirty="0" err="1">
                <a:solidFill>
                  <a:srgbClr val="000000"/>
                </a:solidFill>
                <a:latin typeface="Calibri"/>
              </a:rPr>
              <a:t>i,j</a:t>
            </a:r>
            <a:r>
              <a:rPr sz="1300" b="0" i="0" dirty="0">
                <a:solidFill>
                  <a:srgbClr val="000000"/>
                </a:solidFill>
                <a:latin typeface="Calibri"/>
              </a:rPr>
              <a:t>) de la </a:t>
            </a:r>
            <a:r>
              <a:rPr sz="1300" b="0" i="0" dirty="0" err="1">
                <a:solidFill>
                  <a:srgbClr val="000000"/>
                </a:solidFill>
                <a:latin typeface="Calibri"/>
              </a:rPr>
              <a:t>generación</a:t>
            </a:r>
            <a:r>
              <a:rPr sz="1300" b="0" i="0" dirty="0">
                <a:solidFill>
                  <a:srgbClr val="000000"/>
                </a:solidFill>
                <a:latin typeface="Calibri"/>
              </a:rPr>
              <a:t> g solo lee de grid y escribe </a:t>
            </a:r>
            <a:r>
              <a:rPr sz="1300" b="0" i="0" dirty="0" err="1">
                <a:solidFill>
                  <a:srgbClr val="000000"/>
                </a:solidFill>
                <a:latin typeface="Calibri"/>
              </a:rPr>
              <a:t>en</a:t>
            </a:r>
            <a:r>
              <a:rPr sz="1300" b="0" i="0" dirty="0">
                <a:solidFill>
                  <a:srgbClr val="000000"/>
                </a:solidFill>
                <a:latin typeface="Calibri"/>
              </a:rPr>
              <a:t> </a:t>
            </a:r>
            <a:r>
              <a:rPr sz="1300" b="0" i="0" dirty="0" err="1">
                <a:solidFill>
                  <a:srgbClr val="000000"/>
                </a:solidFill>
                <a:latin typeface="Calibri"/>
              </a:rPr>
              <a:t>nextGrid</a:t>
            </a:r>
            <a:r>
              <a:rPr sz="1300" b="0" i="0" dirty="0">
                <a:solidFill>
                  <a:srgbClr val="000000"/>
                </a:solidFill>
                <a:latin typeface="Calibri"/>
              </a:rPr>
              <a:t> </a:t>
            </a:r>
            <a:r>
              <a:rPr sz="1300" b="0" i="0" dirty="0" err="1">
                <a:solidFill>
                  <a:srgbClr val="000000"/>
                </a:solidFill>
                <a:latin typeface="Calibri"/>
              </a:rPr>
              <a:t>en</a:t>
            </a:r>
            <a:r>
              <a:rPr sz="1300" b="0" i="0" dirty="0">
                <a:solidFill>
                  <a:srgbClr val="000000"/>
                </a:solidFill>
                <a:latin typeface="Calibri"/>
              </a:rPr>
              <a:t> </a:t>
            </a:r>
            <a:r>
              <a:rPr sz="1300" b="0" i="0" dirty="0" err="1">
                <a:solidFill>
                  <a:srgbClr val="000000"/>
                </a:solidFill>
                <a:latin typeface="Calibri"/>
              </a:rPr>
              <a:t>una</a:t>
            </a:r>
            <a:r>
              <a:rPr sz="1300" b="0" i="0" dirty="0">
                <a:solidFill>
                  <a:srgbClr val="000000"/>
                </a:solidFill>
                <a:latin typeface="Calibri"/>
              </a:rPr>
              <a:t> </a:t>
            </a:r>
            <a:r>
              <a:rPr sz="1300" b="0" i="0" dirty="0" err="1">
                <a:solidFill>
                  <a:srgbClr val="000000"/>
                </a:solidFill>
                <a:latin typeface="Calibri"/>
              </a:rPr>
              <a:t>posición</a:t>
            </a:r>
            <a:r>
              <a:rPr sz="1300" b="0" i="0" dirty="0">
                <a:solidFill>
                  <a:srgbClr val="000000"/>
                </a:solidFill>
                <a:latin typeface="Calibri"/>
              </a:rPr>
              <a:t> </a:t>
            </a:r>
            <a:r>
              <a:rPr sz="1300" b="0" i="0" dirty="0" err="1">
                <a:solidFill>
                  <a:srgbClr val="000000"/>
                </a:solidFill>
                <a:latin typeface="Calibri"/>
              </a:rPr>
              <a:t>distinta</a:t>
            </a:r>
            <a:r>
              <a:rPr sz="1300" b="0" i="0" dirty="0">
                <a:solidFill>
                  <a:srgbClr val="000000"/>
                </a:solidFill>
                <a:latin typeface="Calibri"/>
              </a:rPr>
              <a:t> para </a:t>
            </a:r>
            <a:r>
              <a:rPr sz="1300" b="0" i="0" dirty="0" err="1">
                <a:solidFill>
                  <a:srgbClr val="000000"/>
                </a:solidFill>
                <a:latin typeface="Calibri"/>
              </a:rPr>
              <a:t>cada</a:t>
            </a:r>
            <a:r>
              <a:rPr sz="1300" b="0" i="0" dirty="0">
                <a:solidFill>
                  <a:srgbClr val="000000"/>
                </a:solidFill>
                <a:latin typeface="Calibri"/>
              </a:rPr>
              <a:t> </a:t>
            </a:r>
            <a:r>
              <a:rPr sz="1300" b="0" i="0" dirty="0" err="1">
                <a:solidFill>
                  <a:srgbClr val="000000"/>
                </a:solidFill>
                <a:latin typeface="Calibri"/>
              </a:rPr>
              <a:t>hilo</a:t>
            </a:r>
            <a:r>
              <a:rPr sz="1300" b="0" i="0" dirty="0">
                <a:solidFill>
                  <a:srgbClr val="000000"/>
                </a:solidFill>
                <a:latin typeface="Calibri"/>
              </a:rPr>
              <a:t>. No </a:t>
            </a:r>
            <a:r>
              <a:rPr sz="1300" b="0" i="0" dirty="0" err="1">
                <a:solidFill>
                  <a:srgbClr val="000000"/>
                </a:solidFill>
                <a:latin typeface="Calibri"/>
              </a:rPr>
              <a:t>existe</a:t>
            </a:r>
            <a:r>
              <a:rPr sz="1300" b="0" i="0" dirty="0">
                <a:solidFill>
                  <a:srgbClr val="000000"/>
                </a:solidFill>
                <a:latin typeface="Calibri"/>
              </a:rPr>
              <a:t> </a:t>
            </a:r>
            <a:r>
              <a:rPr sz="1300" b="0" i="0" dirty="0" err="1">
                <a:solidFill>
                  <a:srgbClr val="000000"/>
                </a:solidFill>
                <a:latin typeface="Calibri"/>
              </a:rPr>
              <a:t>condición</a:t>
            </a:r>
            <a:r>
              <a:rPr sz="1300" b="0" i="0" dirty="0">
                <a:solidFill>
                  <a:srgbClr val="000000"/>
                </a:solidFill>
                <a:latin typeface="Calibri"/>
              </a:rPr>
              <a:t> de </a:t>
            </a:r>
            <a:r>
              <a:rPr sz="1300" b="0" i="0" dirty="0" err="1">
                <a:solidFill>
                  <a:srgbClr val="000000"/>
                </a:solidFill>
                <a:latin typeface="Calibri"/>
              </a:rPr>
              <a:t>carrera</a:t>
            </a:r>
            <a:r>
              <a:rPr sz="1200" b="0" i="0" dirty="0">
                <a:solidFill>
                  <a:srgbClr val="000000"/>
                </a:solidFill>
                <a:latin typeface="Calibri"/>
              </a:rPr>
              <a:t>.</a:t>
            </a:r>
          </a:p>
        </p:txBody>
      </p:sp>
      <p:sp>
        <p:nvSpPr>
          <p:cNvPr id="9" name="TextBox 8"/>
          <p:cNvSpPr txBox="1"/>
          <p:nvPr/>
        </p:nvSpPr>
        <p:spPr>
          <a:xfrm>
            <a:off x="365760" y="3291840"/>
            <a:ext cx="11430000" cy="307777"/>
          </a:xfrm>
          <a:prstGeom prst="rect">
            <a:avLst/>
          </a:prstGeom>
          <a:noFill/>
        </p:spPr>
        <p:txBody>
          <a:bodyPr wrap="square">
            <a:spAutoFit/>
          </a:bodyPr>
          <a:lstStyle/>
          <a:p>
            <a:pPr algn="l"/>
            <a:r>
              <a:rPr sz="1400" b="1" i="0" dirty="0" err="1">
                <a:solidFill>
                  <a:srgbClr val="1F3564"/>
                </a:solidFill>
                <a:latin typeface="Calibri"/>
              </a:rPr>
              <a:t>Tipos</a:t>
            </a:r>
            <a:r>
              <a:rPr sz="1400" b="1" i="0" dirty="0">
                <a:solidFill>
                  <a:srgbClr val="1F3564"/>
                </a:solidFill>
                <a:latin typeface="Calibri"/>
              </a:rPr>
              <a:t> de </a:t>
            </a:r>
            <a:r>
              <a:rPr sz="1400" b="1" i="0" dirty="0" err="1">
                <a:solidFill>
                  <a:srgbClr val="1F3564"/>
                </a:solidFill>
                <a:latin typeface="Calibri"/>
              </a:rPr>
              <a:t>paralelismo</a:t>
            </a:r>
            <a:r>
              <a:rPr sz="1400" b="1" i="0" dirty="0">
                <a:solidFill>
                  <a:srgbClr val="1F3564"/>
                </a:solidFill>
                <a:latin typeface="Calibri"/>
              </a:rPr>
              <a:t> </a:t>
            </a:r>
            <a:r>
              <a:rPr sz="1400" b="1" i="0" dirty="0" err="1">
                <a:solidFill>
                  <a:srgbClr val="1F3564"/>
                </a:solidFill>
                <a:latin typeface="Calibri"/>
              </a:rPr>
              <a:t>explotados</a:t>
            </a:r>
            <a:r>
              <a:rPr sz="1400" b="1" i="0" dirty="0">
                <a:solidFill>
                  <a:srgbClr val="1F3564"/>
                </a:solidFill>
                <a:latin typeface="Calibri"/>
              </a:rPr>
              <a:t> </a:t>
            </a:r>
            <a:r>
              <a:rPr sz="1400" b="1" i="0" dirty="0" err="1">
                <a:solidFill>
                  <a:srgbClr val="1F3564"/>
                </a:solidFill>
                <a:latin typeface="Calibri"/>
              </a:rPr>
              <a:t>en</a:t>
            </a:r>
            <a:r>
              <a:rPr sz="1400" b="1" i="0" dirty="0">
                <a:solidFill>
                  <a:srgbClr val="1F3564"/>
                </a:solidFill>
                <a:latin typeface="Calibri"/>
              </a:rPr>
              <a:t> </a:t>
            </a:r>
            <a:r>
              <a:rPr sz="1400" b="1" i="0" dirty="0" err="1">
                <a:solidFill>
                  <a:srgbClr val="1F3564"/>
                </a:solidFill>
                <a:latin typeface="Calibri"/>
              </a:rPr>
              <a:t>el</a:t>
            </a:r>
            <a:r>
              <a:rPr sz="1400" b="1" i="0" dirty="0">
                <a:solidFill>
                  <a:srgbClr val="1F3564"/>
                </a:solidFill>
                <a:latin typeface="Calibri"/>
              </a:rPr>
              <a:t> </a:t>
            </a:r>
            <a:r>
              <a:rPr sz="1400" b="1" i="0" dirty="0" err="1">
                <a:solidFill>
                  <a:srgbClr val="1F3564"/>
                </a:solidFill>
                <a:latin typeface="Calibri"/>
              </a:rPr>
              <a:t>proyecto</a:t>
            </a:r>
            <a:endParaRPr sz="1400" b="1" i="0" dirty="0">
              <a:solidFill>
                <a:srgbClr val="1F3564"/>
              </a:solidFill>
              <a:latin typeface="Calibri"/>
            </a:endParaRPr>
          </a:p>
        </p:txBody>
      </p:sp>
      <p:graphicFrame>
        <p:nvGraphicFramePr>
          <p:cNvPr id="10" name="Table 9"/>
          <p:cNvGraphicFramePr>
            <a:graphicFrameLocks noGrp="1"/>
          </p:cNvGraphicFramePr>
          <p:nvPr>
            <p:extLst>
              <p:ext uri="{D42A27DB-BD31-4B8C-83A1-F6EECF244321}">
                <p14:modId xmlns:p14="http://schemas.microsoft.com/office/powerpoint/2010/main" val="3574323818"/>
              </p:ext>
            </p:extLst>
          </p:nvPr>
        </p:nvGraphicFramePr>
        <p:xfrm>
          <a:off x="365760" y="3721608"/>
          <a:ext cx="11430000" cy="2752344"/>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tblGrid>
              <a:tr h="393192">
                <a:tc>
                  <a:txBody>
                    <a:bodyPr/>
                    <a:lstStyle/>
                    <a:p>
                      <a:pPr algn="ctr"/>
                      <a:r>
                        <a:rPr sz="1300" b="1" dirty="0">
                          <a:solidFill>
                            <a:srgbClr val="FFFFFF"/>
                          </a:solidFill>
                          <a:latin typeface="Calibri"/>
                        </a:rPr>
                        <a:t>Tipo</a:t>
                      </a:r>
                    </a:p>
                  </a:txBody>
                  <a:tcPr>
                    <a:solidFill>
                      <a:srgbClr val="1F3564"/>
                    </a:solidFill>
                  </a:tcPr>
                </a:tc>
                <a:tc>
                  <a:txBody>
                    <a:bodyPr/>
                    <a:lstStyle/>
                    <a:p>
                      <a:pPr algn="ctr"/>
                      <a:r>
                        <a:rPr sz="1300" b="1">
                          <a:solidFill>
                            <a:srgbClr val="FFFFFF"/>
                          </a:solidFill>
                          <a:latin typeface="Calibri"/>
                        </a:rPr>
                        <a:t>Técnica</a:t>
                      </a:r>
                    </a:p>
                  </a:txBody>
                  <a:tcPr>
                    <a:solidFill>
                      <a:srgbClr val="1F3564"/>
                    </a:solidFill>
                  </a:tcPr>
                </a:tc>
                <a:tc>
                  <a:txBody>
                    <a:bodyPr/>
                    <a:lstStyle/>
                    <a:p>
                      <a:pPr algn="ctr"/>
                      <a:r>
                        <a:rPr sz="1300" b="1">
                          <a:solidFill>
                            <a:srgbClr val="FFFFFF"/>
                          </a:solidFill>
                          <a:latin typeface="Calibri"/>
                        </a:rPr>
                        <a:t>Aplicación en el proyecto</a:t>
                      </a:r>
                    </a:p>
                  </a:txBody>
                  <a:tcPr>
                    <a:solidFill>
                      <a:srgbClr val="1F3564"/>
                    </a:solidFill>
                  </a:tcPr>
                </a:tc>
                <a:extLst>
                  <a:ext uri="{0D108BD9-81ED-4DB2-BD59-A6C34878D82A}">
                    <a16:rowId xmlns:a16="http://schemas.microsoft.com/office/drawing/2014/main" val="10000"/>
                  </a:ext>
                </a:extLst>
              </a:tr>
              <a:tr h="393192">
                <a:tc>
                  <a:txBody>
                    <a:bodyPr/>
                    <a:lstStyle/>
                    <a:p>
                      <a:pPr algn="l"/>
                      <a:r>
                        <a:rPr sz="1300" dirty="0">
                          <a:solidFill>
                            <a:srgbClr val="000000"/>
                          </a:solidFill>
                          <a:latin typeface="Calibri"/>
                        </a:rPr>
                        <a:t>ILP</a:t>
                      </a:r>
                    </a:p>
                  </a:txBody>
                  <a:tcPr>
                    <a:solidFill>
                      <a:srgbClr val="D6E4F7"/>
                    </a:solidFill>
                  </a:tcPr>
                </a:tc>
                <a:tc>
                  <a:txBody>
                    <a:bodyPr/>
                    <a:lstStyle/>
                    <a:p>
                      <a:pPr algn="ctr"/>
                      <a:r>
                        <a:rPr sz="1300">
                          <a:solidFill>
                            <a:srgbClr val="000000"/>
                          </a:solidFill>
                          <a:latin typeface="Calibri"/>
                        </a:rPr>
                        <a:t>Instrucción</a:t>
                      </a:r>
                    </a:p>
                  </a:txBody>
                  <a:tcPr>
                    <a:solidFill>
                      <a:srgbClr val="D6E4F7"/>
                    </a:solidFill>
                  </a:tcPr>
                </a:tc>
                <a:tc>
                  <a:txBody>
                    <a:bodyPr/>
                    <a:lstStyle/>
                    <a:p>
                      <a:pPr algn="ctr"/>
                      <a:r>
                        <a:rPr sz="1300">
                          <a:solidFill>
                            <a:srgbClr val="000000"/>
                          </a:solidFill>
                          <a:latin typeface="Calibri"/>
                        </a:rPr>
                        <a:t>Operaciones independientes al contar vecinos</a:t>
                      </a:r>
                    </a:p>
                  </a:txBody>
                  <a:tcPr>
                    <a:solidFill>
                      <a:srgbClr val="D6E4F7"/>
                    </a:solidFill>
                  </a:tcPr>
                </a:tc>
                <a:extLst>
                  <a:ext uri="{0D108BD9-81ED-4DB2-BD59-A6C34878D82A}">
                    <a16:rowId xmlns:a16="http://schemas.microsoft.com/office/drawing/2014/main" val="10001"/>
                  </a:ext>
                </a:extLst>
              </a:tr>
              <a:tr h="393192">
                <a:tc>
                  <a:txBody>
                    <a:bodyPr/>
                    <a:lstStyle/>
                    <a:p>
                      <a:pPr algn="l"/>
                      <a:r>
                        <a:rPr sz="1300" dirty="0">
                          <a:solidFill>
                            <a:srgbClr val="000000"/>
                          </a:solidFill>
                          <a:latin typeface="Calibri"/>
                        </a:rPr>
                        <a:t>DLP</a:t>
                      </a:r>
                    </a:p>
                  </a:txBody>
                  <a:tcPr>
                    <a:solidFill>
                      <a:srgbClr val="FFFFFF"/>
                    </a:solidFill>
                  </a:tcPr>
                </a:tc>
                <a:tc>
                  <a:txBody>
                    <a:bodyPr/>
                    <a:lstStyle/>
                    <a:p>
                      <a:pPr algn="ctr"/>
                      <a:r>
                        <a:rPr sz="1300" dirty="0">
                          <a:solidFill>
                            <a:srgbClr val="000000"/>
                          </a:solidFill>
                          <a:latin typeface="Calibri"/>
                        </a:rPr>
                        <a:t>Datos</a:t>
                      </a:r>
                    </a:p>
                  </a:txBody>
                  <a:tcPr>
                    <a:solidFill>
                      <a:srgbClr val="FFFFFF"/>
                    </a:solidFill>
                  </a:tcPr>
                </a:tc>
                <a:tc>
                  <a:txBody>
                    <a:bodyPr/>
                    <a:lstStyle/>
                    <a:p>
                      <a:pPr algn="ctr"/>
                      <a:r>
                        <a:rPr sz="1300">
                          <a:solidFill>
                            <a:srgbClr val="000000"/>
                          </a:solidFill>
                          <a:latin typeface="Calibri"/>
                        </a:rPr>
                        <a:t>Mismo cálculo aplicado a todas las celdas</a:t>
                      </a:r>
                    </a:p>
                  </a:txBody>
                  <a:tcPr>
                    <a:solidFill>
                      <a:srgbClr val="FFFFFF"/>
                    </a:solidFill>
                  </a:tcPr>
                </a:tc>
                <a:extLst>
                  <a:ext uri="{0D108BD9-81ED-4DB2-BD59-A6C34878D82A}">
                    <a16:rowId xmlns:a16="http://schemas.microsoft.com/office/drawing/2014/main" val="10002"/>
                  </a:ext>
                </a:extLst>
              </a:tr>
              <a:tr h="393192">
                <a:tc>
                  <a:txBody>
                    <a:bodyPr/>
                    <a:lstStyle/>
                    <a:p>
                      <a:pPr algn="l"/>
                      <a:r>
                        <a:rPr sz="1300" dirty="0">
                          <a:solidFill>
                            <a:srgbClr val="000000"/>
                          </a:solidFill>
                          <a:latin typeface="Calibri"/>
                        </a:rPr>
                        <a:t>TLP</a:t>
                      </a:r>
                    </a:p>
                  </a:txBody>
                  <a:tcPr>
                    <a:solidFill>
                      <a:srgbClr val="D6E4F7"/>
                    </a:solidFill>
                  </a:tcPr>
                </a:tc>
                <a:tc>
                  <a:txBody>
                    <a:bodyPr/>
                    <a:lstStyle/>
                    <a:p>
                      <a:pPr algn="ctr"/>
                      <a:r>
                        <a:rPr sz="1300" dirty="0" err="1">
                          <a:solidFill>
                            <a:srgbClr val="000000"/>
                          </a:solidFill>
                          <a:latin typeface="Calibri"/>
                        </a:rPr>
                        <a:t>Hilos</a:t>
                      </a:r>
                      <a:r>
                        <a:rPr sz="1300" dirty="0">
                          <a:solidFill>
                            <a:srgbClr val="000000"/>
                          </a:solidFill>
                          <a:latin typeface="Calibri"/>
                        </a:rPr>
                        <a:t> (OMP)</a:t>
                      </a:r>
                    </a:p>
                  </a:txBody>
                  <a:tcPr>
                    <a:solidFill>
                      <a:srgbClr val="D6E4F7"/>
                    </a:solidFill>
                  </a:tcPr>
                </a:tc>
                <a:tc>
                  <a:txBody>
                    <a:bodyPr/>
                    <a:lstStyle/>
                    <a:p>
                      <a:pPr algn="ctr"/>
                      <a:r>
                        <a:rPr sz="1300">
                          <a:solidFill>
                            <a:srgbClr val="000000"/>
                          </a:solidFill>
                          <a:latin typeface="Calibri"/>
                        </a:rPr>
                        <a:t>Reparto de filas entre hilos OpenMP</a:t>
                      </a:r>
                    </a:p>
                  </a:txBody>
                  <a:tcPr>
                    <a:solidFill>
                      <a:srgbClr val="D6E4F7"/>
                    </a:solidFill>
                  </a:tcPr>
                </a:tc>
                <a:extLst>
                  <a:ext uri="{0D108BD9-81ED-4DB2-BD59-A6C34878D82A}">
                    <a16:rowId xmlns:a16="http://schemas.microsoft.com/office/drawing/2014/main" val="10003"/>
                  </a:ext>
                </a:extLst>
              </a:tr>
              <a:tr h="393192">
                <a:tc>
                  <a:txBody>
                    <a:bodyPr/>
                    <a:lstStyle/>
                    <a:p>
                      <a:pPr algn="l"/>
                      <a:r>
                        <a:rPr sz="1300" dirty="0" err="1">
                          <a:solidFill>
                            <a:srgbClr val="000000"/>
                          </a:solidFill>
                          <a:latin typeface="Calibri"/>
                        </a:rPr>
                        <a:t>Distrib</a:t>
                      </a:r>
                      <a:r>
                        <a:rPr sz="1300" dirty="0">
                          <a:solidFill>
                            <a:srgbClr val="000000"/>
                          </a:solidFill>
                          <a:latin typeface="Calibri"/>
                        </a:rPr>
                        <a:t>.</a:t>
                      </a:r>
                    </a:p>
                  </a:txBody>
                  <a:tcPr>
                    <a:solidFill>
                      <a:srgbClr val="FFFFFF"/>
                    </a:solidFill>
                  </a:tcPr>
                </a:tc>
                <a:tc>
                  <a:txBody>
                    <a:bodyPr/>
                    <a:lstStyle/>
                    <a:p>
                      <a:pPr algn="ctr"/>
                      <a:r>
                        <a:rPr sz="1300">
                          <a:solidFill>
                            <a:srgbClr val="000000"/>
                          </a:solidFill>
                          <a:latin typeface="Calibri"/>
                        </a:rPr>
                        <a:t>Procesos (MPI)</a:t>
                      </a:r>
                    </a:p>
                  </a:txBody>
                  <a:tcPr>
                    <a:solidFill>
                      <a:srgbClr val="FFFFFF"/>
                    </a:solidFill>
                  </a:tcPr>
                </a:tc>
                <a:tc>
                  <a:txBody>
                    <a:bodyPr/>
                    <a:lstStyle/>
                    <a:p>
                      <a:pPr algn="ctr"/>
                      <a:r>
                        <a:rPr sz="1300" dirty="0" err="1">
                          <a:solidFill>
                            <a:srgbClr val="000000"/>
                          </a:solidFill>
                          <a:latin typeface="Calibri"/>
                        </a:rPr>
                        <a:t>Bloques</a:t>
                      </a:r>
                      <a:r>
                        <a:rPr sz="1300" dirty="0">
                          <a:solidFill>
                            <a:srgbClr val="000000"/>
                          </a:solidFill>
                          <a:latin typeface="Calibri"/>
                        </a:rPr>
                        <a:t> de </a:t>
                      </a:r>
                      <a:r>
                        <a:rPr sz="1300" dirty="0" err="1">
                          <a:solidFill>
                            <a:srgbClr val="000000"/>
                          </a:solidFill>
                          <a:latin typeface="Calibri"/>
                        </a:rPr>
                        <a:t>filas</a:t>
                      </a:r>
                      <a:r>
                        <a:rPr sz="1300" dirty="0">
                          <a:solidFill>
                            <a:srgbClr val="000000"/>
                          </a:solidFill>
                          <a:latin typeface="Calibri"/>
                        </a:rPr>
                        <a:t> entre </a:t>
                      </a:r>
                      <a:r>
                        <a:rPr sz="1300" dirty="0" err="1">
                          <a:solidFill>
                            <a:srgbClr val="000000"/>
                          </a:solidFill>
                          <a:latin typeface="Calibri"/>
                        </a:rPr>
                        <a:t>procesos</a:t>
                      </a:r>
                      <a:r>
                        <a:rPr sz="1300" dirty="0">
                          <a:solidFill>
                            <a:srgbClr val="000000"/>
                          </a:solidFill>
                          <a:latin typeface="Calibri"/>
                        </a:rPr>
                        <a:t> MPI</a:t>
                      </a:r>
                    </a:p>
                  </a:txBody>
                  <a:tcPr>
                    <a:solidFill>
                      <a:srgbClr val="FFFFFF"/>
                    </a:solidFill>
                  </a:tcPr>
                </a:tc>
                <a:extLst>
                  <a:ext uri="{0D108BD9-81ED-4DB2-BD59-A6C34878D82A}">
                    <a16:rowId xmlns:a16="http://schemas.microsoft.com/office/drawing/2014/main" val="10004"/>
                  </a:ext>
                </a:extLst>
              </a:tr>
              <a:tr h="393192">
                <a:tc>
                  <a:txBody>
                    <a:bodyPr/>
                    <a:lstStyle/>
                    <a:p>
                      <a:pPr algn="l"/>
                      <a:r>
                        <a:rPr sz="1300" dirty="0" err="1">
                          <a:solidFill>
                            <a:srgbClr val="000000"/>
                          </a:solidFill>
                          <a:latin typeface="Calibri"/>
                        </a:rPr>
                        <a:t>Híbrido</a:t>
                      </a:r>
                      <a:endParaRPr sz="1300" dirty="0">
                        <a:solidFill>
                          <a:srgbClr val="000000"/>
                        </a:solidFill>
                        <a:latin typeface="Calibri"/>
                      </a:endParaRPr>
                    </a:p>
                  </a:txBody>
                  <a:tcPr>
                    <a:solidFill>
                      <a:srgbClr val="D6E4F7"/>
                    </a:solidFill>
                  </a:tcPr>
                </a:tc>
                <a:tc>
                  <a:txBody>
                    <a:bodyPr/>
                    <a:lstStyle/>
                    <a:p>
                      <a:pPr algn="ctr"/>
                      <a:r>
                        <a:rPr sz="1300">
                          <a:solidFill>
                            <a:srgbClr val="000000"/>
                          </a:solidFill>
                          <a:latin typeface="Calibri"/>
                        </a:rPr>
                        <a:t>MPI + OpenMP</a:t>
                      </a:r>
                    </a:p>
                  </a:txBody>
                  <a:tcPr>
                    <a:solidFill>
                      <a:srgbClr val="D6E4F7"/>
                    </a:solidFill>
                  </a:tcPr>
                </a:tc>
                <a:tc>
                  <a:txBody>
                    <a:bodyPr/>
                    <a:lstStyle/>
                    <a:p>
                      <a:pPr algn="ctr"/>
                      <a:r>
                        <a:rPr sz="1300" dirty="0">
                          <a:solidFill>
                            <a:srgbClr val="000000"/>
                          </a:solidFill>
                          <a:latin typeface="Calibri"/>
                        </a:rPr>
                        <a:t>MPI entre </a:t>
                      </a:r>
                      <a:r>
                        <a:rPr sz="1300" dirty="0" err="1">
                          <a:solidFill>
                            <a:srgbClr val="000000"/>
                          </a:solidFill>
                          <a:latin typeface="Calibri"/>
                        </a:rPr>
                        <a:t>nodos</a:t>
                      </a:r>
                      <a:r>
                        <a:rPr sz="1300" dirty="0">
                          <a:solidFill>
                            <a:srgbClr val="000000"/>
                          </a:solidFill>
                          <a:latin typeface="Calibri"/>
                        </a:rPr>
                        <a:t> · OMP </a:t>
                      </a:r>
                      <a:r>
                        <a:rPr sz="1300" dirty="0" err="1">
                          <a:solidFill>
                            <a:srgbClr val="000000"/>
                          </a:solidFill>
                          <a:latin typeface="Calibri"/>
                        </a:rPr>
                        <a:t>dentro</a:t>
                      </a:r>
                      <a:r>
                        <a:rPr sz="1300" dirty="0">
                          <a:solidFill>
                            <a:srgbClr val="000000"/>
                          </a:solidFill>
                          <a:latin typeface="Calibri"/>
                        </a:rPr>
                        <a:t> de </a:t>
                      </a:r>
                      <a:r>
                        <a:rPr sz="1300" dirty="0" err="1">
                          <a:solidFill>
                            <a:srgbClr val="000000"/>
                          </a:solidFill>
                          <a:latin typeface="Calibri"/>
                        </a:rPr>
                        <a:t>cada</a:t>
                      </a:r>
                      <a:r>
                        <a:rPr sz="1300" dirty="0">
                          <a:solidFill>
                            <a:srgbClr val="000000"/>
                          </a:solidFill>
                          <a:latin typeface="Calibri"/>
                        </a:rPr>
                        <a:t> </a:t>
                      </a:r>
                      <a:r>
                        <a:rPr sz="1300" dirty="0" err="1">
                          <a:solidFill>
                            <a:srgbClr val="000000"/>
                          </a:solidFill>
                          <a:latin typeface="Calibri"/>
                        </a:rPr>
                        <a:t>proceso</a:t>
                      </a:r>
                      <a:endParaRPr sz="1300" dirty="0">
                        <a:solidFill>
                          <a:srgbClr val="000000"/>
                        </a:solidFill>
                        <a:latin typeface="Calibri"/>
                      </a:endParaRPr>
                    </a:p>
                  </a:txBody>
                  <a:tcPr>
                    <a:solidFill>
                      <a:srgbClr val="D6E4F7"/>
                    </a:solidFill>
                  </a:tcPr>
                </a:tc>
                <a:extLst>
                  <a:ext uri="{0D108BD9-81ED-4DB2-BD59-A6C34878D82A}">
                    <a16:rowId xmlns:a16="http://schemas.microsoft.com/office/drawing/2014/main" val="10005"/>
                  </a:ext>
                </a:extLst>
              </a:tr>
              <a:tr h="393192">
                <a:tc>
                  <a:txBody>
                    <a:bodyPr/>
                    <a:lstStyle/>
                    <a:p>
                      <a:pPr algn="l"/>
                      <a:r>
                        <a:rPr sz="1300">
                          <a:solidFill>
                            <a:srgbClr val="000000"/>
                          </a:solidFill>
                          <a:latin typeface="Calibri"/>
                        </a:rPr>
                        <a:t>GPU</a:t>
                      </a:r>
                    </a:p>
                  </a:txBody>
                  <a:tcPr>
                    <a:solidFill>
                      <a:srgbClr val="FFFFFF"/>
                    </a:solidFill>
                  </a:tcPr>
                </a:tc>
                <a:tc>
                  <a:txBody>
                    <a:bodyPr/>
                    <a:lstStyle/>
                    <a:p>
                      <a:pPr algn="ctr"/>
                      <a:r>
                        <a:rPr sz="1300" dirty="0">
                          <a:solidFill>
                            <a:srgbClr val="000000"/>
                          </a:solidFill>
                          <a:latin typeface="Calibri"/>
                        </a:rPr>
                        <a:t>CUDA</a:t>
                      </a:r>
                    </a:p>
                  </a:txBody>
                  <a:tcPr>
                    <a:solidFill>
                      <a:srgbClr val="FFFFFF"/>
                    </a:solidFill>
                  </a:tcPr>
                </a:tc>
                <a:tc>
                  <a:txBody>
                    <a:bodyPr/>
                    <a:lstStyle/>
                    <a:p>
                      <a:pPr algn="ctr"/>
                      <a:r>
                        <a:rPr lang="es-ES" sz="1300" dirty="0">
                          <a:solidFill>
                            <a:srgbClr val="000000"/>
                          </a:solidFill>
                          <a:latin typeface="+mn-lt"/>
                        </a:rPr>
                        <a:t>1 hilo lógico CUDA por celda</a:t>
                      </a:r>
                      <a:r>
                        <a:rPr sz="1300" dirty="0">
                          <a:solidFill>
                            <a:srgbClr val="000000"/>
                          </a:solidFill>
                          <a:latin typeface="Calibri"/>
                        </a:rPr>
                        <a:t>— </a:t>
                      </a:r>
                      <a:r>
                        <a:rPr sz="1300" dirty="0" err="1">
                          <a:solidFill>
                            <a:srgbClr val="000000"/>
                          </a:solidFill>
                          <a:latin typeface="Calibri"/>
                        </a:rPr>
                        <a:t>paralelismo</a:t>
                      </a:r>
                      <a:r>
                        <a:rPr sz="1300" dirty="0">
                          <a:solidFill>
                            <a:srgbClr val="000000"/>
                          </a:solidFill>
                          <a:latin typeface="Calibri"/>
                        </a:rPr>
                        <a:t> </a:t>
                      </a:r>
                      <a:r>
                        <a:rPr sz="1300" dirty="0" err="1">
                          <a:solidFill>
                            <a:srgbClr val="000000"/>
                          </a:solidFill>
                          <a:latin typeface="Calibri"/>
                        </a:rPr>
                        <a:t>masivo</a:t>
                      </a:r>
                      <a:endParaRPr sz="1300" dirty="0">
                        <a:solidFill>
                          <a:srgbClr val="000000"/>
                        </a:solidFill>
                        <a:latin typeface="Calibri"/>
                      </a:endParaRPr>
                    </a:p>
                  </a:txBody>
                  <a:tcPr>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7899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12880" cy="658368"/>
          </a:xfrm>
          <a:prstGeom prst="rect">
            <a:avLst/>
          </a:prstGeom>
          <a:noFill/>
        </p:spPr>
        <p:txBody>
          <a:bodyPr wrap="square">
            <a:spAutoFit/>
          </a:bodyPr>
          <a:lstStyle/>
          <a:p>
            <a:pPr algn="l"/>
            <a:r>
              <a:rPr sz="2600" b="1" i="0">
                <a:solidFill>
                  <a:srgbClr val="FFFFFF"/>
                </a:solidFill>
                <a:latin typeface="Calibri"/>
              </a:rPr>
              <a:t>Ley de Amdahl y Modelo del Tejado</a:t>
            </a:r>
          </a:p>
        </p:txBody>
      </p:sp>
      <p:sp>
        <p:nvSpPr>
          <p:cNvPr id="4" name="Rectangle 3"/>
          <p:cNvSpPr/>
          <p:nvPr/>
        </p:nvSpPr>
        <p:spPr>
          <a:xfrm>
            <a:off x="365760" y="1170432"/>
            <a:ext cx="4114800" cy="256032"/>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20624" y="1165625"/>
            <a:ext cx="3968496" cy="276999"/>
          </a:xfrm>
          <a:prstGeom prst="rect">
            <a:avLst/>
          </a:prstGeom>
          <a:noFill/>
        </p:spPr>
        <p:txBody>
          <a:bodyPr wrap="square">
            <a:spAutoFit/>
          </a:bodyPr>
          <a:lstStyle/>
          <a:p>
            <a:pPr algn="l"/>
            <a:r>
              <a:rPr sz="1200" b="1" i="0" dirty="0">
                <a:solidFill>
                  <a:srgbClr val="FFFFFF"/>
                </a:solidFill>
                <a:latin typeface="Calibri"/>
              </a:rPr>
              <a:t>Ley de Amdahl</a:t>
            </a:r>
          </a:p>
        </p:txBody>
      </p:sp>
      <p:sp>
        <p:nvSpPr>
          <p:cNvPr id="6" name="Rectangle 5"/>
          <p:cNvSpPr/>
          <p:nvPr/>
        </p:nvSpPr>
        <p:spPr>
          <a:xfrm>
            <a:off x="365760" y="1444752"/>
            <a:ext cx="4114800" cy="1600199"/>
          </a:xfrm>
          <a:prstGeom prst="rect">
            <a:avLst/>
          </a:prstGeom>
          <a:solidFill>
            <a:srgbClr val="1E1E2E"/>
          </a:solidFill>
          <a:ln w="9525">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517904"/>
            <a:ext cx="3931920" cy="1453895"/>
          </a:xfrm>
          <a:prstGeom prst="rect">
            <a:avLst/>
          </a:prstGeom>
          <a:noFill/>
        </p:spPr>
        <p:txBody>
          <a:bodyPr wrap="none">
            <a:spAutoFit/>
          </a:bodyPr>
          <a:lstStyle/>
          <a:p>
            <a:pPr>
              <a:spcBef>
                <a:spcPts val="0"/>
              </a:spcBef>
              <a:spcAft>
                <a:spcPts val="0"/>
              </a:spcAft>
            </a:pPr>
            <a:r>
              <a:rPr sz="1150">
                <a:solidFill>
                  <a:srgbClr val="CBD2E0"/>
                </a:solidFill>
                <a:latin typeface="Consolas"/>
              </a:rPr>
              <a:t>         1</a:t>
            </a:r>
          </a:p>
          <a:p>
            <a:pPr>
              <a:spcBef>
                <a:spcPts val="0"/>
              </a:spcBef>
              <a:spcAft>
                <a:spcPts val="0"/>
              </a:spcAft>
            </a:pPr>
            <a:r>
              <a:rPr sz="1150">
                <a:solidFill>
                  <a:srgbClr val="CBD2E0"/>
                </a:solidFill>
                <a:latin typeface="Consolas"/>
              </a:rPr>
              <a:t>S(n) = ─────────────</a:t>
            </a:r>
          </a:p>
          <a:p>
            <a:pPr>
              <a:spcBef>
                <a:spcPts val="0"/>
              </a:spcBef>
              <a:spcAft>
                <a:spcPts val="0"/>
              </a:spcAft>
            </a:pPr>
            <a:r>
              <a:rPr sz="1150">
                <a:solidFill>
                  <a:srgbClr val="CBD2E0"/>
                </a:solidFill>
                <a:latin typeface="Consolas"/>
              </a:rPr>
              <a:t>       (1–P) + P/n</a:t>
            </a:r>
          </a:p>
          <a:p>
            <a:pPr>
              <a:spcBef>
                <a:spcPts val="0"/>
              </a:spcBef>
              <a:spcAft>
                <a:spcPts val="0"/>
              </a:spcAft>
            </a:pPr>
            <a:endParaRPr sz="1150">
              <a:solidFill>
                <a:srgbClr val="CBD2E0"/>
              </a:solidFill>
              <a:latin typeface="Consolas"/>
            </a:endParaRPr>
          </a:p>
          <a:p>
            <a:pPr>
              <a:spcBef>
                <a:spcPts val="0"/>
              </a:spcBef>
              <a:spcAft>
                <a:spcPts val="0"/>
              </a:spcAft>
            </a:pPr>
            <a:r>
              <a:rPr sz="1150">
                <a:solidFill>
                  <a:srgbClr val="CBD2E0"/>
                </a:solidFill>
                <a:latin typeface="Consolas"/>
              </a:rPr>
              <a:t>P = fracción paralelizable</a:t>
            </a:r>
          </a:p>
          <a:p>
            <a:pPr>
              <a:spcBef>
                <a:spcPts val="0"/>
              </a:spcBef>
              <a:spcAft>
                <a:spcPts val="0"/>
              </a:spcAft>
            </a:pPr>
            <a:r>
              <a:rPr sz="1150">
                <a:solidFill>
                  <a:srgbClr val="CBD2E0"/>
                </a:solidFill>
                <a:latin typeface="Consolas"/>
              </a:rPr>
              <a:t>n = unidades de ejecución</a:t>
            </a:r>
          </a:p>
          <a:p>
            <a:pPr>
              <a:spcBef>
                <a:spcPts val="0"/>
              </a:spcBef>
              <a:spcAft>
                <a:spcPts val="0"/>
              </a:spcAft>
            </a:pPr>
            <a:r>
              <a:rPr sz="1150">
                <a:solidFill>
                  <a:srgbClr val="CBD2E0"/>
                </a:solidFill>
                <a:latin typeface="Consolas"/>
              </a:rPr>
              <a:t>1–P = parte siempre secuencial</a:t>
            </a:r>
          </a:p>
        </p:txBody>
      </p:sp>
      <p:sp>
        <p:nvSpPr>
          <p:cNvPr id="8" name="TextBox 7"/>
          <p:cNvSpPr txBox="1"/>
          <p:nvPr/>
        </p:nvSpPr>
        <p:spPr>
          <a:xfrm>
            <a:off x="365760" y="3127248"/>
            <a:ext cx="4114800" cy="307777"/>
          </a:xfrm>
          <a:prstGeom prst="rect">
            <a:avLst/>
          </a:prstGeom>
          <a:noFill/>
        </p:spPr>
        <p:txBody>
          <a:bodyPr wrap="square">
            <a:spAutoFit/>
          </a:bodyPr>
          <a:lstStyle/>
          <a:p>
            <a:pPr algn="l"/>
            <a:r>
              <a:rPr sz="1400" b="1" i="0" dirty="0">
                <a:solidFill>
                  <a:srgbClr val="1F3564"/>
                </a:solidFill>
                <a:latin typeface="Calibri"/>
              </a:rPr>
              <a:t>Partes no </a:t>
            </a:r>
            <a:r>
              <a:rPr sz="1400" b="1" i="0" dirty="0" err="1">
                <a:solidFill>
                  <a:srgbClr val="1F3564"/>
                </a:solidFill>
                <a:latin typeface="Calibri"/>
              </a:rPr>
              <a:t>paralelizables</a:t>
            </a:r>
            <a:r>
              <a:rPr sz="1400" b="1" i="0" dirty="0">
                <a:solidFill>
                  <a:srgbClr val="1F3564"/>
                </a:solidFill>
                <a:latin typeface="Calibri"/>
              </a:rPr>
              <a:t>:</a:t>
            </a:r>
          </a:p>
        </p:txBody>
      </p:sp>
      <p:sp>
        <p:nvSpPr>
          <p:cNvPr id="9" name="TextBox 8"/>
          <p:cNvSpPr txBox="1"/>
          <p:nvPr/>
        </p:nvSpPr>
        <p:spPr>
          <a:xfrm>
            <a:off x="365760" y="3419856"/>
            <a:ext cx="4114800" cy="1246495"/>
          </a:xfrm>
          <a:prstGeom prst="rect">
            <a:avLst/>
          </a:prstGeom>
          <a:noFill/>
        </p:spPr>
        <p:txBody>
          <a:bodyPr wrap="square">
            <a:spAutoFit/>
          </a:bodyPr>
          <a:lstStyle/>
          <a:p>
            <a:pPr>
              <a:spcBef>
                <a:spcPts val="300"/>
              </a:spcBef>
            </a:pPr>
            <a:r>
              <a:rPr sz="1300" dirty="0">
                <a:solidFill>
                  <a:srgbClr val="000000"/>
                </a:solidFill>
                <a:latin typeface="Calibri"/>
              </a:rPr>
              <a:t>• </a:t>
            </a:r>
            <a:r>
              <a:rPr sz="1300" dirty="0" err="1">
                <a:solidFill>
                  <a:srgbClr val="000000"/>
                </a:solidFill>
                <a:latin typeface="Calibri"/>
              </a:rPr>
              <a:t>Inicialización</a:t>
            </a:r>
            <a:r>
              <a:rPr sz="1300" dirty="0">
                <a:solidFill>
                  <a:srgbClr val="000000"/>
                </a:solidFill>
                <a:latin typeface="Calibri"/>
              </a:rPr>
              <a:t> y </a:t>
            </a:r>
            <a:r>
              <a:rPr sz="1300" dirty="0" err="1">
                <a:solidFill>
                  <a:srgbClr val="000000"/>
                </a:solidFill>
                <a:latin typeface="Calibri"/>
              </a:rPr>
              <a:t>conteo</a:t>
            </a:r>
            <a:r>
              <a:rPr sz="1300" dirty="0">
                <a:solidFill>
                  <a:srgbClr val="000000"/>
                </a:solidFill>
                <a:latin typeface="Calibri"/>
              </a:rPr>
              <a:t> final</a:t>
            </a:r>
          </a:p>
          <a:p>
            <a:pPr>
              <a:spcBef>
                <a:spcPts val="300"/>
              </a:spcBef>
            </a:pPr>
            <a:r>
              <a:rPr sz="1300" dirty="0">
                <a:solidFill>
                  <a:srgbClr val="000000"/>
                </a:solidFill>
                <a:latin typeface="Calibri"/>
              </a:rPr>
              <a:t>• </a:t>
            </a:r>
            <a:r>
              <a:rPr sz="1300" dirty="0" err="1">
                <a:solidFill>
                  <a:srgbClr val="000000"/>
                </a:solidFill>
                <a:latin typeface="Calibri"/>
              </a:rPr>
              <a:t>Sincronización</a:t>
            </a:r>
            <a:r>
              <a:rPr sz="1300" dirty="0">
                <a:solidFill>
                  <a:srgbClr val="000000"/>
                </a:solidFill>
                <a:latin typeface="Calibri"/>
              </a:rPr>
              <a:t> entre </a:t>
            </a:r>
            <a:r>
              <a:rPr sz="1300" dirty="0" err="1">
                <a:solidFill>
                  <a:srgbClr val="000000"/>
                </a:solidFill>
                <a:latin typeface="Calibri"/>
              </a:rPr>
              <a:t>generaciones</a:t>
            </a:r>
            <a:endParaRPr sz="1300" dirty="0">
              <a:solidFill>
                <a:srgbClr val="000000"/>
              </a:solidFill>
              <a:latin typeface="Calibri"/>
            </a:endParaRPr>
          </a:p>
          <a:p>
            <a:pPr>
              <a:spcBef>
                <a:spcPts val="300"/>
              </a:spcBef>
            </a:pPr>
            <a:r>
              <a:rPr sz="1300" dirty="0">
                <a:solidFill>
                  <a:srgbClr val="000000"/>
                </a:solidFill>
                <a:latin typeface="Calibri"/>
              </a:rPr>
              <a:t>• </a:t>
            </a:r>
            <a:r>
              <a:rPr sz="1300" dirty="0" err="1">
                <a:solidFill>
                  <a:srgbClr val="000000"/>
                </a:solidFill>
                <a:latin typeface="Calibri"/>
              </a:rPr>
              <a:t>Intercambio</a:t>
            </a:r>
            <a:r>
              <a:rPr sz="1300" dirty="0">
                <a:solidFill>
                  <a:srgbClr val="000000"/>
                </a:solidFill>
                <a:latin typeface="Calibri"/>
              </a:rPr>
              <a:t> de </a:t>
            </a:r>
            <a:r>
              <a:rPr sz="1300" dirty="0" err="1">
                <a:solidFill>
                  <a:srgbClr val="000000"/>
                </a:solidFill>
                <a:latin typeface="Calibri"/>
              </a:rPr>
              <a:t>filas</a:t>
            </a:r>
            <a:r>
              <a:rPr sz="1300" dirty="0">
                <a:solidFill>
                  <a:srgbClr val="000000"/>
                </a:solidFill>
                <a:latin typeface="Calibri"/>
              </a:rPr>
              <a:t> </a:t>
            </a:r>
            <a:r>
              <a:rPr sz="1300" dirty="0" err="1">
                <a:solidFill>
                  <a:srgbClr val="000000"/>
                </a:solidFill>
                <a:latin typeface="Calibri"/>
              </a:rPr>
              <a:t>fantasma</a:t>
            </a:r>
            <a:r>
              <a:rPr sz="1300" dirty="0">
                <a:solidFill>
                  <a:srgbClr val="000000"/>
                </a:solidFill>
                <a:latin typeface="Calibri"/>
              </a:rPr>
              <a:t> (MPI)</a:t>
            </a:r>
          </a:p>
          <a:p>
            <a:pPr>
              <a:spcBef>
                <a:spcPts val="300"/>
              </a:spcBef>
            </a:pPr>
            <a:r>
              <a:t>• Transferencias CPU↔GPU si se mide ejecución completa</a:t>
            </a:r>
          </a:p>
          <a:p>
            <a:pPr>
              <a:spcBef>
                <a:spcPts val="300"/>
              </a:spcBef>
            </a:pPr>
            <a:r>
              <a:rPr sz="1300" dirty="0">
                <a:solidFill>
                  <a:srgbClr val="000000"/>
                </a:solidFill>
                <a:latin typeface="Calibri"/>
              </a:rPr>
              <a:t>• </a:t>
            </a:r>
            <a:r>
              <a:rPr sz="1300" dirty="0" err="1">
                <a:solidFill>
                  <a:srgbClr val="000000"/>
                </a:solidFill>
                <a:latin typeface="Calibri"/>
              </a:rPr>
              <a:t>MPI_Reduce</a:t>
            </a:r>
            <a:r>
              <a:rPr sz="1300" dirty="0">
                <a:solidFill>
                  <a:srgbClr val="000000"/>
                </a:solidFill>
                <a:latin typeface="Calibri"/>
              </a:rPr>
              <a:t> para </a:t>
            </a:r>
            <a:r>
              <a:rPr sz="1300" dirty="0" err="1">
                <a:solidFill>
                  <a:srgbClr val="000000"/>
                </a:solidFill>
                <a:latin typeface="Calibri"/>
              </a:rPr>
              <a:t>resultado</a:t>
            </a:r>
            <a:r>
              <a:rPr sz="1300" dirty="0">
                <a:solidFill>
                  <a:srgbClr val="000000"/>
                </a:solidFill>
                <a:latin typeface="Calibri"/>
              </a:rPr>
              <a:t> global</a:t>
            </a:r>
          </a:p>
        </p:txBody>
      </p:sp>
      <p:sp>
        <p:nvSpPr>
          <p:cNvPr id="10" name="Rectangle 9"/>
          <p:cNvSpPr/>
          <p:nvPr/>
        </p:nvSpPr>
        <p:spPr>
          <a:xfrm>
            <a:off x="4663440" y="1170432"/>
            <a:ext cx="7132320" cy="256032"/>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54879" y="1155843"/>
            <a:ext cx="6986016" cy="307777"/>
          </a:xfrm>
          <a:prstGeom prst="rect">
            <a:avLst/>
          </a:prstGeom>
          <a:noFill/>
        </p:spPr>
        <p:txBody>
          <a:bodyPr wrap="square">
            <a:spAutoFit/>
          </a:bodyPr>
          <a:lstStyle/>
          <a:p>
            <a:pPr algn="l"/>
            <a:r>
              <a:rPr sz="1400" b="1" i="0" dirty="0">
                <a:solidFill>
                  <a:srgbClr val="FFFFFF"/>
                </a:solidFill>
                <a:latin typeface="Calibri"/>
              </a:rPr>
              <a:t>Modelo del </a:t>
            </a:r>
            <a:r>
              <a:rPr sz="1400" b="1" i="0" dirty="0" err="1">
                <a:solidFill>
                  <a:srgbClr val="FFFFFF"/>
                </a:solidFill>
                <a:latin typeface="Calibri"/>
              </a:rPr>
              <a:t>Tejado</a:t>
            </a:r>
            <a:r>
              <a:rPr sz="1400" b="1" i="0" dirty="0">
                <a:solidFill>
                  <a:srgbClr val="FFFFFF"/>
                </a:solidFill>
                <a:latin typeface="Calibri"/>
              </a:rPr>
              <a:t> — </a:t>
            </a:r>
            <a:r>
              <a:rPr sz="1400" b="1" i="0" dirty="0" err="1">
                <a:solidFill>
                  <a:srgbClr val="FFFFFF"/>
                </a:solidFill>
                <a:latin typeface="Calibri"/>
              </a:rPr>
              <a:t>Intensidad</a:t>
            </a:r>
            <a:r>
              <a:rPr sz="1400" b="1" i="0" dirty="0">
                <a:solidFill>
                  <a:srgbClr val="FFFFFF"/>
                </a:solidFill>
                <a:latin typeface="Calibri"/>
              </a:rPr>
              <a:t> </a:t>
            </a:r>
            <a:r>
              <a:rPr sz="1400" b="1" i="0" dirty="0" err="1">
                <a:solidFill>
                  <a:srgbClr val="FFFFFF"/>
                </a:solidFill>
                <a:latin typeface="Calibri"/>
              </a:rPr>
              <a:t>Aritmética</a:t>
            </a:r>
            <a:endParaRPr sz="1400" b="1" i="0" dirty="0">
              <a:solidFill>
                <a:srgbClr val="FFFFFF"/>
              </a:solidFill>
              <a:latin typeface="Calibri"/>
            </a:endParaRPr>
          </a:p>
        </p:txBody>
      </p:sp>
      <p:sp>
        <p:nvSpPr>
          <p:cNvPr id="12" name="Rectangle 11"/>
          <p:cNvSpPr/>
          <p:nvPr/>
        </p:nvSpPr>
        <p:spPr>
          <a:xfrm>
            <a:off x="4663440" y="1444752"/>
            <a:ext cx="7132320" cy="1828799"/>
          </a:xfrm>
          <a:prstGeom prst="rect">
            <a:avLst/>
          </a:prstGeom>
          <a:solidFill>
            <a:srgbClr val="1E1E2E"/>
          </a:solidFill>
          <a:ln w="9525">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54879" y="1517904"/>
            <a:ext cx="3243196" cy="1569660"/>
          </a:xfrm>
          <a:prstGeom prst="rect">
            <a:avLst/>
          </a:prstGeom>
          <a:noFill/>
        </p:spPr>
        <p:txBody>
          <a:bodyPr wrap="none">
            <a:spAutoFit/>
          </a:bodyPr>
          <a:lstStyle/>
          <a:p>
            <a:pPr>
              <a:spcBef>
                <a:spcPts val="0"/>
              </a:spcBef>
              <a:spcAft>
                <a:spcPts val="0"/>
              </a:spcAft>
            </a:pPr>
            <a:r>
              <a:rPr sz="1200" dirty="0">
                <a:solidFill>
                  <a:srgbClr val="CBD2E0"/>
                </a:solidFill>
                <a:latin typeface="Consolas"/>
              </a:rPr>
              <a:t>Por </a:t>
            </a:r>
            <a:r>
              <a:rPr sz="1200" dirty="0" err="1">
                <a:solidFill>
                  <a:srgbClr val="CBD2E0"/>
                </a:solidFill>
                <a:latin typeface="Consolas"/>
              </a:rPr>
              <a:t>celda</a:t>
            </a:r>
            <a:r>
              <a:rPr sz="1200" dirty="0">
                <a:solidFill>
                  <a:srgbClr val="CBD2E0"/>
                </a:solidFill>
                <a:latin typeface="Consolas"/>
              </a:rPr>
              <a:t>:</a:t>
            </a:r>
          </a:p>
          <a:p>
            <a:pPr>
              <a:spcBef>
                <a:spcPts val="0"/>
              </a:spcBef>
              <a:spcAft>
                <a:spcPts val="0"/>
              </a:spcAft>
            </a:pPr>
            <a:r>
              <a:rPr sz="1200" dirty="0">
                <a:solidFill>
                  <a:srgbClr val="CBD2E0"/>
                </a:solidFill>
                <a:latin typeface="Consolas"/>
              </a:rPr>
              <a:t>  </a:t>
            </a:r>
            <a:r>
              <a:rPr sz="1200" dirty="0" err="1">
                <a:solidFill>
                  <a:srgbClr val="CBD2E0"/>
                </a:solidFill>
                <a:latin typeface="Consolas"/>
              </a:rPr>
              <a:t>Lecturas</a:t>
            </a:r>
            <a:r>
              <a:rPr sz="1200" dirty="0">
                <a:solidFill>
                  <a:srgbClr val="CBD2E0"/>
                </a:solidFill>
                <a:latin typeface="Consolas"/>
              </a:rPr>
              <a:t>:  9 </a:t>
            </a:r>
            <a:r>
              <a:rPr sz="1200" dirty="0" err="1">
                <a:solidFill>
                  <a:srgbClr val="CBD2E0"/>
                </a:solidFill>
                <a:latin typeface="Consolas"/>
              </a:rPr>
              <a:t>enteros</a:t>
            </a:r>
            <a:r>
              <a:rPr sz="1200" dirty="0">
                <a:solidFill>
                  <a:srgbClr val="CBD2E0"/>
                </a:solidFill>
                <a:latin typeface="Consolas"/>
              </a:rPr>
              <a:t> × 4 B = 36 B</a:t>
            </a:r>
          </a:p>
          <a:p>
            <a:pPr>
              <a:spcBef>
                <a:spcPts val="0"/>
              </a:spcBef>
              <a:spcAft>
                <a:spcPts val="0"/>
              </a:spcAft>
            </a:pPr>
            <a:r>
              <a:rPr sz="1200" dirty="0">
                <a:solidFill>
                  <a:srgbClr val="CBD2E0"/>
                </a:solidFill>
                <a:latin typeface="Consolas"/>
              </a:rPr>
              <a:t>  Escritura: 1 </a:t>
            </a:r>
            <a:r>
              <a:rPr sz="1200" dirty="0" err="1">
                <a:solidFill>
                  <a:srgbClr val="CBD2E0"/>
                </a:solidFill>
                <a:latin typeface="Consolas"/>
              </a:rPr>
              <a:t>entero</a:t>
            </a:r>
            <a:r>
              <a:rPr sz="1200" dirty="0">
                <a:solidFill>
                  <a:srgbClr val="CBD2E0"/>
                </a:solidFill>
                <a:latin typeface="Consolas"/>
              </a:rPr>
              <a:t>  × 4 B =  4 B</a:t>
            </a:r>
          </a:p>
          <a:p>
            <a:pPr>
              <a:spcBef>
                <a:spcPts val="0"/>
              </a:spcBef>
              <a:spcAft>
                <a:spcPts val="0"/>
              </a:spcAft>
            </a:pPr>
            <a:r>
              <a:rPr sz="1200" dirty="0">
                <a:solidFill>
                  <a:srgbClr val="CBD2E0"/>
                </a:solidFill>
                <a:latin typeface="Consolas"/>
              </a:rPr>
              <a:t>  Total:                    ≈ 40 B</a:t>
            </a:r>
          </a:p>
          <a:p>
            <a:pPr>
              <a:spcBef>
                <a:spcPts val="0"/>
              </a:spcBef>
              <a:spcAft>
                <a:spcPts val="0"/>
              </a:spcAft>
            </a:pPr>
            <a:r>
              <a:rPr sz="1200" dirty="0">
                <a:solidFill>
                  <a:srgbClr val="CBD2E0"/>
                </a:solidFill>
                <a:latin typeface="Consolas"/>
              </a:rPr>
              <a:t>  Ops: ~8 </a:t>
            </a:r>
            <a:r>
              <a:rPr sz="1200" dirty="0" err="1">
                <a:solidFill>
                  <a:srgbClr val="CBD2E0"/>
                </a:solidFill>
                <a:latin typeface="Consolas"/>
              </a:rPr>
              <a:t>sumas</a:t>
            </a:r>
            <a:r>
              <a:rPr sz="1200" dirty="0">
                <a:solidFill>
                  <a:srgbClr val="CBD2E0"/>
                </a:solidFill>
                <a:latin typeface="Consolas"/>
              </a:rPr>
              <a:t> + 2 </a:t>
            </a:r>
            <a:r>
              <a:rPr sz="1200" dirty="0" err="1">
                <a:solidFill>
                  <a:srgbClr val="CBD2E0"/>
                </a:solidFill>
                <a:latin typeface="Consolas"/>
              </a:rPr>
              <a:t>comparaciones</a:t>
            </a:r>
            <a:endParaRPr sz="1200" dirty="0">
              <a:solidFill>
                <a:srgbClr val="CBD2E0"/>
              </a:solidFill>
              <a:latin typeface="Consolas"/>
            </a:endParaRPr>
          </a:p>
          <a:p>
            <a:pPr>
              <a:spcBef>
                <a:spcPts val="0"/>
              </a:spcBef>
              <a:spcAft>
                <a:spcPts val="0"/>
              </a:spcAft>
            </a:pPr>
            <a:endParaRPr sz="1200" dirty="0">
              <a:solidFill>
                <a:srgbClr val="CBD2E0"/>
              </a:solidFill>
              <a:latin typeface="Consolas"/>
            </a:endParaRPr>
          </a:p>
          <a:p>
            <a:pPr>
              <a:spcBef>
                <a:spcPts val="0"/>
              </a:spcBef>
              <a:spcAft>
                <a:spcPts val="0"/>
              </a:spcAft>
            </a:pPr>
            <a:r>
              <a:rPr sz="1200" dirty="0">
                <a:solidFill>
                  <a:srgbClr val="CBD2E0"/>
                </a:solidFill>
                <a:latin typeface="Consolas"/>
              </a:rPr>
              <a:t>  IA ≈ 10 ops / 40 B = 0.25 ops/byte</a:t>
            </a:r>
          </a:p>
          <a:p>
            <a:pPr>
              <a:spcBef>
                <a:spcPts val="0"/>
              </a:spcBef>
              <a:spcAft>
                <a:spcPts val="0"/>
              </a:spcAft>
            </a:pPr>
            <a:r>
              <a:rPr sz="1200" dirty="0">
                <a:solidFill>
                  <a:srgbClr val="CBD2E0"/>
                </a:solidFill>
                <a:latin typeface="Consolas"/>
              </a:rPr>
              <a:t>  → BOUND POR ANCHO DE BANDA</a:t>
            </a:r>
          </a:p>
        </p:txBody>
      </p:sp>
      <p:sp>
        <p:nvSpPr>
          <p:cNvPr id="14" name="TextBox 13"/>
          <p:cNvSpPr txBox="1"/>
          <p:nvPr/>
        </p:nvSpPr>
        <p:spPr>
          <a:xfrm>
            <a:off x="4663440" y="3364992"/>
            <a:ext cx="7132320" cy="1007968"/>
          </a:xfrm>
          <a:prstGeom prst="rect">
            <a:avLst/>
          </a:prstGeom>
          <a:noFill/>
        </p:spPr>
        <p:txBody>
          <a:bodyPr wrap="square">
            <a:spAutoFit/>
          </a:bodyPr>
          <a:lstStyle/>
          <a:p>
            <a:pPr>
              <a:spcBef>
                <a:spcPts val="300"/>
              </a:spcBef>
            </a:pPr>
            <a:r>
              <a:t>• Rendimiento condicionado por ancho de banda de memoria y caché</a:t>
            </a:r>
          </a:p>
          <a:p>
            <a:pPr>
              <a:spcBef>
                <a:spcPts val="300"/>
              </a:spcBef>
            </a:pPr>
            <a:r>
              <a:rPr sz="1300" dirty="0">
                <a:solidFill>
                  <a:srgbClr val="000000"/>
                </a:solidFill>
                <a:latin typeface="Calibri"/>
              </a:rPr>
              <a:t>• V2 </a:t>
            </a:r>
            <a:r>
              <a:rPr sz="1300" dirty="0" err="1">
                <a:solidFill>
                  <a:srgbClr val="000000"/>
                </a:solidFill>
                <a:latin typeface="Calibri"/>
              </a:rPr>
              <a:t>mejora</a:t>
            </a:r>
            <a:r>
              <a:rPr sz="1300" dirty="0">
                <a:solidFill>
                  <a:srgbClr val="000000"/>
                </a:solidFill>
                <a:latin typeface="Calibri"/>
              </a:rPr>
              <a:t> </a:t>
            </a:r>
            <a:r>
              <a:rPr sz="1300" dirty="0" err="1">
                <a:solidFill>
                  <a:srgbClr val="000000"/>
                </a:solidFill>
                <a:latin typeface="Calibri"/>
              </a:rPr>
              <a:t>localidad</a:t>
            </a:r>
            <a:r>
              <a:rPr sz="1300" dirty="0">
                <a:solidFill>
                  <a:srgbClr val="000000"/>
                </a:solidFill>
                <a:latin typeface="Calibri"/>
              </a:rPr>
              <a:t> </a:t>
            </a:r>
            <a:r>
              <a:rPr sz="1300" dirty="0" err="1">
                <a:solidFill>
                  <a:srgbClr val="000000"/>
                </a:solidFill>
                <a:latin typeface="Calibri"/>
              </a:rPr>
              <a:t>espacial</a:t>
            </a:r>
            <a:r>
              <a:rPr sz="1300" dirty="0">
                <a:solidFill>
                  <a:srgbClr val="000000"/>
                </a:solidFill>
                <a:latin typeface="Calibri"/>
              </a:rPr>
              <a:t> → </a:t>
            </a:r>
            <a:r>
              <a:rPr sz="1300" dirty="0" err="1">
                <a:solidFill>
                  <a:srgbClr val="000000"/>
                </a:solidFill>
                <a:latin typeface="Calibri"/>
              </a:rPr>
              <a:t>mejor</a:t>
            </a:r>
            <a:r>
              <a:rPr sz="1300" dirty="0">
                <a:solidFill>
                  <a:srgbClr val="000000"/>
                </a:solidFill>
                <a:latin typeface="Calibri"/>
              </a:rPr>
              <a:t> </a:t>
            </a:r>
            <a:r>
              <a:rPr sz="1300" dirty="0" err="1">
                <a:solidFill>
                  <a:srgbClr val="000000"/>
                </a:solidFill>
                <a:latin typeface="Calibri"/>
              </a:rPr>
              <a:t>aprovechamiento</a:t>
            </a:r>
            <a:r>
              <a:rPr sz="1300" dirty="0">
                <a:solidFill>
                  <a:srgbClr val="000000"/>
                </a:solidFill>
                <a:latin typeface="Calibri"/>
              </a:rPr>
              <a:t> de </a:t>
            </a:r>
            <a:r>
              <a:rPr sz="1300" dirty="0" err="1">
                <a:solidFill>
                  <a:srgbClr val="000000"/>
                </a:solidFill>
                <a:latin typeface="Calibri"/>
              </a:rPr>
              <a:t>caché</a:t>
            </a:r>
            <a:endParaRPr sz="1300" dirty="0">
              <a:solidFill>
                <a:srgbClr val="000000"/>
              </a:solidFill>
              <a:latin typeface="Calibri"/>
            </a:endParaRPr>
          </a:p>
          <a:p>
            <a:pPr>
              <a:spcBef>
                <a:spcPts val="300"/>
              </a:spcBef>
            </a:pPr>
            <a:r>
              <a:rPr sz="1300" dirty="0">
                <a:solidFill>
                  <a:srgbClr val="000000"/>
                </a:solidFill>
                <a:latin typeface="Calibri"/>
              </a:rPr>
              <a:t>• Añadir </a:t>
            </a:r>
            <a:r>
              <a:rPr sz="1300" dirty="0" err="1">
                <a:solidFill>
                  <a:srgbClr val="000000"/>
                </a:solidFill>
                <a:latin typeface="Calibri"/>
              </a:rPr>
              <a:t>más</a:t>
            </a:r>
            <a:r>
              <a:rPr sz="1300" dirty="0">
                <a:solidFill>
                  <a:srgbClr val="000000"/>
                </a:solidFill>
                <a:latin typeface="Calibri"/>
              </a:rPr>
              <a:t> </a:t>
            </a:r>
            <a:r>
              <a:rPr sz="1300" dirty="0" err="1">
                <a:solidFill>
                  <a:srgbClr val="000000"/>
                </a:solidFill>
                <a:latin typeface="Calibri"/>
              </a:rPr>
              <a:t>hilos</a:t>
            </a:r>
            <a:r>
              <a:rPr sz="1300" dirty="0">
                <a:solidFill>
                  <a:srgbClr val="000000"/>
                </a:solidFill>
                <a:latin typeface="Calibri"/>
              </a:rPr>
              <a:t>/</a:t>
            </a:r>
            <a:r>
              <a:rPr sz="1300" dirty="0" err="1">
                <a:solidFill>
                  <a:srgbClr val="000000"/>
                </a:solidFill>
                <a:latin typeface="Calibri"/>
              </a:rPr>
              <a:t>procesos</a:t>
            </a:r>
            <a:r>
              <a:rPr sz="1300" dirty="0">
                <a:solidFill>
                  <a:srgbClr val="000000"/>
                </a:solidFill>
                <a:latin typeface="Calibri"/>
              </a:rPr>
              <a:t> no produce </a:t>
            </a:r>
            <a:r>
              <a:rPr sz="1300" dirty="0" err="1">
                <a:solidFill>
                  <a:srgbClr val="000000"/>
                </a:solidFill>
                <a:latin typeface="Calibri"/>
              </a:rPr>
              <a:t>aceleración</a:t>
            </a:r>
            <a:r>
              <a:rPr sz="1300" dirty="0">
                <a:solidFill>
                  <a:srgbClr val="000000"/>
                </a:solidFill>
                <a:latin typeface="Calibri"/>
              </a:rPr>
              <a:t> lineal</a:t>
            </a:r>
          </a:p>
          <a:p>
            <a:pPr>
              <a:spcBef>
                <a:spcPts val="300"/>
              </a:spcBef>
            </a:pPr>
            <a:r>
              <a:rPr sz="1300" dirty="0">
                <a:solidFill>
                  <a:srgbClr val="000000"/>
                </a:solidFill>
                <a:latin typeface="Calibri"/>
              </a:rPr>
              <a:t>• CUDA </a:t>
            </a:r>
            <a:r>
              <a:rPr sz="1300" dirty="0" err="1">
                <a:solidFill>
                  <a:srgbClr val="000000"/>
                </a:solidFill>
                <a:latin typeface="Calibri"/>
              </a:rPr>
              <a:t>tiene</a:t>
            </a:r>
            <a:r>
              <a:rPr sz="1300" dirty="0">
                <a:solidFill>
                  <a:srgbClr val="000000"/>
                </a:solidFill>
                <a:latin typeface="Calibri"/>
              </a:rPr>
              <a:t> &gt;200 GB/s de ancho de </a:t>
            </a:r>
            <a:r>
              <a:rPr sz="1300" dirty="0" err="1">
                <a:solidFill>
                  <a:srgbClr val="000000"/>
                </a:solidFill>
                <a:latin typeface="Calibri"/>
              </a:rPr>
              <a:t>banda</a:t>
            </a:r>
            <a:r>
              <a:rPr sz="1300" dirty="0">
                <a:solidFill>
                  <a:srgbClr val="000000"/>
                </a:solidFill>
                <a:latin typeface="Calibri"/>
              </a:rPr>
              <a:t> — </a:t>
            </a:r>
            <a:r>
              <a:rPr sz="1300" dirty="0" err="1">
                <a:solidFill>
                  <a:srgbClr val="000000"/>
                </a:solidFill>
                <a:latin typeface="Calibri"/>
              </a:rPr>
              <a:t>mitiga</a:t>
            </a:r>
            <a:r>
              <a:rPr sz="1300" dirty="0">
                <a:solidFill>
                  <a:srgbClr val="000000"/>
                </a:solidFill>
                <a:latin typeface="Calibri"/>
              </a:rPr>
              <a:t> </a:t>
            </a:r>
            <a:r>
              <a:rPr sz="1300" dirty="0" err="1">
                <a:solidFill>
                  <a:srgbClr val="000000"/>
                </a:solidFill>
                <a:latin typeface="Calibri"/>
              </a:rPr>
              <a:t>el</a:t>
            </a:r>
            <a:r>
              <a:rPr sz="1300" dirty="0">
                <a:solidFill>
                  <a:srgbClr val="000000"/>
                </a:solidFill>
                <a:latin typeface="Calibri"/>
              </a:rPr>
              <a:t> </a:t>
            </a:r>
            <a:r>
              <a:rPr sz="1300" dirty="0" err="1">
                <a:solidFill>
                  <a:srgbClr val="000000"/>
                </a:solidFill>
                <a:latin typeface="Calibri"/>
              </a:rPr>
              <a:t>problema</a:t>
            </a:r>
            <a:endParaRPr sz="1300" dirty="0">
              <a:solidFill>
                <a:srgbClr val="000000"/>
              </a:solidFill>
              <a:latin typeface="Calibri"/>
            </a:endParaRPr>
          </a:p>
        </p:txBody>
      </p:sp>
      <p:sp>
        <p:nvSpPr>
          <p:cNvPr id="15" name="TextBox 14"/>
          <p:cNvSpPr txBox="1"/>
          <p:nvPr/>
        </p:nvSpPr>
        <p:spPr>
          <a:xfrm>
            <a:off x="365760" y="4690872"/>
            <a:ext cx="11430000" cy="307777"/>
          </a:xfrm>
          <a:prstGeom prst="rect">
            <a:avLst/>
          </a:prstGeom>
          <a:noFill/>
        </p:spPr>
        <p:txBody>
          <a:bodyPr wrap="square">
            <a:spAutoFit/>
          </a:bodyPr>
          <a:lstStyle/>
          <a:p>
            <a:pPr algn="l"/>
            <a:r>
              <a:rPr sz="1400" b="1" i="0" dirty="0">
                <a:solidFill>
                  <a:srgbClr val="1F3564"/>
                </a:solidFill>
                <a:latin typeface="Calibri"/>
              </a:rPr>
              <a:t>Speedup </a:t>
            </a:r>
            <a:r>
              <a:rPr sz="1400" b="1" i="0" dirty="0" err="1">
                <a:solidFill>
                  <a:srgbClr val="1F3564"/>
                </a:solidFill>
                <a:latin typeface="Calibri"/>
              </a:rPr>
              <a:t>teórico</a:t>
            </a:r>
            <a:r>
              <a:rPr sz="1400" b="1" i="0" dirty="0">
                <a:solidFill>
                  <a:srgbClr val="1F3564"/>
                </a:solidFill>
                <a:latin typeface="Calibri"/>
              </a:rPr>
              <a:t> </a:t>
            </a:r>
            <a:r>
              <a:rPr sz="1400" b="1" i="0" dirty="0" err="1">
                <a:solidFill>
                  <a:srgbClr val="1F3564"/>
                </a:solidFill>
                <a:latin typeface="Calibri"/>
              </a:rPr>
              <a:t>máximo</a:t>
            </a:r>
            <a:r>
              <a:rPr sz="1400" b="1" i="0" dirty="0">
                <a:solidFill>
                  <a:srgbClr val="1F3564"/>
                </a:solidFill>
                <a:latin typeface="Calibri"/>
              </a:rPr>
              <a:t> — Ley de Amdahl  (</a:t>
            </a:r>
            <a:r>
              <a:rPr sz="1400" b="1" i="0" dirty="0" err="1">
                <a:solidFill>
                  <a:srgbClr val="1F3564"/>
                </a:solidFill>
                <a:latin typeface="Calibri"/>
              </a:rPr>
              <a:t>valores</a:t>
            </a:r>
            <a:r>
              <a:rPr sz="1400" b="1" i="0" dirty="0">
                <a:solidFill>
                  <a:srgbClr val="1F3564"/>
                </a:solidFill>
                <a:latin typeface="Calibri"/>
              </a:rPr>
              <a:t> </a:t>
            </a:r>
            <a:r>
              <a:rPr sz="1400" b="1" i="0" dirty="0" err="1">
                <a:solidFill>
                  <a:srgbClr val="1F3564"/>
                </a:solidFill>
                <a:latin typeface="Calibri"/>
              </a:rPr>
              <a:t>calculados</a:t>
            </a:r>
            <a:r>
              <a:rPr sz="1400" b="1" i="0" dirty="0">
                <a:solidFill>
                  <a:srgbClr val="1F3564"/>
                </a:solidFill>
                <a:latin typeface="Calibri"/>
              </a:rPr>
              <a:t>)</a:t>
            </a:r>
          </a:p>
        </p:txBody>
      </p:sp>
      <p:graphicFrame>
        <p:nvGraphicFramePr>
          <p:cNvPr id="16" name="Table 15"/>
          <p:cNvGraphicFramePr>
            <a:graphicFrameLocks noGrp="1"/>
          </p:cNvGraphicFramePr>
          <p:nvPr>
            <p:extLst>
              <p:ext uri="{D42A27DB-BD31-4B8C-83A1-F6EECF244321}">
                <p14:modId xmlns:p14="http://schemas.microsoft.com/office/powerpoint/2010/main" val="4069944640"/>
              </p:ext>
            </p:extLst>
          </p:nvPr>
        </p:nvGraphicFramePr>
        <p:xfrm>
          <a:off x="365760" y="5038344"/>
          <a:ext cx="11430000" cy="17373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224028">
                <a:tc>
                  <a:txBody>
                    <a:bodyPr/>
                    <a:lstStyle/>
                    <a:p>
                      <a:pPr algn="ctr"/>
                      <a:r>
                        <a:rPr sz="1300" b="1" dirty="0" err="1">
                          <a:solidFill>
                            <a:srgbClr val="FFFFFF"/>
                          </a:solidFill>
                          <a:latin typeface="Calibri"/>
                        </a:rPr>
                        <a:t>Hilos</a:t>
                      </a:r>
                      <a:r>
                        <a:rPr sz="1300" b="1" dirty="0">
                          <a:solidFill>
                            <a:srgbClr val="FFFFFF"/>
                          </a:solidFill>
                          <a:latin typeface="Calibri"/>
                        </a:rPr>
                        <a:t> / </a:t>
                      </a:r>
                      <a:r>
                        <a:rPr sz="1300" b="1" dirty="0" err="1">
                          <a:solidFill>
                            <a:srgbClr val="FFFFFF"/>
                          </a:solidFill>
                          <a:latin typeface="Calibri"/>
                        </a:rPr>
                        <a:t>Procesos</a:t>
                      </a:r>
                      <a:r>
                        <a:rPr sz="1300" b="1" dirty="0">
                          <a:solidFill>
                            <a:srgbClr val="FFFFFF"/>
                          </a:solidFill>
                          <a:latin typeface="Calibri"/>
                        </a:rPr>
                        <a:t> (n)</a:t>
                      </a:r>
                    </a:p>
                  </a:txBody>
                  <a:tcPr>
                    <a:solidFill>
                      <a:srgbClr val="1F3564"/>
                    </a:solidFill>
                  </a:tcPr>
                </a:tc>
                <a:tc>
                  <a:txBody>
                    <a:bodyPr/>
                    <a:lstStyle/>
                    <a:p>
                      <a:pPr algn="ctr"/>
                      <a:r>
                        <a:rPr sz="1300" b="1">
                          <a:solidFill>
                            <a:srgbClr val="FFFFFF"/>
                          </a:solidFill>
                          <a:latin typeface="Calibri"/>
                        </a:rPr>
                        <a:t>P = 0.90</a:t>
                      </a:r>
                    </a:p>
                  </a:txBody>
                  <a:tcPr>
                    <a:solidFill>
                      <a:srgbClr val="1F3564"/>
                    </a:solidFill>
                  </a:tcPr>
                </a:tc>
                <a:tc>
                  <a:txBody>
                    <a:bodyPr/>
                    <a:lstStyle/>
                    <a:p>
                      <a:pPr algn="ctr"/>
                      <a:r>
                        <a:rPr sz="1300" b="1" dirty="0">
                          <a:solidFill>
                            <a:srgbClr val="FFFFFF"/>
                          </a:solidFill>
                          <a:latin typeface="Calibri"/>
                        </a:rPr>
                        <a:t>P = 0.95</a:t>
                      </a:r>
                    </a:p>
                  </a:txBody>
                  <a:tcPr>
                    <a:solidFill>
                      <a:srgbClr val="1F3564"/>
                    </a:solidFill>
                  </a:tcPr>
                </a:tc>
                <a:tc>
                  <a:txBody>
                    <a:bodyPr/>
                    <a:lstStyle/>
                    <a:p>
                      <a:pPr algn="ctr"/>
                      <a:r>
                        <a:rPr sz="1300" b="1">
                          <a:solidFill>
                            <a:srgbClr val="FFFFFF"/>
                          </a:solidFill>
                          <a:latin typeface="Calibri"/>
                        </a:rPr>
                        <a:t>P = 0.99</a:t>
                      </a:r>
                    </a:p>
                  </a:txBody>
                  <a:tcPr>
                    <a:solidFill>
                      <a:srgbClr val="1F3564"/>
                    </a:solidFill>
                  </a:tcPr>
                </a:tc>
                <a:tc>
                  <a:txBody>
                    <a:bodyPr/>
                    <a:lstStyle/>
                    <a:p>
                      <a:pPr algn="ctr"/>
                      <a:r>
                        <a:rPr sz="1300" b="1">
                          <a:solidFill>
                            <a:srgbClr val="FFFFFF"/>
                          </a:solidFill>
                          <a:latin typeface="Calibri"/>
                        </a:rPr>
                        <a:t>P = 0.999</a:t>
                      </a:r>
                    </a:p>
                  </a:txBody>
                  <a:tcPr>
                    <a:solidFill>
                      <a:srgbClr val="1F3564"/>
                    </a:solidFill>
                  </a:tcPr>
                </a:tc>
                <a:extLst>
                  <a:ext uri="{0D108BD9-81ED-4DB2-BD59-A6C34878D82A}">
                    <a16:rowId xmlns:a16="http://schemas.microsoft.com/office/drawing/2014/main" val="10000"/>
                  </a:ext>
                </a:extLst>
              </a:tr>
              <a:tr h="224028">
                <a:tc>
                  <a:txBody>
                    <a:bodyPr/>
                    <a:lstStyle/>
                    <a:p>
                      <a:pPr algn="l"/>
                      <a:r>
                        <a:rPr sz="1300" dirty="0">
                          <a:solidFill>
                            <a:srgbClr val="000000"/>
                          </a:solidFill>
                          <a:latin typeface="Calibri"/>
                        </a:rPr>
                        <a:t>2</a:t>
                      </a:r>
                    </a:p>
                  </a:txBody>
                  <a:tcPr>
                    <a:solidFill>
                      <a:srgbClr val="D6E4F7"/>
                    </a:solidFill>
                  </a:tcPr>
                </a:tc>
                <a:tc>
                  <a:txBody>
                    <a:bodyPr/>
                    <a:lstStyle/>
                    <a:p>
                      <a:pPr algn="ctr"/>
                      <a:r>
                        <a:rPr sz="1300">
                          <a:solidFill>
                            <a:srgbClr val="000000"/>
                          </a:solidFill>
                          <a:latin typeface="Calibri"/>
                        </a:rPr>
                        <a:t>1.82×</a:t>
                      </a:r>
                    </a:p>
                  </a:txBody>
                  <a:tcPr>
                    <a:solidFill>
                      <a:srgbClr val="D6E4F7"/>
                    </a:solidFill>
                  </a:tcPr>
                </a:tc>
                <a:tc>
                  <a:txBody>
                    <a:bodyPr/>
                    <a:lstStyle/>
                    <a:p>
                      <a:pPr algn="ctr"/>
                      <a:r>
                        <a:rPr sz="1300">
                          <a:solidFill>
                            <a:srgbClr val="000000"/>
                          </a:solidFill>
                          <a:latin typeface="Calibri"/>
                        </a:rPr>
                        <a:t>1.90×</a:t>
                      </a:r>
                    </a:p>
                  </a:txBody>
                  <a:tcPr>
                    <a:solidFill>
                      <a:srgbClr val="D6E4F7"/>
                    </a:solidFill>
                  </a:tcPr>
                </a:tc>
                <a:tc>
                  <a:txBody>
                    <a:bodyPr/>
                    <a:lstStyle/>
                    <a:p>
                      <a:pPr algn="ctr"/>
                      <a:r>
                        <a:rPr sz="1300">
                          <a:solidFill>
                            <a:srgbClr val="000000"/>
                          </a:solidFill>
                          <a:latin typeface="Calibri"/>
                        </a:rPr>
                        <a:t>1.98×</a:t>
                      </a:r>
                    </a:p>
                  </a:txBody>
                  <a:tcPr>
                    <a:solidFill>
                      <a:srgbClr val="D6E4F7"/>
                    </a:solidFill>
                  </a:tcPr>
                </a:tc>
                <a:tc>
                  <a:txBody>
                    <a:bodyPr/>
                    <a:lstStyle/>
                    <a:p>
                      <a:pPr algn="ctr"/>
                      <a:r>
                        <a:rPr sz="1300">
                          <a:solidFill>
                            <a:srgbClr val="000000"/>
                          </a:solidFill>
                          <a:latin typeface="Calibri"/>
                        </a:rPr>
                        <a:t>2.00×</a:t>
                      </a:r>
                    </a:p>
                  </a:txBody>
                  <a:tcPr>
                    <a:solidFill>
                      <a:srgbClr val="D6E4F7"/>
                    </a:solidFill>
                  </a:tcPr>
                </a:tc>
                <a:extLst>
                  <a:ext uri="{0D108BD9-81ED-4DB2-BD59-A6C34878D82A}">
                    <a16:rowId xmlns:a16="http://schemas.microsoft.com/office/drawing/2014/main" val="10001"/>
                  </a:ext>
                </a:extLst>
              </a:tr>
              <a:tr h="224028">
                <a:tc>
                  <a:txBody>
                    <a:bodyPr/>
                    <a:lstStyle/>
                    <a:p>
                      <a:pPr algn="l"/>
                      <a:r>
                        <a:rPr sz="1300" dirty="0">
                          <a:solidFill>
                            <a:srgbClr val="000000"/>
                          </a:solidFill>
                          <a:latin typeface="Calibri"/>
                        </a:rPr>
                        <a:t>4</a:t>
                      </a:r>
                    </a:p>
                  </a:txBody>
                  <a:tcPr>
                    <a:solidFill>
                      <a:srgbClr val="FFFFFF"/>
                    </a:solidFill>
                  </a:tcPr>
                </a:tc>
                <a:tc>
                  <a:txBody>
                    <a:bodyPr/>
                    <a:lstStyle/>
                    <a:p>
                      <a:pPr algn="ctr"/>
                      <a:r>
                        <a:rPr sz="1300" dirty="0">
                          <a:solidFill>
                            <a:srgbClr val="000000"/>
                          </a:solidFill>
                          <a:latin typeface="Calibri"/>
                        </a:rPr>
                        <a:t>3.08×</a:t>
                      </a:r>
                    </a:p>
                  </a:txBody>
                  <a:tcPr>
                    <a:solidFill>
                      <a:srgbClr val="FFFFFF"/>
                    </a:solidFill>
                  </a:tcPr>
                </a:tc>
                <a:tc>
                  <a:txBody>
                    <a:bodyPr/>
                    <a:lstStyle/>
                    <a:p>
                      <a:pPr algn="ctr"/>
                      <a:r>
                        <a:rPr sz="1300">
                          <a:solidFill>
                            <a:srgbClr val="000000"/>
                          </a:solidFill>
                          <a:latin typeface="Calibri"/>
                        </a:rPr>
                        <a:t>3.48×</a:t>
                      </a:r>
                    </a:p>
                  </a:txBody>
                  <a:tcPr>
                    <a:solidFill>
                      <a:srgbClr val="FFFFFF"/>
                    </a:solidFill>
                  </a:tcPr>
                </a:tc>
                <a:tc>
                  <a:txBody>
                    <a:bodyPr/>
                    <a:lstStyle/>
                    <a:p>
                      <a:pPr algn="ctr"/>
                      <a:r>
                        <a:rPr sz="1300">
                          <a:solidFill>
                            <a:srgbClr val="000000"/>
                          </a:solidFill>
                          <a:latin typeface="Calibri"/>
                        </a:rPr>
                        <a:t>3.88×</a:t>
                      </a:r>
                    </a:p>
                  </a:txBody>
                  <a:tcPr>
                    <a:solidFill>
                      <a:srgbClr val="FFFFFF"/>
                    </a:solidFill>
                  </a:tcPr>
                </a:tc>
                <a:tc>
                  <a:txBody>
                    <a:bodyPr/>
                    <a:lstStyle/>
                    <a:p>
                      <a:pPr algn="ctr"/>
                      <a:r>
                        <a:rPr sz="1300">
                          <a:solidFill>
                            <a:srgbClr val="000000"/>
                          </a:solidFill>
                          <a:latin typeface="Calibri"/>
                        </a:rPr>
                        <a:t>3.99×</a:t>
                      </a:r>
                    </a:p>
                  </a:txBody>
                  <a:tcPr>
                    <a:solidFill>
                      <a:srgbClr val="FFFFFF"/>
                    </a:solidFill>
                  </a:tcPr>
                </a:tc>
                <a:extLst>
                  <a:ext uri="{0D108BD9-81ED-4DB2-BD59-A6C34878D82A}">
                    <a16:rowId xmlns:a16="http://schemas.microsoft.com/office/drawing/2014/main" val="10002"/>
                  </a:ext>
                </a:extLst>
              </a:tr>
              <a:tr h="224028">
                <a:tc>
                  <a:txBody>
                    <a:bodyPr/>
                    <a:lstStyle/>
                    <a:p>
                      <a:pPr algn="l"/>
                      <a:r>
                        <a:rPr sz="1300">
                          <a:solidFill>
                            <a:srgbClr val="000000"/>
                          </a:solidFill>
                          <a:latin typeface="Calibri"/>
                        </a:rPr>
                        <a:t>8</a:t>
                      </a:r>
                    </a:p>
                  </a:txBody>
                  <a:tcPr>
                    <a:solidFill>
                      <a:srgbClr val="D6E4F7"/>
                    </a:solidFill>
                  </a:tcPr>
                </a:tc>
                <a:tc>
                  <a:txBody>
                    <a:bodyPr/>
                    <a:lstStyle/>
                    <a:p>
                      <a:pPr algn="ctr"/>
                      <a:r>
                        <a:rPr sz="1300" dirty="0">
                          <a:solidFill>
                            <a:srgbClr val="000000"/>
                          </a:solidFill>
                          <a:latin typeface="Calibri"/>
                        </a:rPr>
                        <a:t>4.71×</a:t>
                      </a:r>
                    </a:p>
                  </a:txBody>
                  <a:tcPr>
                    <a:solidFill>
                      <a:srgbClr val="D6E4F7"/>
                    </a:solidFill>
                  </a:tcPr>
                </a:tc>
                <a:tc>
                  <a:txBody>
                    <a:bodyPr/>
                    <a:lstStyle/>
                    <a:p>
                      <a:pPr algn="ctr"/>
                      <a:r>
                        <a:rPr sz="1300">
                          <a:solidFill>
                            <a:srgbClr val="000000"/>
                          </a:solidFill>
                          <a:latin typeface="Calibri"/>
                        </a:rPr>
                        <a:t>5.93×</a:t>
                      </a:r>
                    </a:p>
                  </a:txBody>
                  <a:tcPr>
                    <a:solidFill>
                      <a:srgbClr val="D6E4F7"/>
                    </a:solidFill>
                  </a:tcPr>
                </a:tc>
                <a:tc>
                  <a:txBody>
                    <a:bodyPr/>
                    <a:lstStyle/>
                    <a:p>
                      <a:pPr algn="ctr"/>
                      <a:r>
                        <a:rPr sz="1300">
                          <a:solidFill>
                            <a:srgbClr val="000000"/>
                          </a:solidFill>
                          <a:latin typeface="Calibri"/>
                        </a:rPr>
                        <a:t>7.48×</a:t>
                      </a:r>
                    </a:p>
                  </a:txBody>
                  <a:tcPr>
                    <a:solidFill>
                      <a:srgbClr val="D6E4F7"/>
                    </a:solidFill>
                  </a:tcPr>
                </a:tc>
                <a:tc>
                  <a:txBody>
                    <a:bodyPr/>
                    <a:lstStyle/>
                    <a:p>
                      <a:pPr algn="ctr"/>
                      <a:r>
                        <a:rPr sz="1300">
                          <a:solidFill>
                            <a:srgbClr val="000000"/>
                          </a:solidFill>
                          <a:latin typeface="Calibri"/>
                        </a:rPr>
                        <a:t>7.94×</a:t>
                      </a:r>
                    </a:p>
                  </a:txBody>
                  <a:tcPr>
                    <a:solidFill>
                      <a:srgbClr val="D6E4F7"/>
                    </a:solidFill>
                  </a:tcPr>
                </a:tc>
                <a:extLst>
                  <a:ext uri="{0D108BD9-81ED-4DB2-BD59-A6C34878D82A}">
                    <a16:rowId xmlns:a16="http://schemas.microsoft.com/office/drawing/2014/main" val="10003"/>
                  </a:ext>
                </a:extLst>
              </a:tr>
              <a:tr h="224028">
                <a:tc>
                  <a:txBody>
                    <a:bodyPr/>
                    <a:lstStyle/>
                    <a:p>
                      <a:pPr algn="l"/>
                      <a:r>
                        <a:rPr sz="1300">
                          <a:solidFill>
                            <a:srgbClr val="000000"/>
                          </a:solidFill>
                          <a:latin typeface="Calibri"/>
                        </a:rPr>
                        <a:t>16</a:t>
                      </a:r>
                    </a:p>
                  </a:txBody>
                  <a:tcPr>
                    <a:solidFill>
                      <a:srgbClr val="FFFFFF"/>
                    </a:solidFill>
                  </a:tcPr>
                </a:tc>
                <a:tc>
                  <a:txBody>
                    <a:bodyPr/>
                    <a:lstStyle/>
                    <a:p>
                      <a:pPr algn="ctr"/>
                      <a:r>
                        <a:rPr sz="1300">
                          <a:solidFill>
                            <a:srgbClr val="000000"/>
                          </a:solidFill>
                          <a:latin typeface="Calibri"/>
                        </a:rPr>
                        <a:t>6.40×</a:t>
                      </a:r>
                    </a:p>
                  </a:txBody>
                  <a:tcPr>
                    <a:solidFill>
                      <a:srgbClr val="FFFFFF"/>
                    </a:solidFill>
                  </a:tcPr>
                </a:tc>
                <a:tc>
                  <a:txBody>
                    <a:bodyPr/>
                    <a:lstStyle/>
                    <a:p>
                      <a:pPr algn="ctr"/>
                      <a:r>
                        <a:rPr sz="1300">
                          <a:solidFill>
                            <a:srgbClr val="000000"/>
                          </a:solidFill>
                          <a:latin typeface="Calibri"/>
                        </a:rPr>
                        <a:t>9.14×</a:t>
                      </a:r>
                    </a:p>
                  </a:txBody>
                  <a:tcPr>
                    <a:solidFill>
                      <a:srgbClr val="FFFFFF"/>
                    </a:solidFill>
                  </a:tcPr>
                </a:tc>
                <a:tc>
                  <a:txBody>
                    <a:bodyPr/>
                    <a:lstStyle/>
                    <a:p>
                      <a:pPr algn="ctr"/>
                      <a:r>
                        <a:rPr sz="1300">
                          <a:solidFill>
                            <a:srgbClr val="000000"/>
                          </a:solidFill>
                          <a:latin typeface="Calibri"/>
                        </a:rPr>
                        <a:t>13.91×</a:t>
                      </a:r>
                    </a:p>
                  </a:txBody>
                  <a:tcPr>
                    <a:solidFill>
                      <a:srgbClr val="FFFFFF"/>
                    </a:solidFill>
                  </a:tcPr>
                </a:tc>
                <a:tc>
                  <a:txBody>
                    <a:bodyPr/>
                    <a:lstStyle/>
                    <a:p>
                      <a:pPr algn="ctr"/>
                      <a:r>
                        <a:rPr sz="1300">
                          <a:solidFill>
                            <a:srgbClr val="000000"/>
                          </a:solidFill>
                          <a:latin typeface="Calibri"/>
                        </a:rPr>
                        <a:t>15.75×</a:t>
                      </a:r>
                    </a:p>
                  </a:txBody>
                  <a:tcPr>
                    <a:solidFill>
                      <a:srgbClr val="FFFFFF"/>
                    </a:solidFill>
                  </a:tcPr>
                </a:tc>
                <a:extLst>
                  <a:ext uri="{0D108BD9-81ED-4DB2-BD59-A6C34878D82A}">
                    <a16:rowId xmlns:a16="http://schemas.microsoft.com/office/drawing/2014/main" val="10004"/>
                  </a:ext>
                </a:extLst>
              </a:tr>
              <a:tr h="224028">
                <a:tc>
                  <a:txBody>
                    <a:bodyPr/>
                    <a:lstStyle/>
                    <a:p>
                      <a:pPr algn="l"/>
                      <a:r>
                        <a:rPr sz="1300" dirty="0">
                          <a:solidFill>
                            <a:srgbClr val="000000"/>
                          </a:solidFill>
                          <a:latin typeface="Calibri"/>
                        </a:rPr>
                        <a:t>∞</a:t>
                      </a:r>
                    </a:p>
                  </a:txBody>
                  <a:tcPr>
                    <a:solidFill>
                      <a:srgbClr val="D6E4F7"/>
                    </a:solidFill>
                  </a:tcPr>
                </a:tc>
                <a:tc>
                  <a:txBody>
                    <a:bodyPr/>
                    <a:lstStyle/>
                    <a:p>
                      <a:pPr algn="ctr"/>
                      <a:r>
                        <a:rPr sz="1300">
                          <a:solidFill>
                            <a:srgbClr val="000000"/>
                          </a:solidFill>
                          <a:latin typeface="Calibri"/>
                        </a:rPr>
                        <a:t>10.00×</a:t>
                      </a:r>
                    </a:p>
                  </a:txBody>
                  <a:tcPr>
                    <a:solidFill>
                      <a:srgbClr val="D6E4F7"/>
                    </a:solidFill>
                  </a:tcPr>
                </a:tc>
                <a:tc>
                  <a:txBody>
                    <a:bodyPr/>
                    <a:lstStyle/>
                    <a:p>
                      <a:pPr algn="ctr"/>
                      <a:r>
                        <a:rPr sz="1300" dirty="0">
                          <a:solidFill>
                            <a:srgbClr val="000000"/>
                          </a:solidFill>
                          <a:latin typeface="Calibri"/>
                        </a:rPr>
                        <a:t>20.00×</a:t>
                      </a:r>
                    </a:p>
                  </a:txBody>
                  <a:tcPr>
                    <a:solidFill>
                      <a:srgbClr val="D6E4F7"/>
                    </a:solidFill>
                  </a:tcPr>
                </a:tc>
                <a:tc>
                  <a:txBody>
                    <a:bodyPr/>
                    <a:lstStyle/>
                    <a:p>
                      <a:pPr algn="ctr"/>
                      <a:r>
                        <a:rPr sz="1300" dirty="0">
                          <a:solidFill>
                            <a:srgbClr val="000000"/>
                          </a:solidFill>
                          <a:latin typeface="Calibri"/>
                        </a:rPr>
                        <a:t>100.00×</a:t>
                      </a:r>
                    </a:p>
                  </a:txBody>
                  <a:tcPr>
                    <a:solidFill>
                      <a:srgbClr val="D6E4F7"/>
                    </a:solidFill>
                  </a:tcPr>
                </a:tc>
                <a:tc>
                  <a:txBody>
                    <a:bodyPr/>
                    <a:lstStyle/>
                    <a:p>
                      <a:pPr algn="ctr"/>
                      <a:r>
                        <a:rPr sz="1300" dirty="0">
                          <a:solidFill>
                            <a:srgbClr val="000000"/>
                          </a:solidFill>
                          <a:latin typeface="Calibri"/>
                        </a:rPr>
                        <a:t>∞</a:t>
                      </a:r>
                    </a:p>
                  </a:txBody>
                  <a:tcPr>
                    <a:solidFill>
                      <a:srgbClr val="D6E4F7"/>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7899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12880" cy="658368"/>
          </a:xfrm>
          <a:prstGeom prst="rect">
            <a:avLst/>
          </a:prstGeom>
          <a:noFill/>
        </p:spPr>
        <p:txBody>
          <a:bodyPr wrap="square">
            <a:spAutoFit/>
          </a:bodyPr>
          <a:lstStyle/>
          <a:p>
            <a:pPr algn="l"/>
            <a:r>
              <a:rPr sz="2600" b="1" i="0">
                <a:solidFill>
                  <a:srgbClr val="FFFFFF"/>
                </a:solidFill>
                <a:latin typeface="Calibri"/>
              </a:rPr>
              <a:t>Overview de Técnicas de Paralelización</a:t>
            </a:r>
          </a:p>
        </p:txBody>
      </p:sp>
      <p:graphicFrame>
        <p:nvGraphicFramePr>
          <p:cNvPr id="4" name="Table 3"/>
          <p:cNvGraphicFramePr>
            <a:graphicFrameLocks noGrp="1"/>
          </p:cNvGraphicFramePr>
          <p:nvPr/>
        </p:nvGraphicFramePr>
        <p:xfrm>
          <a:off x="365760" y="1207008"/>
          <a:ext cx="11430000" cy="3072384"/>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438912">
                <a:tc>
                  <a:txBody>
                    <a:bodyPr/>
                    <a:lstStyle/>
                    <a:p>
                      <a:pPr algn="ctr"/>
                      <a:r>
                        <a:rPr sz="1100" b="1" dirty="0" err="1">
                          <a:solidFill>
                            <a:srgbClr val="FFFFFF"/>
                          </a:solidFill>
                          <a:latin typeface="Calibri"/>
                        </a:rPr>
                        <a:t>Versión</a:t>
                      </a:r>
                      <a:endParaRPr sz="1100" b="1" dirty="0">
                        <a:solidFill>
                          <a:srgbClr val="FFFFFF"/>
                        </a:solidFill>
                        <a:latin typeface="Calibri"/>
                      </a:endParaRPr>
                    </a:p>
                  </a:txBody>
                  <a:tcPr>
                    <a:solidFill>
                      <a:srgbClr val="1F3564"/>
                    </a:solidFill>
                  </a:tcPr>
                </a:tc>
                <a:tc>
                  <a:txBody>
                    <a:bodyPr/>
                    <a:lstStyle/>
                    <a:p>
                      <a:pPr algn="ctr"/>
                      <a:r>
                        <a:rPr sz="1100" b="1">
                          <a:solidFill>
                            <a:srgbClr val="FFFFFF"/>
                          </a:solidFill>
                          <a:latin typeface="Calibri"/>
                        </a:rPr>
                        <a:t>Técnica</a:t>
                      </a:r>
                    </a:p>
                  </a:txBody>
                  <a:tcPr>
                    <a:solidFill>
                      <a:srgbClr val="1F3564"/>
                    </a:solidFill>
                  </a:tcPr>
                </a:tc>
                <a:tc>
                  <a:txBody>
                    <a:bodyPr/>
                    <a:lstStyle/>
                    <a:p>
                      <a:pPr algn="ctr"/>
                      <a:r>
                        <a:rPr sz="1100" b="1">
                          <a:solidFill>
                            <a:srgbClr val="FFFFFF"/>
                          </a:solidFill>
                          <a:latin typeface="Calibri"/>
                        </a:rPr>
                        <a:t>Descripción</a:t>
                      </a:r>
                    </a:p>
                  </a:txBody>
                  <a:tcPr>
                    <a:solidFill>
                      <a:srgbClr val="1F3564"/>
                    </a:solidFill>
                  </a:tcPr>
                </a:tc>
                <a:tc>
                  <a:txBody>
                    <a:bodyPr/>
                    <a:lstStyle/>
                    <a:p>
                      <a:pPr algn="ctr"/>
                      <a:r>
                        <a:rPr sz="1100" b="1">
                          <a:solidFill>
                            <a:srgbClr val="FFFFFF"/>
                          </a:solidFill>
                          <a:latin typeface="Calibri"/>
                        </a:rPr>
                        <a:t>Tiempo (local)</a:t>
                      </a:r>
                    </a:p>
                  </a:txBody>
                  <a:tcPr>
                    <a:solidFill>
                      <a:srgbClr val="1F3564"/>
                    </a:solidFill>
                  </a:tcPr>
                </a:tc>
                <a:tc>
                  <a:txBody>
                    <a:bodyPr/>
                    <a:lstStyle/>
                    <a:p>
                      <a:pPr algn="ctr"/>
                      <a:r>
                        <a:rPr sz="1100" b="1">
                          <a:solidFill>
                            <a:srgbClr val="FFFFFF"/>
                          </a:solidFill>
                          <a:latin typeface="Calibri"/>
                        </a:rPr>
                        <a:t>Speedup</a:t>
                      </a:r>
                    </a:p>
                  </a:txBody>
                  <a:tcPr>
                    <a:solidFill>
                      <a:srgbClr val="1F3564"/>
                    </a:solidFill>
                  </a:tcPr>
                </a:tc>
                <a:extLst>
                  <a:ext uri="{0D108BD9-81ED-4DB2-BD59-A6C34878D82A}">
                    <a16:rowId xmlns:a16="http://schemas.microsoft.com/office/drawing/2014/main" val="10000"/>
                  </a:ext>
                </a:extLst>
              </a:tr>
              <a:tr h="438912">
                <a:tc>
                  <a:txBody>
                    <a:bodyPr/>
                    <a:lstStyle/>
                    <a:p>
                      <a:pPr algn="l"/>
                      <a:r>
                        <a:rPr sz="1100" dirty="0">
                          <a:solidFill>
                            <a:srgbClr val="000000"/>
                          </a:solidFill>
                          <a:latin typeface="Calibri"/>
                        </a:rPr>
                        <a:t>V1</a:t>
                      </a:r>
                    </a:p>
                  </a:txBody>
                  <a:tcPr>
                    <a:solidFill>
                      <a:srgbClr val="D6E4F7"/>
                    </a:solidFill>
                  </a:tcPr>
                </a:tc>
                <a:tc>
                  <a:txBody>
                    <a:bodyPr/>
                    <a:lstStyle/>
                    <a:p>
                      <a:pPr algn="ctr"/>
                      <a:r>
                        <a:rPr sz="1100" dirty="0" err="1">
                          <a:solidFill>
                            <a:srgbClr val="000000"/>
                          </a:solidFill>
                          <a:latin typeface="Calibri"/>
                        </a:rPr>
                        <a:t>Secuencial</a:t>
                      </a:r>
                      <a:r>
                        <a:rPr sz="1100" dirty="0">
                          <a:solidFill>
                            <a:srgbClr val="000000"/>
                          </a:solidFill>
                          <a:latin typeface="Calibri"/>
                        </a:rPr>
                        <a:t> base</a:t>
                      </a:r>
                    </a:p>
                  </a:txBody>
                  <a:tcPr>
                    <a:solidFill>
                      <a:srgbClr val="D6E4F7"/>
                    </a:solidFill>
                  </a:tcPr>
                </a:tc>
                <a:tc>
                  <a:txBody>
                    <a:bodyPr/>
                    <a:lstStyle/>
                    <a:p>
                      <a:pPr algn="ctr"/>
                      <a:r>
                        <a:rPr sz="1100">
                          <a:solidFill>
                            <a:srgbClr val="000000"/>
                          </a:solidFill>
                          <a:latin typeface="Calibri"/>
                        </a:rPr>
                        <a:t>vector&lt;vector&lt;int&gt;&gt;, doble buffer</a:t>
                      </a:r>
                    </a:p>
                  </a:txBody>
                  <a:tcPr>
                    <a:solidFill>
                      <a:srgbClr val="D6E4F7"/>
                    </a:solidFill>
                  </a:tcPr>
                </a:tc>
                <a:tc>
                  <a:txBody>
                    <a:bodyPr/>
                    <a:lstStyle/>
                    <a:p>
                      <a:pPr algn="ctr"/>
                      <a:r>
                        <a:rPr sz="1100">
                          <a:solidFill>
                            <a:srgbClr val="000000"/>
                          </a:solidFill>
                          <a:latin typeface="Calibri"/>
                        </a:rPr>
                        <a:t>1.927 s</a:t>
                      </a:r>
                    </a:p>
                  </a:txBody>
                  <a:tcPr>
                    <a:solidFill>
                      <a:srgbClr val="D6E4F7"/>
                    </a:solidFill>
                  </a:tcPr>
                </a:tc>
                <a:tc>
                  <a:txBody>
                    <a:bodyPr/>
                    <a:lstStyle/>
                    <a:p>
                      <a:pPr algn="ctr"/>
                      <a:r>
                        <a:rPr sz="1100">
                          <a:solidFill>
                            <a:srgbClr val="000000"/>
                          </a:solidFill>
                          <a:latin typeface="Calibri"/>
                        </a:rPr>
                        <a:t>1.00×</a:t>
                      </a:r>
                    </a:p>
                  </a:txBody>
                  <a:tcPr>
                    <a:solidFill>
                      <a:srgbClr val="D6E4F7"/>
                    </a:solidFill>
                  </a:tcPr>
                </a:tc>
                <a:extLst>
                  <a:ext uri="{0D108BD9-81ED-4DB2-BD59-A6C34878D82A}">
                    <a16:rowId xmlns:a16="http://schemas.microsoft.com/office/drawing/2014/main" val="10001"/>
                  </a:ext>
                </a:extLst>
              </a:tr>
              <a:tr h="438912">
                <a:tc>
                  <a:txBody>
                    <a:bodyPr/>
                    <a:lstStyle/>
                    <a:p>
                      <a:pPr algn="l"/>
                      <a:r>
                        <a:rPr sz="1100">
                          <a:solidFill>
                            <a:srgbClr val="000000"/>
                          </a:solidFill>
                          <a:latin typeface="Calibri"/>
                        </a:rPr>
                        <a:t>V2</a:t>
                      </a:r>
                    </a:p>
                  </a:txBody>
                  <a:tcPr>
                    <a:solidFill>
                      <a:srgbClr val="FFFFFF"/>
                    </a:solidFill>
                  </a:tcPr>
                </a:tc>
                <a:tc>
                  <a:txBody>
                    <a:bodyPr/>
                    <a:lstStyle/>
                    <a:p>
                      <a:pPr algn="ctr"/>
                      <a:r>
                        <a:rPr sz="1100" dirty="0">
                          <a:solidFill>
                            <a:srgbClr val="000000"/>
                          </a:solidFill>
                          <a:latin typeface="Calibri"/>
                        </a:rPr>
                        <a:t>Memoria </a:t>
                      </a:r>
                      <a:r>
                        <a:rPr sz="1100" dirty="0" err="1">
                          <a:solidFill>
                            <a:srgbClr val="000000"/>
                          </a:solidFill>
                          <a:latin typeface="Calibri"/>
                        </a:rPr>
                        <a:t>contigua</a:t>
                      </a:r>
                      <a:endParaRPr sz="1100" dirty="0">
                        <a:solidFill>
                          <a:srgbClr val="000000"/>
                        </a:solidFill>
                        <a:latin typeface="Calibri"/>
                      </a:endParaRPr>
                    </a:p>
                  </a:txBody>
                  <a:tcPr>
                    <a:solidFill>
                      <a:srgbClr val="FFFFFF"/>
                    </a:solidFill>
                  </a:tcPr>
                </a:tc>
                <a:tc>
                  <a:txBody>
                    <a:bodyPr/>
                    <a:lstStyle/>
                    <a:p>
                      <a:pPr algn="ctr"/>
                      <a:r>
                        <a:rPr sz="1100" dirty="0">
                          <a:solidFill>
                            <a:srgbClr val="000000"/>
                          </a:solidFill>
                          <a:latin typeface="Calibri"/>
                        </a:rPr>
                        <a:t>vector&lt;int&gt; plano, </a:t>
                      </a:r>
                      <a:r>
                        <a:rPr sz="1100" dirty="0" err="1">
                          <a:solidFill>
                            <a:srgbClr val="000000"/>
                          </a:solidFill>
                          <a:latin typeface="Calibri"/>
                        </a:rPr>
                        <a:t>acceso</a:t>
                      </a:r>
                      <a:r>
                        <a:rPr sz="1100" dirty="0">
                          <a:solidFill>
                            <a:srgbClr val="000000"/>
                          </a:solidFill>
                          <a:latin typeface="Calibri"/>
                        </a:rPr>
                        <a:t> </a:t>
                      </a:r>
                      <a:r>
                        <a:rPr sz="1100" dirty="0" err="1">
                          <a:solidFill>
                            <a:srgbClr val="000000"/>
                          </a:solidFill>
                          <a:latin typeface="Calibri"/>
                        </a:rPr>
                        <a:t>i</a:t>
                      </a:r>
                      <a:r>
                        <a:rPr sz="1100" dirty="0">
                          <a:solidFill>
                            <a:srgbClr val="000000"/>
                          </a:solidFill>
                          <a:latin typeface="Calibri"/>
                        </a:rPr>
                        <a:t>*</a:t>
                      </a:r>
                      <a:r>
                        <a:rPr sz="1100" dirty="0" err="1">
                          <a:solidFill>
                            <a:srgbClr val="000000"/>
                          </a:solidFill>
                          <a:latin typeface="Calibri"/>
                        </a:rPr>
                        <a:t>N+j</a:t>
                      </a:r>
                      <a:endParaRPr sz="1100" dirty="0">
                        <a:solidFill>
                          <a:srgbClr val="000000"/>
                        </a:solidFill>
                        <a:latin typeface="Calibri"/>
                      </a:endParaRPr>
                    </a:p>
                  </a:txBody>
                  <a:tcPr>
                    <a:solidFill>
                      <a:srgbClr val="FFFFFF"/>
                    </a:solidFill>
                  </a:tcPr>
                </a:tc>
                <a:tc>
                  <a:txBody>
                    <a:bodyPr/>
                    <a:lstStyle/>
                    <a:p>
                      <a:pPr algn="ctr"/>
                      <a:r>
                        <a:rPr sz="1100">
                          <a:solidFill>
                            <a:srgbClr val="000000"/>
                          </a:solidFill>
                          <a:latin typeface="Calibri"/>
                        </a:rPr>
                        <a:t>1.560 s</a:t>
                      </a:r>
                    </a:p>
                  </a:txBody>
                  <a:tcPr>
                    <a:solidFill>
                      <a:srgbClr val="FFFFFF"/>
                    </a:solidFill>
                  </a:tcPr>
                </a:tc>
                <a:tc>
                  <a:txBody>
                    <a:bodyPr/>
                    <a:lstStyle/>
                    <a:p>
                      <a:pPr algn="ctr"/>
                      <a:r>
                        <a:rPr sz="1100">
                          <a:solidFill>
                            <a:srgbClr val="000000"/>
                          </a:solidFill>
                          <a:latin typeface="Calibri"/>
                        </a:rPr>
                        <a:t>1.24×</a:t>
                      </a:r>
                    </a:p>
                  </a:txBody>
                  <a:tcPr>
                    <a:solidFill>
                      <a:srgbClr val="FFFFFF"/>
                    </a:solidFill>
                  </a:tcPr>
                </a:tc>
                <a:extLst>
                  <a:ext uri="{0D108BD9-81ED-4DB2-BD59-A6C34878D82A}">
                    <a16:rowId xmlns:a16="http://schemas.microsoft.com/office/drawing/2014/main" val="10002"/>
                  </a:ext>
                </a:extLst>
              </a:tr>
              <a:tr h="438912">
                <a:tc>
                  <a:txBody>
                    <a:bodyPr/>
                    <a:lstStyle/>
                    <a:p>
                      <a:pPr algn="l"/>
                      <a:r>
                        <a:rPr sz="1100">
                          <a:solidFill>
                            <a:srgbClr val="000000"/>
                          </a:solidFill>
                          <a:latin typeface="Calibri"/>
                        </a:rPr>
                        <a:t>V3</a:t>
                      </a:r>
                    </a:p>
                  </a:txBody>
                  <a:tcPr>
                    <a:solidFill>
                      <a:srgbClr val="D6E4F7"/>
                    </a:solidFill>
                  </a:tcPr>
                </a:tc>
                <a:tc>
                  <a:txBody>
                    <a:bodyPr/>
                    <a:lstStyle/>
                    <a:p>
                      <a:pPr algn="ctr"/>
                      <a:r>
                        <a:rPr sz="1100" dirty="0">
                          <a:solidFill>
                            <a:srgbClr val="000000"/>
                          </a:solidFill>
                          <a:latin typeface="Calibri"/>
                        </a:rPr>
                        <a:t>OpenMP</a:t>
                      </a:r>
                    </a:p>
                  </a:txBody>
                  <a:tcPr>
                    <a:solidFill>
                      <a:srgbClr val="D6E4F7"/>
                    </a:solidFill>
                  </a:tcPr>
                </a:tc>
                <a:tc>
                  <a:txBody>
                    <a:bodyPr/>
                    <a:lstStyle/>
                    <a:p>
                      <a:pPr algn="ctr"/>
                      <a:r>
                        <a:rPr sz="1100" dirty="0">
                          <a:solidFill>
                            <a:srgbClr val="000000"/>
                          </a:solidFill>
                          <a:latin typeface="Calibri"/>
                        </a:rPr>
                        <a:t>#pragma </a:t>
                      </a:r>
                      <a:r>
                        <a:rPr sz="1100" dirty="0" err="1">
                          <a:solidFill>
                            <a:srgbClr val="000000"/>
                          </a:solidFill>
                          <a:latin typeface="Calibri"/>
                        </a:rPr>
                        <a:t>omp</a:t>
                      </a:r>
                      <a:r>
                        <a:rPr sz="1100" dirty="0">
                          <a:solidFill>
                            <a:srgbClr val="000000"/>
                          </a:solidFill>
                          <a:latin typeface="Calibri"/>
                        </a:rPr>
                        <a:t> parallel for, 8 </a:t>
                      </a:r>
                      <a:r>
                        <a:rPr sz="1100" dirty="0" err="1">
                          <a:solidFill>
                            <a:srgbClr val="000000"/>
                          </a:solidFill>
                          <a:latin typeface="Calibri"/>
                        </a:rPr>
                        <a:t>hilos</a:t>
                      </a:r>
                      <a:endParaRPr sz="1100" dirty="0">
                        <a:solidFill>
                          <a:srgbClr val="000000"/>
                        </a:solidFill>
                        <a:latin typeface="Calibri"/>
                      </a:endParaRPr>
                    </a:p>
                  </a:txBody>
                  <a:tcPr>
                    <a:solidFill>
                      <a:srgbClr val="D6E4F7"/>
                    </a:solidFill>
                  </a:tcPr>
                </a:tc>
                <a:tc>
                  <a:txBody>
                    <a:bodyPr/>
                    <a:lstStyle/>
                    <a:p>
                      <a:pPr algn="ctr"/>
                      <a:r>
                        <a:rPr sz="1100">
                          <a:solidFill>
                            <a:srgbClr val="000000"/>
                          </a:solidFill>
                          <a:latin typeface="Calibri"/>
                        </a:rPr>
                        <a:t>0.307 s</a:t>
                      </a:r>
                    </a:p>
                  </a:txBody>
                  <a:tcPr>
                    <a:solidFill>
                      <a:srgbClr val="D6E4F7"/>
                    </a:solidFill>
                  </a:tcPr>
                </a:tc>
                <a:tc>
                  <a:txBody>
                    <a:bodyPr/>
                    <a:lstStyle/>
                    <a:p>
                      <a:pPr algn="ctr"/>
                      <a:r>
                        <a:rPr sz="1100">
                          <a:solidFill>
                            <a:srgbClr val="000000"/>
                          </a:solidFill>
                          <a:latin typeface="Calibri"/>
                        </a:rPr>
                        <a:t>6.27×</a:t>
                      </a:r>
                    </a:p>
                  </a:txBody>
                  <a:tcPr>
                    <a:solidFill>
                      <a:srgbClr val="D6E4F7"/>
                    </a:solidFill>
                  </a:tcPr>
                </a:tc>
                <a:extLst>
                  <a:ext uri="{0D108BD9-81ED-4DB2-BD59-A6C34878D82A}">
                    <a16:rowId xmlns:a16="http://schemas.microsoft.com/office/drawing/2014/main" val="10003"/>
                  </a:ext>
                </a:extLst>
              </a:tr>
              <a:tr h="438912">
                <a:tc>
                  <a:txBody>
                    <a:bodyPr/>
                    <a:lstStyle/>
                    <a:p>
                      <a:pPr algn="l"/>
                      <a:r>
                        <a:rPr sz="1100">
                          <a:solidFill>
                            <a:srgbClr val="000000"/>
                          </a:solidFill>
                          <a:latin typeface="Calibri"/>
                        </a:rPr>
                        <a:t>V4</a:t>
                      </a:r>
                    </a:p>
                  </a:txBody>
                  <a:tcPr>
                    <a:solidFill>
                      <a:srgbClr val="FFFFFF"/>
                    </a:solidFill>
                  </a:tcPr>
                </a:tc>
                <a:tc>
                  <a:txBody>
                    <a:bodyPr/>
                    <a:lstStyle/>
                    <a:p>
                      <a:pPr algn="ctr"/>
                      <a:r>
                        <a:rPr sz="1100">
                          <a:solidFill>
                            <a:srgbClr val="000000"/>
                          </a:solidFill>
                          <a:latin typeface="Calibri"/>
                        </a:rPr>
                        <a:t>MPI</a:t>
                      </a:r>
                    </a:p>
                  </a:txBody>
                  <a:tcPr>
                    <a:solidFill>
                      <a:srgbClr val="FFFFFF"/>
                    </a:solidFill>
                  </a:tcPr>
                </a:tc>
                <a:tc>
                  <a:txBody>
                    <a:bodyPr/>
                    <a:lstStyle/>
                    <a:p>
                      <a:pPr algn="ctr"/>
                      <a:r>
                        <a:rPr sz="1100" dirty="0" err="1">
                          <a:solidFill>
                            <a:srgbClr val="000000"/>
                          </a:solidFill>
                          <a:latin typeface="Calibri"/>
                        </a:rPr>
                        <a:t>Reparto</a:t>
                      </a:r>
                      <a:r>
                        <a:rPr sz="1100" dirty="0">
                          <a:solidFill>
                            <a:srgbClr val="000000"/>
                          </a:solidFill>
                          <a:latin typeface="Calibri"/>
                        </a:rPr>
                        <a:t> de </a:t>
                      </a:r>
                      <a:r>
                        <a:rPr sz="1100" dirty="0" err="1">
                          <a:solidFill>
                            <a:srgbClr val="000000"/>
                          </a:solidFill>
                          <a:latin typeface="Calibri"/>
                        </a:rPr>
                        <a:t>filas</a:t>
                      </a:r>
                      <a:r>
                        <a:rPr sz="1100" dirty="0">
                          <a:solidFill>
                            <a:srgbClr val="000000"/>
                          </a:solidFill>
                          <a:latin typeface="Calibri"/>
                        </a:rPr>
                        <a:t> + </a:t>
                      </a:r>
                      <a:r>
                        <a:rPr sz="1100" dirty="0" err="1">
                          <a:solidFill>
                            <a:srgbClr val="000000"/>
                          </a:solidFill>
                          <a:latin typeface="Calibri"/>
                        </a:rPr>
                        <a:t>filas</a:t>
                      </a:r>
                      <a:r>
                        <a:rPr sz="1100" dirty="0">
                          <a:solidFill>
                            <a:srgbClr val="000000"/>
                          </a:solidFill>
                          <a:latin typeface="Calibri"/>
                        </a:rPr>
                        <a:t> </a:t>
                      </a:r>
                      <a:r>
                        <a:rPr sz="1100" dirty="0" err="1">
                          <a:solidFill>
                            <a:srgbClr val="000000"/>
                          </a:solidFill>
                          <a:latin typeface="Calibri"/>
                        </a:rPr>
                        <a:t>fantasma</a:t>
                      </a:r>
                      <a:r>
                        <a:rPr sz="1100" dirty="0">
                          <a:solidFill>
                            <a:srgbClr val="000000"/>
                          </a:solidFill>
                          <a:latin typeface="Calibri"/>
                        </a:rPr>
                        <a:t>, 8 proc.</a:t>
                      </a:r>
                    </a:p>
                  </a:txBody>
                  <a:tcPr>
                    <a:solidFill>
                      <a:srgbClr val="FFFFFF"/>
                    </a:solidFill>
                  </a:tcPr>
                </a:tc>
                <a:tc>
                  <a:txBody>
                    <a:bodyPr/>
                    <a:lstStyle/>
                    <a:p>
                      <a:pPr algn="ctr"/>
                      <a:r>
                        <a:rPr sz="1100" dirty="0">
                          <a:solidFill>
                            <a:srgbClr val="000000"/>
                          </a:solidFill>
                          <a:latin typeface="Calibri"/>
                        </a:rPr>
                        <a:t>0.311 s</a:t>
                      </a:r>
                    </a:p>
                  </a:txBody>
                  <a:tcPr>
                    <a:solidFill>
                      <a:srgbClr val="FFFFFF"/>
                    </a:solidFill>
                  </a:tcPr>
                </a:tc>
                <a:tc>
                  <a:txBody>
                    <a:bodyPr/>
                    <a:lstStyle/>
                    <a:p>
                      <a:pPr algn="ctr"/>
                      <a:r>
                        <a:rPr sz="1100">
                          <a:solidFill>
                            <a:srgbClr val="000000"/>
                          </a:solidFill>
                          <a:latin typeface="Calibri"/>
                        </a:rPr>
                        <a:t>6.19×</a:t>
                      </a:r>
                    </a:p>
                  </a:txBody>
                  <a:tcPr>
                    <a:solidFill>
                      <a:srgbClr val="FFFFFF"/>
                    </a:solidFill>
                  </a:tcPr>
                </a:tc>
                <a:extLst>
                  <a:ext uri="{0D108BD9-81ED-4DB2-BD59-A6C34878D82A}">
                    <a16:rowId xmlns:a16="http://schemas.microsoft.com/office/drawing/2014/main" val="10004"/>
                  </a:ext>
                </a:extLst>
              </a:tr>
              <a:tr h="438912">
                <a:tc>
                  <a:txBody>
                    <a:bodyPr/>
                    <a:lstStyle/>
                    <a:p>
                      <a:pPr algn="l"/>
                      <a:r>
                        <a:rPr sz="1100">
                          <a:solidFill>
                            <a:srgbClr val="000000"/>
                          </a:solidFill>
                          <a:latin typeface="Calibri"/>
                        </a:rPr>
                        <a:t>V5</a:t>
                      </a:r>
                    </a:p>
                  </a:txBody>
                  <a:tcPr>
                    <a:solidFill>
                      <a:srgbClr val="D6E4F7"/>
                    </a:solidFill>
                  </a:tcPr>
                </a:tc>
                <a:tc>
                  <a:txBody>
                    <a:bodyPr/>
                    <a:lstStyle/>
                    <a:p>
                      <a:pPr algn="ctr"/>
                      <a:r>
                        <a:rPr sz="1100">
                          <a:solidFill>
                            <a:srgbClr val="000000"/>
                          </a:solidFill>
                          <a:latin typeface="Calibri"/>
                        </a:rPr>
                        <a:t>MPI + OpenMP</a:t>
                      </a:r>
                    </a:p>
                  </a:txBody>
                  <a:tcPr>
                    <a:solidFill>
                      <a:srgbClr val="D6E4F7"/>
                    </a:solidFill>
                  </a:tcPr>
                </a:tc>
                <a:tc>
                  <a:txBody>
                    <a:bodyPr/>
                    <a:lstStyle/>
                    <a:p>
                      <a:pPr algn="ctr"/>
                      <a:r>
                        <a:rPr sz="1100">
                          <a:solidFill>
                            <a:srgbClr val="000000"/>
                          </a:solidFill>
                          <a:latin typeface="Calibri"/>
                        </a:rPr>
                        <a:t>Híbrida: 8 proc. MPI × 2 hilos OMP</a:t>
                      </a:r>
                    </a:p>
                  </a:txBody>
                  <a:tcPr>
                    <a:solidFill>
                      <a:srgbClr val="D6E4F7"/>
                    </a:solidFill>
                  </a:tcPr>
                </a:tc>
                <a:tc>
                  <a:txBody>
                    <a:bodyPr/>
                    <a:lstStyle/>
                    <a:p>
                      <a:pPr algn="ctr"/>
                      <a:r>
                        <a:rPr sz="1100" dirty="0">
                          <a:solidFill>
                            <a:srgbClr val="000000"/>
                          </a:solidFill>
                          <a:latin typeface="Calibri"/>
                        </a:rPr>
                        <a:t>0.187 s</a:t>
                      </a:r>
                    </a:p>
                  </a:txBody>
                  <a:tcPr>
                    <a:solidFill>
                      <a:srgbClr val="D6E4F7"/>
                    </a:solidFill>
                  </a:tcPr>
                </a:tc>
                <a:tc>
                  <a:txBody>
                    <a:bodyPr/>
                    <a:lstStyle/>
                    <a:p>
                      <a:pPr algn="ctr"/>
                      <a:r>
                        <a:rPr sz="1100">
                          <a:solidFill>
                            <a:srgbClr val="000000"/>
                          </a:solidFill>
                          <a:latin typeface="Calibri"/>
                        </a:rPr>
                        <a:t>10.32×</a:t>
                      </a:r>
                    </a:p>
                  </a:txBody>
                  <a:tcPr>
                    <a:solidFill>
                      <a:srgbClr val="D6E4F7"/>
                    </a:solidFill>
                  </a:tcPr>
                </a:tc>
                <a:extLst>
                  <a:ext uri="{0D108BD9-81ED-4DB2-BD59-A6C34878D82A}">
                    <a16:rowId xmlns:a16="http://schemas.microsoft.com/office/drawing/2014/main" val="10005"/>
                  </a:ext>
                </a:extLst>
              </a:tr>
              <a:tr h="438912">
                <a:tc>
                  <a:txBody>
                    <a:bodyPr/>
                    <a:lstStyle/>
                    <a:p>
                      <a:pPr algn="l"/>
                      <a:r>
                        <a:rPr sz="1100">
                          <a:solidFill>
                            <a:srgbClr val="000000"/>
                          </a:solidFill>
                          <a:latin typeface="Calibri"/>
                        </a:rPr>
                        <a:t>V6</a:t>
                      </a:r>
                    </a:p>
                  </a:txBody>
                  <a:tcPr>
                    <a:solidFill>
                      <a:srgbClr val="FFFFFF"/>
                    </a:solidFill>
                  </a:tcPr>
                </a:tc>
                <a:tc>
                  <a:txBody>
                    <a:bodyPr/>
                    <a:lstStyle/>
                    <a:p>
                      <a:pPr algn="ctr"/>
                      <a:r>
                        <a:rPr sz="1100">
                          <a:solidFill>
                            <a:srgbClr val="000000"/>
                          </a:solidFill>
                          <a:latin typeface="Calibri"/>
                        </a:rPr>
                        <a:t>CUDA GPU</a:t>
                      </a:r>
                    </a:p>
                  </a:txBody>
                  <a:tcPr>
                    <a:solidFill>
                      <a:srgbClr val="FFFFFF"/>
                    </a:solidFill>
                  </a:tcPr>
                </a:tc>
                <a:tc>
                  <a:txBody>
                    <a:bodyPr/>
                    <a:lstStyle/>
                    <a:p>
                      <a:pPr algn="ctr"/>
                      <a:r>
                        <a:rPr sz="1100">
                          <a:solidFill>
                            <a:srgbClr val="000000"/>
                          </a:solidFill>
                          <a:latin typeface="Calibri"/>
                        </a:rPr>
                        <a:t>RTX 4060 — 1 hilo lógico CUDA por celda</a:t>
                      </a:r>
                    </a:p>
                  </a:txBody>
                  <a:tcPr>
                    <a:solidFill>
                      <a:srgbClr val="FFFFFF"/>
                    </a:solidFill>
                  </a:tcPr>
                </a:tc>
                <a:tc>
                  <a:txBody>
                    <a:bodyPr/>
                    <a:lstStyle/>
                    <a:p>
                      <a:pPr algn="ctr"/>
                      <a:r>
                        <a:rPr sz="1100" dirty="0">
                          <a:solidFill>
                            <a:srgbClr val="000000"/>
                          </a:solidFill>
                          <a:latin typeface="Calibri"/>
                        </a:rPr>
                        <a:t>0.018 s</a:t>
                      </a:r>
                    </a:p>
                  </a:txBody>
                  <a:tcPr>
                    <a:solidFill>
                      <a:srgbClr val="FFFFFF"/>
                    </a:solidFill>
                  </a:tcPr>
                </a:tc>
                <a:tc>
                  <a:txBody>
                    <a:bodyPr/>
                    <a:lstStyle/>
                    <a:p>
                      <a:pPr algn="ctr"/>
                      <a:r>
                        <a:rPr sz="1100" dirty="0">
                          <a:solidFill>
                            <a:srgbClr val="000000"/>
                          </a:solidFill>
                          <a:latin typeface="Calibri"/>
                        </a:rPr>
                        <a:t>106.17×</a:t>
                      </a:r>
                    </a:p>
                  </a:txBody>
                  <a:tcPr>
                    <a:solidFill>
                      <a:srgbClr val="FFFFFF"/>
                    </a:solidFill>
                  </a:tcPr>
                </a:tc>
                <a:extLst>
                  <a:ext uri="{0D108BD9-81ED-4DB2-BD59-A6C34878D82A}">
                    <a16:rowId xmlns:a16="http://schemas.microsoft.com/office/drawing/2014/main" val="10006"/>
                  </a:ext>
                </a:extLst>
              </a:tr>
            </a:tbl>
          </a:graphicData>
        </a:graphic>
      </p:graphicFrame>
      <p:sp>
        <p:nvSpPr>
          <p:cNvPr id="5" name="Rectangle 4"/>
          <p:cNvSpPr/>
          <p:nvPr/>
        </p:nvSpPr>
        <p:spPr>
          <a:xfrm>
            <a:off x="365760" y="4572000"/>
            <a:ext cx="11430000" cy="566928"/>
          </a:xfrm>
          <a:prstGeom prst="rect">
            <a:avLst/>
          </a:prstGeom>
          <a:solidFill>
            <a:srgbClr val="1F3564"/>
          </a:solidFill>
          <a:ln w="12700">
            <a:solidFill>
              <a:srgbClr val="70B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4626864"/>
            <a:ext cx="11155680" cy="457200"/>
          </a:xfrm>
          <a:prstGeom prst="rect">
            <a:avLst/>
          </a:prstGeom>
          <a:noFill/>
        </p:spPr>
        <p:txBody>
          <a:bodyPr wrap="square">
            <a:spAutoFit/>
          </a:bodyPr>
          <a:lstStyle/>
          <a:p>
            <a:pPr algn="ctr"/>
            <a:r>
              <a:rPr sz="1200" b="0" i="0" dirty="0" err="1">
                <a:solidFill>
                  <a:srgbClr val="FFFFFF"/>
                </a:solidFill>
                <a:latin typeface="Calibri"/>
              </a:rPr>
              <a:t>Todas</a:t>
            </a:r>
            <a:r>
              <a:rPr sz="1200" b="0" i="0" dirty="0">
                <a:solidFill>
                  <a:srgbClr val="FFFFFF"/>
                </a:solidFill>
                <a:latin typeface="Calibri"/>
              </a:rPr>
              <a:t> las </a:t>
            </a:r>
            <a:r>
              <a:rPr sz="1200" b="0" i="0" dirty="0" err="1">
                <a:solidFill>
                  <a:srgbClr val="FFFFFF"/>
                </a:solidFill>
                <a:latin typeface="Calibri"/>
              </a:rPr>
              <a:t>versiones</a:t>
            </a:r>
            <a:r>
              <a:rPr sz="1200" b="0" i="0" dirty="0">
                <a:solidFill>
                  <a:srgbClr val="FFFFFF"/>
                </a:solidFill>
                <a:latin typeface="Calibri"/>
              </a:rPr>
              <a:t> </a:t>
            </a:r>
            <a:r>
              <a:rPr sz="1200" b="0" i="0" dirty="0" err="1">
                <a:solidFill>
                  <a:srgbClr val="FFFFFF"/>
                </a:solidFill>
                <a:latin typeface="Calibri"/>
              </a:rPr>
              <a:t>producen</a:t>
            </a:r>
            <a:r>
              <a:rPr sz="1200" b="0" i="0" dirty="0">
                <a:solidFill>
                  <a:srgbClr val="FFFFFF"/>
                </a:solidFill>
                <a:latin typeface="Calibri"/>
              </a:rPr>
              <a:t> </a:t>
            </a:r>
            <a:r>
              <a:rPr sz="1200" b="0" i="0" dirty="0" err="1">
                <a:solidFill>
                  <a:srgbClr val="FFFFFF"/>
                </a:solidFill>
                <a:latin typeface="Calibri"/>
              </a:rPr>
              <a:t>exactamente</a:t>
            </a:r>
            <a:r>
              <a:rPr sz="1200" b="0" i="0" dirty="0">
                <a:solidFill>
                  <a:srgbClr val="FFFFFF"/>
                </a:solidFill>
                <a:latin typeface="Calibri"/>
              </a:rPr>
              <a:t> 43 306 </a:t>
            </a:r>
            <a:r>
              <a:rPr sz="1200" b="0" i="0" dirty="0" err="1">
                <a:solidFill>
                  <a:srgbClr val="FFFFFF"/>
                </a:solidFill>
                <a:latin typeface="Calibri"/>
              </a:rPr>
              <a:t>células</a:t>
            </a:r>
            <a:r>
              <a:rPr sz="1200" b="0" i="0" dirty="0">
                <a:solidFill>
                  <a:srgbClr val="FFFFFF"/>
                </a:solidFill>
                <a:latin typeface="Calibri"/>
              </a:rPr>
              <a:t> </a:t>
            </a:r>
            <a:r>
              <a:rPr sz="1200" b="0" i="0" dirty="0" err="1">
                <a:solidFill>
                  <a:srgbClr val="FFFFFF"/>
                </a:solidFill>
                <a:latin typeface="Calibri"/>
              </a:rPr>
              <a:t>vivas</a:t>
            </a:r>
            <a:r>
              <a:rPr sz="1200" b="0" i="0" dirty="0">
                <a:solidFill>
                  <a:srgbClr val="FFFFFF"/>
                </a:solidFill>
                <a:latin typeface="Calibri"/>
              </a:rPr>
              <a:t> con </a:t>
            </a:r>
            <a:r>
              <a:rPr sz="1200" b="0" i="0" dirty="0" err="1">
                <a:solidFill>
                  <a:srgbClr val="FFFFFF"/>
                </a:solidFill>
                <a:latin typeface="Calibri"/>
              </a:rPr>
              <a:t>los</a:t>
            </a:r>
            <a:r>
              <a:rPr sz="1200" b="0" i="0" dirty="0">
                <a:solidFill>
                  <a:srgbClr val="FFFFFF"/>
                </a:solidFill>
                <a:latin typeface="Calibri"/>
              </a:rPr>
              <a:t> </a:t>
            </a:r>
            <a:r>
              <a:rPr sz="1200" b="0" i="0" dirty="0" err="1">
                <a:solidFill>
                  <a:srgbClr val="FFFFFF"/>
                </a:solidFill>
                <a:latin typeface="Calibri"/>
              </a:rPr>
              <a:t>mismos</a:t>
            </a:r>
            <a:r>
              <a:rPr sz="1200" b="0" i="0" dirty="0">
                <a:solidFill>
                  <a:srgbClr val="FFFFFF"/>
                </a:solidFill>
                <a:latin typeface="Calibri"/>
              </a:rPr>
              <a:t> </a:t>
            </a:r>
            <a:r>
              <a:rPr sz="1200" b="0" i="0" dirty="0" err="1">
                <a:solidFill>
                  <a:srgbClr val="FFFFFF"/>
                </a:solidFill>
                <a:latin typeface="Calibri"/>
              </a:rPr>
              <a:t>parámetros</a:t>
            </a:r>
            <a:r>
              <a:rPr sz="1200" b="0" i="0" dirty="0">
                <a:solidFill>
                  <a:srgbClr val="FFFFFF"/>
                </a:solidFill>
                <a:latin typeface="Calibri"/>
              </a:rPr>
              <a:t> (N=1000, </a:t>
            </a:r>
            <a:r>
              <a:rPr sz="1200" b="0" i="0" dirty="0" err="1">
                <a:solidFill>
                  <a:srgbClr val="FFFFFF"/>
                </a:solidFill>
                <a:latin typeface="Calibri"/>
              </a:rPr>
              <a:t>generaciones</a:t>
            </a:r>
            <a:r>
              <a:rPr sz="1200" b="0" i="0" dirty="0">
                <a:solidFill>
                  <a:srgbClr val="FFFFFF"/>
                </a:solidFill>
                <a:latin typeface="Calibri"/>
              </a:rPr>
              <a:t>=1000, </a:t>
            </a:r>
            <a:r>
              <a:rPr sz="1200" b="0" i="0" dirty="0" err="1">
                <a:solidFill>
                  <a:srgbClr val="FFFFFF"/>
                </a:solidFill>
                <a:latin typeface="Calibri"/>
              </a:rPr>
              <a:t>semilla</a:t>
            </a:r>
            <a:r>
              <a:rPr sz="1200" b="0" i="0" dirty="0">
                <a:solidFill>
                  <a:srgbClr val="FFFFFF"/>
                </a:solidFill>
                <a:latin typeface="Calibri"/>
              </a:rPr>
              <a:t>=12345, </a:t>
            </a:r>
            <a:r>
              <a:rPr sz="1200" b="0" i="0" dirty="0" err="1">
                <a:solidFill>
                  <a:srgbClr val="FFFFFF"/>
                </a:solidFill>
                <a:latin typeface="Calibri"/>
              </a:rPr>
              <a:t>P_viva</a:t>
            </a:r>
            <a:r>
              <a:rPr sz="1200" b="0" i="0" dirty="0">
                <a:solidFill>
                  <a:srgbClr val="FFFFFF"/>
                </a:solidFill>
                <a:latin typeface="Calibri"/>
              </a:rPr>
              <a:t>=30%).  La </a:t>
            </a:r>
            <a:r>
              <a:rPr sz="1200" b="0" i="0" dirty="0" err="1">
                <a:solidFill>
                  <a:srgbClr val="FFFFFF"/>
                </a:solidFill>
                <a:latin typeface="Calibri"/>
              </a:rPr>
              <a:t>validación</a:t>
            </a:r>
            <a:r>
              <a:rPr sz="1200" b="0" i="0" dirty="0">
                <a:solidFill>
                  <a:srgbClr val="FFFFFF"/>
                </a:solidFill>
                <a:latin typeface="Calibri"/>
              </a:rPr>
              <a:t> </a:t>
            </a:r>
            <a:r>
              <a:rPr sz="1200" b="0" i="0" dirty="0" err="1">
                <a:solidFill>
                  <a:srgbClr val="FFFFFF"/>
                </a:solidFill>
                <a:latin typeface="Calibri"/>
              </a:rPr>
              <a:t>cruzada</a:t>
            </a:r>
            <a:r>
              <a:rPr sz="1200" b="0" i="0" dirty="0">
                <a:solidFill>
                  <a:srgbClr val="FFFFFF"/>
                </a:solidFill>
                <a:latin typeface="Calibri"/>
              </a:rPr>
              <a:t> </a:t>
            </a:r>
            <a:r>
              <a:rPr sz="1200" b="0" i="0" dirty="0" err="1">
                <a:solidFill>
                  <a:srgbClr val="FFFFFF"/>
                </a:solidFill>
                <a:latin typeface="Calibri"/>
              </a:rPr>
              <a:t>garantiza</a:t>
            </a:r>
            <a:r>
              <a:rPr sz="1200" b="0" i="0" dirty="0">
                <a:solidFill>
                  <a:srgbClr val="FFFFFF"/>
                </a:solidFill>
                <a:latin typeface="Calibri"/>
              </a:rPr>
              <a:t> la </a:t>
            </a:r>
            <a:r>
              <a:rPr sz="1200" b="0" i="0" dirty="0" err="1">
                <a:solidFill>
                  <a:srgbClr val="FFFFFF"/>
                </a:solidFill>
                <a:latin typeface="Calibri"/>
              </a:rPr>
              <a:t>corrección</a:t>
            </a:r>
            <a:r>
              <a:rPr sz="1200" b="0" i="0" dirty="0">
                <a:solidFill>
                  <a:srgbClr val="FFFFFF"/>
                </a:solidFill>
                <a:latin typeface="Calibri"/>
              </a:rPr>
              <a:t> de </a:t>
            </a:r>
            <a:r>
              <a:rPr sz="1200" b="0" i="0" dirty="0" err="1">
                <a:solidFill>
                  <a:srgbClr val="FFFFFF"/>
                </a:solidFill>
                <a:latin typeface="Calibri"/>
              </a:rPr>
              <a:t>cada</a:t>
            </a:r>
            <a:r>
              <a:rPr sz="1200" b="0" i="0" dirty="0">
                <a:solidFill>
                  <a:srgbClr val="FFFFFF"/>
                </a:solidFill>
                <a:latin typeface="Calibri"/>
              </a:rPr>
              <a:t> </a:t>
            </a:r>
            <a:r>
              <a:rPr sz="1200" b="0" i="0" dirty="0" err="1">
                <a:solidFill>
                  <a:srgbClr val="FFFFFF"/>
                </a:solidFill>
                <a:latin typeface="Calibri"/>
              </a:rPr>
              <a:t>implementación</a:t>
            </a:r>
            <a:r>
              <a:rPr sz="1200" b="0" i="0" dirty="0">
                <a:solidFill>
                  <a:srgbClr val="FFFFFF"/>
                </a:solidFill>
                <a:latin typeface="Calibri"/>
              </a:rPr>
              <a:t>.</a:t>
            </a:r>
          </a:p>
        </p:txBody>
      </p:sp>
      <p:sp>
        <p:nvSpPr>
          <p:cNvPr id="7" name="TextBox 6"/>
          <p:cNvSpPr txBox="1"/>
          <p:nvPr/>
        </p:nvSpPr>
        <p:spPr>
          <a:xfrm>
            <a:off x="365760" y="5285232"/>
            <a:ext cx="11430000" cy="307777"/>
          </a:xfrm>
          <a:prstGeom prst="rect">
            <a:avLst/>
          </a:prstGeom>
          <a:noFill/>
        </p:spPr>
        <p:txBody>
          <a:bodyPr wrap="square">
            <a:spAutoFit/>
          </a:bodyPr>
          <a:lstStyle/>
          <a:p>
            <a:pPr algn="l"/>
            <a:r>
              <a:rPr sz="1400" b="1" i="0" dirty="0" err="1">
                <a:solidFill>
                  <a:srgbClr val="1F3564"/>
                </a:solidFill>
                <a:latin typeface="Calibri"/>
              </a:rPr>
              <a:t>Progresión</a:t>
            </a:r>
            <a:r>
              <a:rPr sz="1400" b="1" i="0" dirty="0">
                <a:solidFill>
                  <a:srgbClr val="1F3564"/>
                </a:solidFill>
                <a:latin typeface="Calibri"/>
              </a:rPr>
              <a:t> del speedup</a:t>
            </a:r>
            <a:r>
              <a:rPr sz="1200" b="1" i="0" dirty="0">
                <a:solidFill>
                  <a:srgbClr val="1F3564"/>
                </a:solidFill>
                <a:latin typeface="Calibri"/>
              </a:rPr>
              <a:t>:</a:t>
            </a:r>
          </a:p>
        </p:txBody>
      </p:sp>
      <p:sp>
        <p:nvSpPr>
          <p:cNvPr id="8" name="Rectangle 7"/>
          <p:cNvSpPr/>
          <p:nvPr/>
        </p:nvSpPr>
        <p:spPr>
          <a:xfrm>
            <a:off x="365760" y="5596128"/>
            <a:ext cx="733044" cy="160020"/>
          </a:xfrm>
          <a:prstGeom prst="rect">
            <a:avLst/>
          </a:prstGeom>
          <a:solidFill>
            <a:srgbClr val="50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93954" y="5596128"/>
            <a:ext cx="10515600" cy="238527"/>
          </a:xfrm>
          <a:prstGeom prst="rect">
            <a:avLst/>
          </a:prstGeom>
          <a:noFill/>
        </p:spPr>
        <p:txBody>
          <a:bodyPr wrap="square">
            <a:spAutoFit/>
          </a:bodyPr>
          <a:lstStyle/>
          <a:p>
            <a:pPr algn="l"/>
            <a:r>
              <a:rPr sz="950" b="0" i="0" dirty="0">
                <a:solidFill>
                  <a:srgbClr val="FFFFFF"/>
                </a:solidFill>
                <a:latin typeface="Calibri"/>
              </a:rPr>
              <a:t>V1 </a:t>
            </a:r>
            <a:r>
              <a:rPr lang="es-ES" sz="950" dirty="0" err="1">
                <a:solidFill>
                  <a:srgbClr val="FFFFFF"/>
                </a:solidFill>
                <a:latin typeface="Calibri"/>
              </a:rPr>
              <a:t>Sec</a:t>
            </a:r>
            <a:r>
              <a:rPr lang="es-ES" sz="950" dirty="0">
                <a:solidFill>
                  <a:srgbClr val="FFFFFF"/>
                </a:solidFill>
                <a:latin typeface="Calibri"/>
              </a:rPr>
              <a:t> </a:t>
            </a:r>
            <a:r>
              <a:rPr sz="950" b="0" i="0" dirty="0">
                <a:solidFill>
                  <a:srgbClr val="FFFFFF"/>
                </a:solidFill>
                <a:latin typeface="Calibri"/>
              </a:rPr>
              <a:t>1.0×</a:t>
            </a:r>
          </a:p>
        </p:txBody>
      </p:sp>
      <p:sp>
        <p:nvSpPr>
          <p:cNvPr id="10" name="Rectangle 9"/>
          <p:cNvSpPr/>
          <p:nvPr/>
        </p:nvSpPr>
        <p:spPr>
          <a:xfrm>
            <a:off x="365760" y="5774436"/>
            <a:ext cx="906780" cy="160020"/>
          </a:xfrm>
          <a:prstGeom prst="rect">
            <a:avLst/>
          </a:prstGeom>
          <a:solidFill>
            <a:srgbClr val="5080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93954" y="5769864"/>
            <a:ext cx="10515600" cy="238527"/>
          </a:xfrm>
          <a:prstGeom prst="rect">
            <a:avLst/>
          </a:prstGeom>
          <a:noFill/>
        </p:spPr>
        <p:txBody>
          <a:bodyPr wrap="square">
            <a:spAutoFit/>
          </a:bodyPr>
          <a:lstStyle/>
          <a:p>
            <a:pPr algn="l"/>
            <a:r>
              <a:rPr sz="950" b="0" i="0" dirty="0">
                <a:solidFill>
                  <a:srgbClr val="FFFFFF"/>
                </a:solidFill>
                <a:latin typeface="Calibri"/>
              </a:rPr>
              <a:t>V2 · Mem 1.24×</a:t>
            </a:r>
          </a:p>
        </p:txBody>
      </p:sp>
      <p:sp>
        <p:nvSpPr>
          <p:cNvPr id="12" name="Rectangle 11"/>
          <p:cNvSpPr/>
          <p:nvPr/>
        </p:nvSpPr>
        <p:spPr>
          <a:xfrm>
            <a:off x="365760" y="5952744"/>
            <a:ext cx="4547996" cy="16002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5948172"/>
            <a:ext cx="10515600" cy="160020"/>
          </a:xfrm>
          <a:prstGeom prst="rect">
            <a:avLst/>
          </a:prstGeom>
          <a:noFill/>
        </p:spPr>
        <p:txBody>
          <a:bodyPr wrap="square">
            <a:spAutoFit/>
          </a:bodyPr>
          <a:lstStyle/>
          <a:p>
            <a:pPr algn="l"/>
            <a:r>
              <a:rPr sz="950" b="0" i="0">
                <a:solidFill>
                  <a:srgbClr val="FFFFFF"/>
                </a:solidFill>
                <a:latin typeface="Calibri"/>
              </a:rPr>
              <a:t>V3 · OpenMP  6.27×</a:t>
            </a:r>
          </a:p>
        </p:txBody>
      </p:sp>
      <p:sp>
        <p:nvSpPr>
          <p:cNvPr id="14" name="Rectangle 13"/>
          <p:cNvSpPr/>
          <p:nvPr/>
        </p:nvSpPr>
        <p:spPr>
          <a:xfrm>
            <a:off x="365760" y="6131052"/>
            <a:ext cx="4490085" cy="160020"/>
          </a:xfrm>
          <a:prstGeom prst="rect">
            <a:avLst/>
          </a:prstGeom>
          <a:solidFill>
            <a:srgbClr val="2E9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6126480"/>
            <a:ext cx="10515600" cy="160020"/>
          </a:xfrm>
          <a:prstGeom prst="rect">
            <a:avLst/>
          </a:prstGeom>
          <a:noFill/>
        </p:spPr>
        <p:txBody>
          <a:bodyPr wrap="square">
            <a:spAutoFit/>
          </a:bodyPr>
          <a:lstStyle/>
          <a:p>
            <a:pPr algn="l"/>
            <a:r>
              <a:rPr sz="950" b="0" i="0">
                <a:solidFill>
                  <a:srgbClr val="FFFFFF"/>
                </a:solidFill>
                <a:latin typeface="Calibri"/>
              </a:rPr>
              <a:t>V4 · MPI  6.19×</a:t>
            </a:r>
          </a:p>
        </p:txBody>
      </p:sp>
      <p:sp>
        <p:nvSpPr>
          <p:cNvPr id="16" name="Rectangle 15"/>
          <p:cNvSpPr/>
          <p:nvPr/>
        </p:nvSpPr>
        <p:spPr>
          <a:xfrm>
            <a:off x="365760" y="6309360"/>
            <a:ext cx="7479792" cy="160020"/>
          </a:xfrm>
          <a:prstGeom prst="rect">
            <a:avLst/>
          </a:prstGeom>
          <a:solidFill>
            <a:srgbClr val="008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6304788"/>
            <a:ext cx="10515600" cy="160020"/>
          </a:xfrm>
          <a:prstGeom prst="rect">
            <a:avLst/>
          </a:prstGeom>
          <a:noFill/>
        </p:spPr>
        <p:txBody>
          <a:bodyPr wrap="square">
            <a:spAutoFit/>
          </a:bodyPr>
          <a:lstStyle/>
          <a:p>
            <a:pPr algn="l"/>
            <a:r>
              <a:rPr sz="950" b="0" i="0">
                <a:solidFill>
                  <a:srgbClr val="FFFFFF"/>
                </a:solidFill>
                <a:latin typeface="Calibri"/>
              </a:rPr>
              <a:t>V5 · Híbrida  10.32×</a:t>
            </a:r>
          </a:p>
        </p:txBody>
      </p:sp>
      <p:sp>
        <p:nvSpPr>
          <p:cNvPr id="18" name="Rectangle 17"/>
          <p:cNvSpPr/>
          <p:nvPr/>
        </p:nvSpPr>
        <p:spPr>
          <a:xfrm>
            <a:off x="365760" y="6487668"/>
            <a:ext cx="8695944" cy="160020"/>
          </a:xfrm>
          <a:prstGeom prst="rect">
            <a:avLst/>
          </a:prstGeom>
          <a:solidFill>
            <a:srgbClr val="C00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6483096"/>
            <a:ext cx="10515600" cy="160020"/>
          </a:xfrm>
          <a:prstGeom prst="rect">
            <a:avLst/>
          </a:prstGeom>
          <a:noFill/>
        </p:spPr>
        <p:txBody>
          <a:bodyPr wrap="square">
            <a:spAutoFit/>
          </a:bodyPr>
          <a:lstStyle/>
          <a:p>
            <a:pPr algn="l"/>
            <a:r>
              <a:rPr sz="950" b="1" i="0">
                <a:solidFill>
                  <a:srgbClr val="FFFFFF"/>
                </a:solidFill>
                <a:latin typeface="Calibri"/>
              </a:rPr>
              <a:t>V6 · CUDA  106.17×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7899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12880" cy="658368"/>
          </a:xfrm>
          <a:prstGeom prst="rect">
            <a:avLst/>
          </a:prstGeom>
          <a:noFill/>
        </p:spPr>
        <p:txBody>
          <a:bodyPr wrap="square">
            <a:spAutoFit/>
          </a:bodyPr>
          <a:lstStyle/>
          <a:p>
            <a:pPr algn="l"/>
            <a:r>
              <a:rPr sz="2600" b="1" i="0">
                <a:solidFill>
                  <a:srgbClr val="FFFFFF"/>
                </a:solidFill>
                <a:latin typeface="Calibri"/>
              </a:rPr>
              <a:t>Metodología</a:t>
            </a:r>
          </a:p>
        </p:txBody>
      </p:sp>
      <p:sp>
        <p:nvSpPr>
          <p:cNvPr id="4" name="TextBox 3"/>
          <p:cNvSpPr txBox="1"/>
          <p:nvPr/>
        </p:nvSpPr>
        <p:spPr>
          <a:xfrm>
            <a:off x="274320" y="713232"/>
            <a:ext cx="11612880" cy="329184"/>
          </a:xfrm>
          <a:prstGeom prst="rect">
            <a:avLst/>
          </a:prstGeom>
          <a:noFill/>
        </p:spPr>
        <p:txBody>
          <a:bodyPr wrap="square">
            <a:spAutoFit/>
          </a:bodyPr>
          <a:lstStyle/>
          <a:p>
            <a:pPr algn="l"/>
            <a:r>
              <a:rPr sz="1200" b="0" i="0">
                <a:solidFill>
                  <a:srgbClr val="D6E4F7"/>
                </a:solidFill>
                <a:latin typeface="Calibri"/>
              </a:rPr>
              <a:t>Parámetros fijos y medición de tiempos</a:t>
            </a:r>
          </a:p>
        </p:txBody>
      </p:sp>
      <p:sp>
        <p:nvSpPr>
          <p:cNvPr id="5" name="Rectangle 4"/>
          <p:cNvSpPr/>
          <p:nvPr/>
        </p:nvSpPr>
        <p:spPr>
          <a:xfrm>
            <a:off x="365760" y="1188720"/>
            <a:ext cx="5486400" cy="256032"/>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38912" y="1162847"/>
            <a:ext cx="5340096" cy="307777"/>
          </a:xfrm>
          <a:prstGeom prst="rect">
            <a:avLst/>
          </a:prstGeom>
          <a:noFill/>
        </p:spPr>
        <p:txBody>
          <a:bodyPr wrap="square">
            <a:spAutoFit/>
          </a:bodyPr>
          <a:lstStyle/>
          <a:p>
            <a:pPr algn="l"/>
            <a:r>
              <a:rPr sz="1400" b="1" i="0" dirty="0" err="1">
                <a:solidFill>
                  <a:srgbClr val="FFFFFF"/>
                </a:solidFill>
                <a:latin typeface="Calibri"/>
              </a:rPr>
              <a:t>Parámetros</a:t>
            </a:r>
            <a:endParaRPr sz="1400" b="1" i="0" dirty="0">
              <a:solidFill>
                <a:srgbClr val="FFFFFF"/>
              </a:solidFill>
              <a:latin typeface="Calibri"/>
            </a:endParaRPr>
          </a:p>
        </p:txBody>
      </p:sp>
      <p:sp>
        <p:nvSpPr>
          <p:cNvPr id="7" name="Rectangle 6"/>
          <p:cNvSpPr/>
          <p:nvPr/>
        </p:nvSpPr>
        <p:spPr>
          <a:xfrm>
            <a:off x="365760" y="1463040"/>
            <a:ext cx="5486400" cy="2240280"/>
          </a:xfrm>
          <a:prstGeom prst="rect">
            <a:avLst/>
          </a:prstGeom>
          <a:solidFill>
            <a:srgbClr val="1E1E2E"/>
          </a:solidFill>
          <a:ln w="9525">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536192"/>
            <a:ext cx="5352747" cy="1815882"/>
          </a:xfrm>
          <a:prstGeom prst="rect">
            <a:avLst/>
          </a:prstGeom>
          <a:noFill/>
        </p:spPr>
        <p:txBody>
          <a:bodyPr wrap="none">
            <a:spAutoFit/>
          </a:bodyPr>
          <a:lstStyle/>
          <a:p>
            <a:pPr>
              <a:spcBef>
                <a:spcPts val="0"/>
              </a:spcBef>
              <a:spcAft>
                <a:spcPts val="0"/>
              </a:spcAft>
            </a:pPr>
            <a:r>
              <a:rPr sz="1400" dirty="0">
                <a:solidFill>
                  <a:srgbClr val="CBD2E0"/>
                </a:solidFill>
                <a:latin typeface="Consolas"/>
              </a:rPr>
              <a:t>const int N            = 1000;   // </a:t>
            </a:r>
            <a:r>
              <a:rPr sz="1400" dirty="0" err="1">
                <a:solidFill>
                  <a:srgbClr val="CBD2E0"/>
                </a:solidFill>
                <a:latin typeface="Consolas"/>
              </a:rPr>
              <a:t>matriz</a:t>
            </a:r>
            <a:r>
              <a:rPr sz="1400" dirty="0">
                <a:solidFill>
                  <a:srgbClr val="CBD2E0"/>
                </a:solidFill>
                <a:latin typeface="Consolas"/>
              </a:rPr>
              <a:t> 1000×1000</a:t>
            </a:r>
          </a:p>
          <a:p>
            <a:pPr>
              <a:spcBef>
                <a:spcPts val="0"/>
              </a:spcBef>
              <a:spcAft>
                <a:spcPts val="0"/>
              </a:spcAft>
            </a:pPr>
            <a:r>
              <a:rPr sz="1400" dirty="0">
                <a:solidFill>
                  <a:srgbClr val="CBD2E0"/>
                </a:solidFill>
                <a:latin typeface="Consolas"/>
              </a:rPr>
              <a:t>const int GENERACIONES = 1000;</a:t>
            </a:r>
          </a:p>
          <a:p>
            <a:pPr>
              <a:spcBef>
                <a:spcPts val="0"/>
              </a:spcBef>
              <a:spcAft>
                <a:spcPts val="0"/>
              </a:spcAft>
            </a:pPr>
            <a:r>
              <a:rPr sz="1400" dirty="0">
                <a:solidFill>
                  <a:srgbClr val="CBD2E0"/>
                </a:solidFill>
                <a:latin typeface="Consolas"/>
              </a:rPr>
              <a:t>const int REPETICIONES =    5;</a:t>
            </a:r>
          </a:p>
          <a:p>
            <a:pPr>
              <a:spcBef>
                <a:spcPts val="0"/>
              </a:spcBef>
              <a:spcAft>
                <a:spcPts val="0"/>
              </a:spcAft>
            </a:pPr>
            <a:r>
              <a:rPr sz="1400" dirty="0">
                <a:solidFill>
                  <a:srgbClr val="CBD2E0"/>
                </a:solidFill>
                <a:latin typeface="Consolas"/>
              </a:rPr>
              <a:t>const int SEMILLA      = 12345;</a:t>
            </a:r>
          </a:p>
          <a:p>
            <a:pPr>
              <a:spcBef>
                <a:spcPts val="0"/>
              </a:spcBef>
              <a:spcAft>
                <a:spcPts val="0"/>
              </a:spcAft>
            </a:pPr>
            <a:r>
              <a:rPr sz="1400" dirty="0">
                <a:solidFill>
                  <a:srgbClr val="CBD2E0"/>
                </a:solidFill>
                <a:latin typeface="Consolas"/>
              </a:rPr>
              <a:t>const double PROB_VIVA =  0.30;</a:t>
            </a:r>
          </a:p>
          <a:p>
            <a:pPr>
              <a:spcBef>
                <a:spcPts val="0"/>
              </a:spcBef>
              <a:spcAft>
                <a:spcPts val="0"/>
              </a:spcAft>
            </a:pPr>
            <a:endParaRPr sz="1400" dirty="0">
              <a:solidFill>
                <a:srgbClr val="CBD2E0"/>
              </a:solidFill>
              <a:latin typeface="Consolas"/>
            </a:endParaRPr>
          </a:p>
          <a:p>
            <a:pPr>
              <a:spcBef>
                <a:spcPts val="0"/>
              </a:spcBef>
              <a:spcAft>
                <a:spcPts val="0"/>
              </a:spcAft>
            </a:pPr>
            <a:r>
              <a:rPr sz="1400" dirty="0">
                <a:solidFill>
                  <a:srgbClr val="CBD2E0"/>
                </a:solidFill>
                <a:latin typeface="Consolas"/>
              </a:rPr>
              <a:t>// </a:t>
            </a:r>
            <a:r>
              <a:rPr sz="1400" dirty="0" err="1">
                <a:solidFill>
                  <a:srgbClr val="CBD2E0"/>
                </a:solidFill>
                <a:latin typeface="Consolas"/>
              </a:rPr>
              <a:t>Resultado</a:t>
            </a:r>
            <a:r>
              <a:rPr sz="1400" dirty="0">
                <a:solidFill>
                  <a:srgbClr val="CBD2E0"/>
                </a:solidFill>
                <a:latin typeface="Consolas"/>
              </a:rPr>
              <a:t> </a:t>
            </a:r>
            <a:r>
              <a:rPr sz="1400" dirty="0" err="1">
                <a:solidFill>
                  <a:srgbClr val="CBD2E0"/>
                </a:solidFill>
                <a:latin typeface="Consolas"/>
              </a:rPr>
              <a:t>esperado</a:t>
            </a:r>
            <a:r>
              <a:rPr sz="1400" dirty="0">
                <a:solidFill>
                  <a:srgbClr val="CBD2E0"/>
                </a:solidFill>
                <a:latin typeface="Consolas"/>
              </a:rPr>
              <a:t> </a:t>
            </a:r>
            <a:r>
              <a:rPr sz="1400" dirty="0" err="1">
                <a:solidFill>
                  <a:srgbClr val="CBD2E0"/>
                </a:solidFill>
                <a:latin typeface="Consolas"/>
              </a:rPr>
              <a:t>en</a:t>
            </a:r>
            <a:r>
              <a:rPr sz="1400" dirty="0">
                <a:solidFill>
                  <a:srgbClr val="CBD2E0"/>
                </a:solidFill>
                <a:latin typeface="Consolas"/>
              </a:rPr>
              <a:t> </a:t>
            </a:r>
            <a:r>
              <a:rPr sz="1400" dirty="0" err="1">
                <a:solidFill>
                  <a:srgbClr val="CBD2E0"/>
                </a:solidFill>
                <a:latin typeface="Consolas"/>
              </a:rPr>
              <a:t>todos</a:t>
            </a:r>
            <a:r>
              <a:rPr sz="1400" dirty="0">
                <a:solidFill>
                  <a:srgbClr val="CBD2E0"/>
                </a:solidFill>
                <a:latin typeface="Consolas"/>
              </a:rPr>
              <a:t> </a:t>
            </a:r>
            <a:r>
              <a:rPr sz="1400" dirty="0" err="1">
                <a:solidFill>
                  <a:srgbClr val="CBD2E0"/>
                </a:solidFill>
                <a:latin typeface="Consolas"/>
              </a:rPr>
              <a:t>los</a:t>
            </a:r>
            <a:r>
              <a:rPr sz="1400" dirty="0">
                <a:solidFill>
                  <a:srgbClr val="CBD2E0"/>
                </a:solidFill>
                <a:latin typeface="Consolas"/>
              </a:rPr>
              <a:t> </a:t>
            </a:r>
            <a:r>
              <a:rPr sz="1400" dirty="0" err="1">
                <a:solidFill>
                  <a:srgbClr val="CBD2E0"/>
                </a:solidFill>
                <a:latin typeface="Consolas"/>
              </a:rPr>
              <a:t>experimentos</a:t>
            </a:r>
            <a:r>
              <a:rPr sz="1400" dirty="0">
                <a:solidFill>
                  <a:srgbClr val="CBD2E0"/>
                </a:solidFill>
                <a:latin typeface="Consolas"/>
              </a:rPr>
              <a:t>:</a:t>
            </a:r>
          </a:p>
          <a:p>
            <a:pPr>
              <a:spcBef>
                <a:spcPts val="0"/>
              </a:spcBef>
              <a:spcAft>
                <a:spcPts val="0"/>
              </a:spcAft>
            </a:pPr>
            <a:r>
              <a:rPr sz="1400" dirty="0">
                <a:solidFill>
                  <a:srgbClr val="CBD2E0"/>
                </a:solidFill>
                <a:latin typeface="Consolas"/>
              </a:rPr>
              <a:t>//   Células </a:t>
            </a:r>
            <a:r>
              <a:rPr sz="1400" dirty="0" err="1">
                <a:solidFill>
                  <a:srgbClr val="CBD2E0"/>
                </a:solidFill>
                <a:latin typeface="Consolas"/>
              </a:rPr>
              <a:t>vivas</a:t>
            </a:r>
            <a:r>
              <a:rPr sz="1400" dirty="0">
                <a:solidFill>
                  <a:srgbClr val="CBD2E0"/>
                </a:solidFill>
                <a:latin typeface="Consolas"/>
              </a:rPr>
              <a:t> finales = 43 306</a:t>
            </a:r>
          </a:p>
        </p:txBody>
      </p:sp>
      <p:graphicFrame>
        <p:nvGraphicFramePr>
          <p:cNvPr id="9" name="Table 8"/>
          <p:cNvGraphicFramePr>
            <a:graphicFrameLocks noGrp="1"/>
          </p:cNvGraphicFramePr>
          <p:nvPr>
            <p:extLst>
              <p:ext uri="{D42A27DB-BD31-4B8C-83A1-F6EECF244321}">
                <p14:modId xmlns:p14="http://schemas.microsoft.com/office/powerpoint/2010/main" val="2822344880"/>
              </p:ext>
            </p:extLst>
          </p:nvPr>
        </p:nvGraphicFramePr>
        <p:xfrm>
          <a:off x="365760" y="3794760"/>
          <a:ext cx="5486400" cy="22860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457200">
                <a:tc>
                  <a:txBody>
                    <a:bodyPr/>
                    <a:lstStyle/>
                    <a:p>
                      <a:pPr algn="ctr"/>
                      <a:r>
                        <a:rPr sz="1200" b="1" dirty="0" err="1">
                          <a:solidFill>
                            <a:srgbClr val="FFFFFF"/>
                          </a:solidFill>
                          <a:latin typeface="Calibri"/>
                        </a:rPr>
                        <a:t>Versión</a:t>
                      </a:r>
                      <a:endParaRPr sz="1200" b="1" dirty="0">
                        <a:solidFill>
                          <a:srgbClr val="FFFFFF"/>
                        </a:solidFill>
                        <a:latin typeface="Calibri"/>
                      </a:endParaRPr>
                    </a:p>
                  </a:txBody>
                  <a:tcPr>
                    <a:solidFill>
                      <a:srgbClr val="1F3564"/>
                    </a:solidFill>
                  </a:tcPr>
                </a:tc>
                <a:tc>
                  <a:txBody>
                    <a:bodyPr/>
                    <a:lstStyle/>
                    <a:p>
                      <a:pPr algn="ctr"/>
                      <a:r>
                        <a:rPr sz="1200" b="1">
                          <a:solidFill>
                            <a:srgbClr val="FFFFFF"/>
                          </a:solidFill>
                          <a:latin typeface="Calibri"/>
                        </a:rPr>
                        <a:t>Método de medición del tiempo</a:t>
                      </a:r>
                    </a:p>
                  </a:txBody>
                  <a:tcPr>
                    <a:solidFill>
                      <a:srgbClr val="1F3564"/>
                    </a:solidFill>
                  </a:tcPr>
                </a:tc>
                <a:extLst>
                  <a:ext uri="{0D108BD9-81ED-4DB2-BD59-A6C34878D82A}">
                    <a16:rowId xmlns:a16="http://schemas.microsoft.com/office/drawing/2014/main" val="10000"/>
                  </a:ext>
                </a:extLst>
              </a:tr>
              <a:tr h="457200">
                <a:tc>
                  <a:txBody>
                    <a:bodyPr/>
                    <a:lstStyle/>
                    <a:p>
                      <a:pPr algn="l"/>
                      <a:r>
                        <a:rPr sz="1200">
                          <a:solidFill>
                            <a:srgbClr val="000000"/>
                          </a:solidFill>
                          <a:latin typeface="Calibri"/>
                        </a:rPr>
                        <a:t>V1, V2</a:t>
                      </a:r>
                    </a:p>
                  </a:txBody>
                  <a:tcPr>
                    <a:solidFill>
                      <a:srgbClr val="D6E4F7"/>
                    </a:solidFill>
                  </a:tcPr>
                </a:tc>
                <a:tc>
                  <a:txBody>
                    <a:bodyPr/>
                    <a:lstStyle/>
                    <a:p>
                      <a:pPr algn="ctr"/>
                      <a:r>
                        <a:rPr sz="1200" dirty="0">
                          <a:solidFill>
                            <a:srgbClr val="000000"/>
                          </a:solidFill>
                          <a:latin typeface="Calibri"/>
                        </a:rPr>
                        <a:t>std::chrono::</a:t>
                      </a:r>
                      <a:r>
                        <a:rPr sz="1200" dirty="0" err="1">
                          <a:solidFill>
                            <a:srgbClr val="000000"/>
                          </a:solidFill>
                          <a:latin typeface="Calibri"/>
                        </a:rPr>
                        <a:t>high_resolution_clock</a:t>
                      </a:r>
                      <a:endParaRPr sz="1200" dirty="0">
                        <a:solidFill>
                          <a:srgbClr val="000000"/>
                        </a:solidFill>
                        <a:latin typeface="Calibri"/>
                      </a:endParaRPr>
                    </a:p>
                  </a:txBody>
                  <a:tcPr>
                    <a:solidFill>
                      <a:srgbClr val="D6E4F7"/>
                    </a:solidFill>
                  </a:tcPr>
                </a:tc>
                <a:extLst>
                  <a:ext uri="{0D108BD9-81ED-4DB2-BD59-A6C34878D82A}">
                    <a16:rowId xmlns:a16="http://schemas.microsoft.com/office/drawing/2014/main" val="10001"/>
                  </a:ext>
                </a:extLst>
              </a:tr>
              <a:tr h="457200">
                <a:tc>
                  <a:txBody>
                    <a:bodyPr/>
                    <a:lstStyle/>
                    <a:p>
                      <a:pPr algn="l"/>
                      <a:r>
                        <a:rPr sz="1200">
                          <a:solidFill>
                            <a:srgbClr val="000000"/>
                          </a:solidFill>
                          <a:latin typeface="Calibri"/>
                        </a:rPr>
                        <a:t>V3</a:t>
                      </a:r>
                    </a:p>
                  </a:txBody>
                  <a:tcPr>
                    <a:solidFill>
                      <a:srgbClr val="FFFFFF"/>
                    </a:solidFill>
                  </a:tcPr>
                </a:tc>
                <a:tc>
                  <a:txBody>
                    <a:bodyPr/>
                    <a:lstStyle/>
                    <a:p>
                      <a:pPr algn="ctr"/>
                      <a:r>
                        <a:rPr sz="1200" dirty="0" err="1">
                          <a:solidFill>
                            <a:srgbClr val="000000"/>
                          </a:solidFill>
                          <a:latin typeface="Calibri"/>
                        </a:rPr>
                        <a:t>omp_get_wtime</a:t>
                      </a:r>
                      <a:r>
                        <a:rPr sz="1200" dirty="0">
                          <a:solidFill>
                            <a:srgbClr val="000000"/>
                          </a:solidFill>
                          <a:latin typeface="Calibri"/>
                        </a:rPr>
                        <a:t>()</a:t>
                      </a:r>
                    </a:p>
                  </a:txBody>
                  <a:tcPr>
                    <a:solidFill>
                      <a:srgbClr val="FFFFFF"/>
                    </a:solidFill>
                  </a:tcPr>
                </a:tc>
                <a:extLst>
                  <a:ext uri="{0D108BD9-81ED-4DB2-BD59-A6C34878D82A}">
                    <a16:rowId xmlns:a16="http://schemas.microsoft.com/office/drawing/2014/main" val="10002"/>
                  </a:ext>
                </a:extLst>
              </a:tr>
              <a:tr h="457200">
                <a:tc>
                  <a:txBody>
                    <a:bodyPr/>
                    <a:lstStyle/>
                    <a:p>
                      <a:pPr algn="l"/>
                      <a:r>
                        <a:rPr sz="1200">
                          <a:solidFill>
                            <a:srgbClr val="000000"/>
                          </a:solidFill>
                          <a:latin typeface="Calibri"/>
                        </a:rPr>
                        <a:t>V4, V5</a:t>
                      </a:r>
                    </a:p>
                  </a:txBody>
                  <a:tcPr>
                    <a:solidFill>
                      <a:srgbClr val="D6E4F7"/>
                    </a:solidFill>
                  </a:tcPr>
                </a:tc>
                <a:tc>
                  <a:txBody>
                    <a:bodyPr/>
                    <a:lstStyle/>
                    <a:p>
                      <a:pPr algn="ctr"/>
                      <a:r>
                        <a:rPr sz="1200" dirty="0" err="1">
                          <a:solidFill>
                            <a:srgbClr val="000000"/>
                          </a:solidFill>
                          <a:latin typeface="Calibri"/>
                        </a:rPr>
                        <a:t>MPI_Wtime</a:t>
                      </a:r>
                      <a:r>
                        <a:rPr sz="1200" dirty="0">
                          <a:solidFill>
                            <a:srgbClr val="000000"/>
                          </a:solidFill>
                          <a:latin typeface="Calibri"/>
                        </a:rPr>
                        <a:t>()  +  </a:t>
                      </a:r>
                      <a:r>
                        <a:rPr sz="1200" dirty="0" err="1">
                          <a:solidFill>
                            <a:srgbClr val="000000"/>
                          </a:solidFill>
                          <a:latin typeface="Calibri"/>
                        </a:rPr>
                        <a:t>MPI_Reduce</a:t>
                      </a:r>
                      <a:r>
                        <a:rPr sz="1200" dirty="0">
                          <a:solidFill>
                            <a:srgbClr val="000000"/>
                          </a:solidFill>
                          <a:latin typeface="Calibri"/>
                        </a:rPr>
                        <a:t> MPI_MAX (</a:t>
                      </a:r>
                      <a:r>
                        <a:rPr sz="1200" dirty="0" err="1">
                          <a:solidFill>
                            <a:srgbClr val="000000"/>
                          </a:solidFill>
                          <a:latin typeface="Calibri"/>
                        </a:rPr>
                        <a:t>proceso</a:t>
                      </a:r>
                      <a:r>
                        <a:rPr sz="1200" dirty="0">
                          <a:solidFill>
                            <a:srgbClr val="000000"/>
                          </a:solidFill>
                          <a:latin typeface="Calibri"/>
                        </a:rPr>
                        <a:t> </a:t>
                      </a:r>
                      <a:r>
                        <a:rPr sz="1200" dirty="0" err="1">
                          <a:solidFill>
                            <a:srgbClr val="000000"/>
                          </a:solidFill>
                          <a:latin typeface="Calibri"/>
                        </a:rPr>
                        <a:t>más</a:t>
                      </a:r>
                      <a:r>
                        <a:rPr sz="1200" dirty="0">
                          <a:solidFill>
                            <a:srgbClr val="000000"/>
                          </a:solidFill>
                          <a:latin typeface="Calibri"/>
                        </a:rPr>
                        <a:t> lento = </a:t>
                      </a:r>
                      <a:r>
                        <a:rPr sz="1200" dirty="0" err="1">
                          <a:solidFill>
                            <a:srgbClr val="000000"/>
                          </a:solidFill>
                          <a:latin typeface="Calibri"/>
                        </a:rPr>
                        <a:t>tiempo</a:t>
                      </a:r>
                      <a:r>
                        <a:rPr sz="1200" dirty="0">
                          <a:solidFill>
                            <a:srgbClr val="000000"/>
                          </a:solidFill>
                          <a:latin typeface="Calibri"/>
                        </a:rPr>
                        <a:t> total)</a:t>
                      </a:r>
                    </a:p>
                  </a:txBody>
                  <a:tcPr>
                    <a:solidFill>
                      <a:srgbClr val="D6E4F7"/>
                    </a:solidFill>
                  </a:tcPr>
                </a:tc>
                <a:extLst>
                  <a:ext uri="{0D108BD9-81ED-4DB2-BD59-A6C34878D82A}">
                    <a16:rowId xmlns:a16="http://schemas.microsoft.com/office/drawing/2014/main" val="10003"/>
                  </a:ext>
                </a:extLst>
              </a:tr>
              <a:tr h="457200">
                <a:tc>
                  <a:txBody>
                    <a:bodyPr/>
                    <a:lstStyle/>
                    <a:p>
                      <a:pPr algn="l"/>
                      <a:r>
                        <a:rPr sz="1200">
                          <a:solidFill>
                            <a:srgbClr val="000000"/>
                          </a:solidFill>
                          <a:latin typeface="Calibri"/>
                        </a:rPr>
                        <a:t>V6</a:t>
                      </a:r>
                    </a:p>
                  </a:txBody>
                  <a:tcPr>
                    <a:solidFill>
                      <a:srgbClr val="FFFFFF"/>
                    </a:solidFill>
                  </a:tcPr>
                </a:tc>
                <a:tc>
                  <a:txBody>
                    <a:bodyPr/>
                    <a:lstStyle/>
                    <a:p>
                      <a:pPr algn="ctr"/>
                      <a:r>
                        <a:rPr sz="1200" dirty="0" err="1">
                          <a:solidFill>
                            <a:srgbClr val="000000"/>
                          </a:solidFill>
                          <a:latin typeface="Calibri"/>
                        </a:rPr>
                        <a:t>cudaEventElapsedTime</a:t>
                      </a:r>
                      <a:r>
                        <a:rPr sz="1200" dirty="0">
                          <a:solidFill>
                            <a:srgbClr val="000000"/>
                          </a:solidFill>
                          <a:latin typeface="Calibri"/>
                        </a:rPr>
                        <a:t>() — solo kernels GPU (</a:t>
                      </a:r>
                      <a:r>
                        <a:rPr sz="1200" dirty="0" err="1">
                          <a:solidFill>
                            <a:srgbClr val="000000"/>
                          </a:solidFill>
                          <a:latin typeface="Calibri"/>
                        </a:rPr>
                        <a:t>excluye</a:t>
                      </a:r>
                      <a:r>
                        <a:rPr sz="1200" dirty="0">
                          <a:solidFill>
                            <a:srgbClr val="000000"/>
                          </a:solidFill>
                          <a:latin typeface="Calibri"/>
                        </a:rPr>
                        <a:t> </a:t>
                      </a:r>
                      <a:r>
                        <a:rPr sz="1200" dirty="0" err="1">
                          <a:solidFill>
                            <a:srgbClr val="000000"/>
                          </a:solidFill>
                          <a:latin typeface="Calibri"/>
                        </a:rPr>
                        <a:t>transferencias</a:t>
                      </a:r>
                      <a:r>
                        <a:rPr sz="1200" dirty="0">
                          <a:solidFill>
                            <a:srgbClr val="000000"/>
                          </a:solidFill>
                          <a:latin typeface="Calibri"/>
                        </a:rPr>
                        <a:t>)</a:t>
                      </a:r>
                    </a:p>
                  </a:txBody>
                  <a:tcPr>
                    <a:solidFill>
                      <a:srgbClr val="FFFFFF"/>
                    </a:solidFill>
                  </a:tcPr>
                </a:tc>
                <a:extLst>
                  <a:ext uri="{0D108BD9-81ED-4DB2-BD59-A6C34878D82A}">
                    <a16:rowId xmlns:a16="http://schemas.microsoft.com/office/drawing/2014/main" val="10004"/>
                  </a:ext>
                </a:extLst>
              </a:tr>
            </a:tbl>
          </a:graphicData>
        </a:graphic>
      </p:graphicFrame>
      <p:sp>
        <p:nvSpPr>
          <p:cNvPr id="10" name="TextBox 9"/>
          <p:cNvSpPr txBox="1"/>
          <p:nvPr/>
        </p:nvSpPr>
        <p:spPr>
          <a:xfrm>
            <a:off x="5943600" y="1527048"/>
            <a:ext cx="5943600" cy="1417320"/>
          </a:xfrm>
          <a:prstGeom prst="rect">
            <a:avLst/>
          </a:prstGeom>
          <a:noFill/>
        </p:spPr>
        <p:txBody>
          <a:bodyPr wrap="square">
            <a:spAutoFit/>
          </a:bodyPr>
          <a:lstStyle/>
          <a:p>
            <a:pPr>
              <a:spcBef>
                <a:spcPts val="300"/>
              </a:spcBef>
            </a:pPr>
            <a:r>
              <a:rPr sz="1300" dirty="0">
                <a:solidFill>
                  <a:srgbClr val="000000"/>
                </a:solidFill>
                <a:latin typeface="Calibri"/>
              </a:rPr>
              <a:t>• Se </a:t>
            </a:r>
            <a:r>
              <a:rPr sz="1300" dirty="0" err="1">
                <a:solidFill>
                  <a:srgbClr val="000000"/>
                </a:solidFill>
                <a:latin typeface="Calibri"/>
              </a:rPr>
              <a:t>toma</a:t>
            </a:r>
            <a:r>
              <a:rPr sz="1300" dirty="0">
                <a:solidFill>
                  <a:srgbClr val="000000"/>
                </a:solidFill>
                <a:latin typeface="Calibri"/>
              </a:rPr>
              <a:t> </a:t>
            </a:r>
            <a:r>
              <a:rPr sz="1300" dirty="0" err="1">
                <a:solidFill>
                  <a:srgbClr val="000000"/>
                </a:solidFill>
                <a:latin typeface="Calibri"/>
              </a:rPr>
              <a:t>el</a:t>
            </a:r>
            <a:r>
              <a:rPr sz="1300" dirty="0">
                <a:solidFill>
                  <a:srgbClr val="000000"/>
                </a:solidFill>
                <a:latin typeface="Calibri"/>
              </a:rPr>
              <a:t> </a:t>
            </a:r>
            <a:r>
              <a:rPr sz="1300" dirty="0" err="1">
                <a:solidFill>
                  <a:srgbClr val="000000"/>
                </a:solidFill>
                <a:latin typeface="Calibri"/>
              </a:rPr>
              <a:t>mejor</a:t>
            </a:r>
            <a:r>
              <a:rPr sz="1300" dirty="0">
                <a:solidFill>
                  <a:srgbClr val="000000"/>
                </a:solidFill>
                <a:latin typeface="Calibri"/>
              </a:rPr>
              <a:t> </a:t>
            </a:r>
            <a:r>
              <a:rPr sz="1300" dirty="0" err="1">
                <a:solidFill>
                  <a:srgbClr val="000000"/>
                </a:solidFill>
                <a:latin typeface="Calibri"/>
              </a:rPr>
              <a:t>tiempo</a:t>
            </a:r>
            <a:r>
              <a:rPr sz="1300" dirty="0">
                <a:solidFill>
                  <a:srgbClr val="000000"/>
                </a:solidFill>
                <a:latin typeface="Calibri"/>
              </a:rPr>
              <a:t> de 5 </a:t>
            </a:r>
            <a:r>
              <a:rPr sz="1300" dirty="0" err="1">
                <a:solidFill>
                  <a:srgbClr val="000000"/>
                </a:solidFill>
                <a:latin typeface="Calibri"/>
              </a:rPr>
              <a:t>repeticiones</a:t>
            </a:r>
            <a:r>
              <a:rPr sz="1300" dirty="0">
                <a:solidFill>
                  <a:srgbClr val="000000"/>
                </a:solidFill>
                <a:latin typeface="Calibri"/>
              </a:rPr>
              <a:t> para </a:t>
            </a:r>
            <a:r>
              <a:rPr sz="1300" dirty="0" err="1">
                <a:solidFill>
                  <a:srgbClr val="000000"/>
                </a:solidFill>
                <a:latin typeface="Calibri"/>
              </a:rPr>
              <a:t>reducir</a:t>
            </a:r>
            <a:r>
              <a:rPr sz="1300" dirty="0">
                <a:solidFill>
                  <a:srgbClr val="000000"/>
                </a:solidFill>
                <a:latin typeface="Calibri"/>
              </a:rPr>
              <a:t> </a:t>
            </a:r>
            <a:r>
              <a:rPr sz="1300" dirty="0" err="1">
                <a:solidFill>
                  <a:srgbClr val="000000"/>
                </a:solidFill>
                <a:latin typeface="Calibri"/>
              </a:rPr>
              <a:t>ruido</a:t>
            </a:r>
            <a:r>
              <a:rPr sz="1300" dirty="0">
                <a:solidFill>
                  <a:srgbClr val="000000"/>
                </a:solidFill>
                <a:latin typeface="Calibri"/>
              </a:rPr>
              <a:t> </a:t>
            </a:r>
            <a:r>
              <a:rPr sz="1300" dirty="0" err="1">
                <a:solidFill>
                  <a:srgbClr val="000000"/>
                </a:solidFill>
                <a:latin typeface="Calibri"/>
              </a:rPr>
              <a:t>térmico</a:t>
            </a:r>
            <a:endParaRPr sz="1300" dirty="0">
              <a:solidFill>
                <a:srgbClr val="000000"/>
              </a:solidFill>
              <a:latin typeface="Calibri"/>
            </a:endParaRPr>
          </a:p>
          <a:p>
            <a:pPr>
              <a:spcBef>
                <a:spcPts val="300"/>
              </a:spcBef>
            </a:pPr>
            <a:r>
              <a:rPr sz="1300" dirty="0">
                <a:solidFill>
                  <a:srgbClr val="000000"/>
                </a:solidFill>
                <a:latin typeface="Calibri"/>
              </a:rPr>
              <a:t>• </a:t>
            </a:r>
            <a:r>
              <a:rPr sz="1300" dirty="0" err="1">
                <a:solidFill>
                  <a:srgbClr val="000000"/>
                </a:solidFill>
                <a:latin typeface="Calibri"/>
              </a:rPr>
              <a:t>Compilación</a:t>
            </a:r>
            <a:r>
              <a:rPr sz="1300" dirty="0">
                <a:solidFill>
                  <a:srgbClr val="000000"/>
                </a:solidFill>
                <a:latin typeface="Calibri"/>
              </a:rPr>
              <a:t> Release con /O2 </a:t>
            </a:r>
            <a:r>
              <a:rPr sz="1300" dirty="0" err="1">
                <a:solidFill>
                  <a:srgbClr val="000000"/>
                </a:solidFill>
                <a:latin typeface="Calibri"/>
              </a:rPr>
              <a:t>en</a:t>
            </a:r>
            <a:r>
              <a:rPr sz="1300" dirty="0">
                <a:solidFill>
                  <a:srgbClr val="000000"/>
                </a:solidFill>
                <a:latin typeface="Calibri"/>
              </a:rPr>
              <a:t> Windows · -O2 </a:t>
            </a:r>
            <a:r>
              <a:rPr sz="1300" dirty="0" err="1">
                <a:solidFill>
                  <a:srgbClr val="000000"/>
                </a:solidFill>
                <a:latin typeface="Calibri"/>
              </a:rPr>
              <a:t>en</a:t>
            </a:r>
            <a:r>
              <a:rPr sz="1300" dirty="0">
                <a:solidFill>
                  <a:srgbClr val="000000"/>
                </a:solidFill>
                <a:latin typeface="Calibri"/>
              </a:rPr>
              <a:t> Linux</a:t>
            </a:r>
          </a:p>
          <a:p>
            <a:pPr>
              <a:spcBef>
                <a:spcPts val="300"/>
              </a:spcBef>
            </a:pPr>
            <a:r>
              <a:rPr sz="1300" dirty="0">
                <a:solidFill>
                  <a:srgbClr val="000000"/>
                </a:solidFill>
                <a:latin typeface="Calibri"/>
              </a:rPr>
              <a:t>• MPI local: Microsoft MPI · </a:t>
            </a:r>
            <a:r>
              <a:rPr sz="1300" dirty="0" err="1">
                <a:solidFill>
                  <a:srgbClr val="000000"/>
                </a:solidFill>
                <a:latin typeface="Calibri"/>
              </a:rPr>
              <a:t>Clúster</a:t>
            </a:r>
            <a:r>
              <a:rPr sz="1300" dirty="0">
                <a:solidFill>
                  <a:srgbClr val="000000"/>
                </a:solidFill>
                <a:latin typeface="Calibri"/>
              </a:rPr>
              <a:t>: </a:t>
            </a:r>
            <a:r>
              <a:rPr sz="1300" dirty="0" err="1">
                <a:solidFill>
                  <a:srgbClr val="000000"/>
                </a:solidFill>
                <a:latin typeface="Calibri"/>
              </a:rPr>
              <a:t>mpicxx</a:t>
            </a:r>
            <a:r>
              <a:rPr sz="1300" dirty="0">
                <a:solidFill>
                  <a:srgbClr val="000000"/>
                </a:solidFill>
                <a:latin typeface="Calibri"/>
              </a:rPr>
              <a:t> + </a:t>
            </a:r>
            <a:r>
              <a:rPr sz="1300" dirty="0" err="1">
                <a:solidFill>
                  <a:srgbClr val="000000"/>
                </a:solidFill>
                <a:latin typeface="Calibri"/>
              </a:rPr>
              <a:t>mpirun</a:t>
            </a:r>
            <a:endParaRPr sz="1300" dirty="0">
              <a:solidFill>
                <a:srgbClr val="000000"/>
              </a:solidFill>
              <a:latin typeface="Calibri"/>
            </a:endParaRPr>
          </a:p>
          <a:p>
            <a:pPr>
              <a:spcBef>
                <a:spcPts val="300"/>
              </a:spcBef>
            </a:pPr>
            <a:r>
              <a:rPr sz="1300" dirty="0">
                <a:solidFill>
                  <a:srgbClr val="000000"/>
                </a:solidFill>
                <a:latin typeface="Calibri"/>
              </a:rPr>
              <a:t>• </a:t>
            </a:r>
            <a:r>
              <a:rPr sz="1300" dirty="0" err="1">
                <a:solidFill>
                  <a:srgbClr val="000000"/>
                </a:solidFill>
                <a:latin typeface="Calibri"/>
              </a:rPr>
              <a:t>Mismo</a:t>
            </a:r>
            <a:r>
              <a:rPr sz="1300" dirty="0">
                <a:solidFill>
                  <a:srgbClr val="000000"/>
                </a:solidFill>
                <a:latin typeface="Calibri"/>
              </a:rPr>
              <a:t> </a:t>
            </a:r>
            <a:r>
              <a:rPr sz="1300" dirty="0" err="1">
                <a:solidFill>
                  <a:srgbClr val="000000"/>
                </a:solidFill>
                <a:latin typeface="Calibri"/>
              </a:rPr>
              <a:t>estado</a:t>
            </a:r>
            <a:r>
              <a:rPr sz="1300" dirty="0">
                <a:solidFill>
                  <a:srgbClr val="000000"/>
                </a:solidFill>
                <a:latin typeface="Calibri"/>
              </a:rPr>
              <a:t> </a:t>
            </a:r>
            <a:r>
              <a:rPr sz="1300" dirty="0" err="1">
                <a:solidFill>
                  <a:srgbClr val="000000"/>
                </a:solidFill>
                <a:latin typeface="Calibri"/>
              </a:rPr>
              <a:t>inicial</a:t>
            </a:r>
            <a:r>
              <a:rPr sz="1300" dirty="0">
                <a:solidFill>
                  <a:srgbClr val="000000"/>
                </a:solidFill>
                <a:latin typeface="Calibri"/>
              </a:rPr>
              <a:t> </a:t>
            </a:r>
            <a:r>
              <a:rPr sz="1300" dirty="0" err="1">
                <a:solidFill>
                  <a:srgbClr val="000000"/>
                </a:solidFill>
                <a:latin typeface="Calibri"/>
              </a:rPr>
              <a:t>garantizado</a:t>
            </a:r>
            <a:r>
              <a:rPr sz="1300" dirty="0">
                <a:solidFill>
                  <a:srgbClr val="000000"/>
                </a:solidFill>
                <a:latin typeface="Calibri"/>
              </a:rPr>
              <a:t> </a:t>
            </a:r>
            <a:r>
              <a:rPr sz="1300" dirty="0" err="1">
                <a:solidFill>
                  <a:srgbClr val="000000"/>
                </a:solidFill>
                <a:latin typeface="Calibri"/>
              </a:rPr>
              <a:t>por</a:t>
            </a:r>
            <a:r>
              <a:rPr sz="1300" dirty="0">
                <a:solidFill>
                  <a:srgbClr val="000000"/>
                </a:solidFill>
                <a:latin typeface="Calibri"/>
              </a:rPr>
              <a:t> </a:t>
            </a:r>
            <a:r>
              <a:rPr sz="1300" dirty="0" err="1">
                <a:solidFill>
                  <a:srgbClr val="000000"/>
                </a:solidFill>
                <a:latin typeface="Calibri"/>
              </a:rPr>
              <a:t>semilla</a:t>
            </a:r>
            <a:r>
              <a:rPr sz="1300" dirty="0">
                <a:solidFill>
                  <a:srgbClr val="000000"/>
                </a:solidFill>
                <a:latin typeface="Calibri"/>
              </a:rPr>
              <a:t> </a:t>
            </a:r>
            <a:r>
              <a:rPr sz="1300" dirty="0" err="1">
                <a:solidFill>
                  <a:srgbClr val="000000"/>
                </a:solidFill>
                <a:latin typeface="Calibri"/>
              </a:rPr>
              <a:t>fija</a:t>
            </a:r>
            <a:r>
              <a:rPr sz="1300" dirty="0">
                <a:solidFill>
                  <a:srgbClr val="000000"/>
                </a:solidFill>
                <a:latin typeface="Calibri"/>
              </a:rPr>
              <a:t> (SEMILLA=12345)</a:t>
            </a:r>
          </a:p>
        </p:txBody>
      </p:sp>
      <p:sp>
        <p:nvSpPr>
          <p:cNvPr id="11" name="TextBox 10"/>
          <p:cNvSpPr txBox="1"/>
          <p:nvPr/>
        </p:nvSpPr>
        <p:spPr>
          <a:xfrm>
            <a:off x="5943600" y="2651760"/>
            <a:ext cx="5943600" cy="307777"/>
          </a:xfrm>
          <a:prstGeom prst="rect">
            <a:avLst/>
          </a:prstGeom>
          <a:noFill/>
        </p:spPr>
        <p:txBody>
          <a:bodyPr wrap="square">
            <a:spAutoFit/>
          </a:bodyPr>
          <a:lstStyle/>
          <a:p>
            <a:pPr algn="l"/>
            <a:r>
              <a:rPr sz="1400" b="1" i="0" dirty="0" err="1">
                <a:solidFill>
                  <a:srgbClr val="1F3564"/>
                </a:solidFill>
                <a:latin typeface="Calibri"/>
              </a:rPr>
              <a:t>Comandos</a:t>
            </a:r>
            <a:r>
              <a:rPr sz="1400" b="1" i="0" dirty="0">
                <a:solidFill>
                  <a:srgbClr val="1F3564"/>
                </a:solidFill>
                <a:latin typeface="Calibri"/>
              </a:rPr>
              <a:t> de </a:t>
            </a:r>
            <a:r>
              <a:rPr sz="1400" b="1" i="0" dirty="0" err="1">
                <a:solidFill>
                  <a:srgbClr val="1F3564"/>
                </a:solidFill>
                <a:latin typeface="Calibri"/>
              </a:rPr>
              <a:t>ejecución</a:t>
            </a:r>
            <a:endParaRPr sz="1400" b="1" i="0" dirty="0">
              <a:solidFill>
                <a:srgbClr val="1F3564"/>
              </a:solidFill>
              <a:latin typeface="Calibri"/>
            </a:endParaRPr>
          </a:p>
        </p:txBody>
      </p:sp>
      <p:sp>
        <p:nvSpPr>
          <p:cNvPr id="12" name="Rectangle 11"/>
          <p:cNvSpPr/>
          <p:nvPr/>
        </p:nvSpPr>
        <p:spPr>
          <a:xfrm>
            <a:off x="5943600" y="2944368"/>
            <a:ext cx="5943600" cy="2423160"/>
          </a:xfrm>
          <a:prstGeom prst="rect">
            <a:avLst/>
          </a:prstGeom>
          <a:solidFill>
            <a:srgbClr val="1E1E2E"/>
          </a:solidFill>
          <a:ln w="9525">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035040" y="3017520"/>
            <a:ext cx="3762568" cy="2031325"/>
          </a:xfrm>
          <a:prstGeom prst="rect">
            <a:avLst/>
          </a:prstGeom>
          <a:noFill/>
        </p:spPr>
        <p:txBody>
          <a:bodyPr wrap="none">
            <a:spAutoFit/>
          </a:bodyPr>
          <a:lstStyle/>
          <a:p>
            <a:pPr>
              <a:spcBef>
                <a:spcPts val="0"/>
              </a:spcBef>
              <a:spcAft>
                <a:spcPts val="0"/>
              </a:spcAft>
            </a:pPr>
            <a:r>
              <a:rPr sz="1400" dirty="0">
                <a:solidFill>
                  <a:srgbClr val="CBD2E0"/>
                </a:solidFill>
                <a:latin typeface="Consolas"/>
              </a:rPr>
              <a:t># Ejemplos de ejecución</a:t>
            </a:r>
          </a:p>
          <a:p>
            <a:pPr>
              <a:spcBef>
                <a:spcPts val="0"/>
              </a:spcBef>
              <a:spcAft>
                <a:spcPts val="0"/>
              </a:spcAft>
            </a:pPr>
            <a:r>
              <a:rPr sz="1400" dirty="0">
                <a:solidFill>
                  <a:srgbClr val="CBD2E0"/>
                </a:solidFill>
                <a:latin typeface="Consolas"/>
              </a:rPr>
              <a:t>g++ V3_openmp.cpp -O2 -</a:t>
            </a:r>
            <a:r>
              <a:rPr sz="1400" dirty="0" err="1">
                <a:solidFill>
                  <a:srgbClr val="CBD2E0"/>
                </a:solidFill>
                <a:latin typeface="Consolas"/>
              </a:rPr>
              <a:t>fopenmp</a:t>
            </a:r>
            <a:r>
              <a:rPr sz="1400" dirty="0">
                <a:solidFill>
                  <a:srgbClr val="CBD2E0"/>
                </a:solidFill>
                <a:latin typeface="Consolas"/>
              </a:rPr>
              <a:t> -o v3</a:t>
            </a:r>
          </a:p>
          <a:p>
            <a:pPr>
              <a:spcBef>
                <a:spcPts val="0"/>
              </a:spcBef>
              <a:spcAft>
                <a:spcPts val="0"/>
              </a:spcAft>
            </a:pPr>
            <a:r>
              <a:rPr sz="1400" dirty="0">
                <a:solidFill>
                  <a:srgbClr val="CBD2E0"/>
                </a:solidFill>
                <a:latin typeface="Consolas"/>
              </a:rPr>
              <a:t>OMP_NUM_THREADS=8 ./v3</a:t>
            </a:r>
          </a:p>
          <a:p>
            <a:pPr>
              <a:spcBef>
                <a:spcPts val="0"/>
              </a:spcBef>
              <a:spcAft>
                <a:spcPts val="0"/>
              </a:spcAft>
            </a:pPr>
            <a:endParaRPr sz="1400" dirty="0">
              <a:solidFill>
                <a:srgbClr val="CBD2E0"/>
              </a:solidFill>
              <a:latin typeface="Consolas"/>
            </a:endParaRPr>
          </a:p>
          <a:p>
            <a:pPr>
              <a:spcBef>
                <a:spcPts val="0"/>
              </a:spcBef>
              <a:spcAft>
                <a:spcPts val="0"/>
              </a:spcAft>
            </a:pPr>
            <a:r>
              <a:rPr sz="1400" dirty="0" err="1">
                <a:solidFill>
                  <a:srgbClr val="CBD2E0"/>
                </a:solidFill>
                <a:latin typeface="Consolas"/>
              </a:rPr>
              <a:t>mpicxx</a:t>
            </a:r>
            <a:r>
              <a:rPr sz="1400" dirty="0">
                <a:solidFill>
                  <a:srgbClr val="CBD2E0"/>
                </a:solidFill>
                <a:latin typeface="Consolas"/>
              </a:rPr>
              <a:t> V4_mpi.cpp -O2 -o v4</a:t>
            </a:r>
          </a:p>
          <a:p>
            <a:pPr>
              <a:spcBef>
                <a:spcPts val="0"/>
              </a:spcBef>
              <a:spcAft>
                <a:spcPts val="0"/>
              </a:spcAft>
            </a:pPr>
            <a:r>
              <a:rPr sz="1400" dirty="0" err="1">
                <a:solidFill>
                  <a:srgbClr val="CBD2E0"/>
                </a:solidFill>
                <a:latin typeface="Consolas"/>
              </a:rPr>
              <a:t>mpirun</a:t>
            </a:r>
            <a:r>
              <a:rPr sz="1400" dirty="0">
                <a:solidFill>
                  <a:srgbClr val="CBD2E0"/>
                </a:solidFill>
                <a:latin typeface="Consolas"/>
              </a:rPr>
              <a:t> -np 8 ./v4</a:t>
            </a:r>
          </a:p>
          <a:p>
            <a:pPr>
              <a:spcBef>
                <a:spcPts val="0"/>
              </a:spcBef>
              <a:spcAft>
                <a:spcPts val="0"/>
              </a:spcAft>
            </a:pPr>
            <a:endParaRPr sz="1400" dirty="0">
              <a:solidFill>
                <a:srgbClr val="CBD2E0"/>
              </a:solidFill>
              <a:latin typeface="Consolas"/>
            </a:endParaRPr>
          </a:p>
          <a:p>
            <a:pPr>
              <a:spcBef>
                <a:spcPts val="0"/>
              </a:spcBef>
              <a:spcAft>
                <a:spcPts val="0"/>
              </a:spcAft>
            </a:pPr>
            <a:r>
              <a:rPr sz="1400" dirty="0" err="1">
                <a:solidFill>
                  <a:srgbClr val="CBD2E0"/>
                </a:solidFill>
                <a:latin typeface="Consolas"/>
              </a:rPr>
              <a:t>nvcc</a:t>
            </a:r>
            <a:r>
              <a:rPr sz="1400" dirty="0">
                <a:solidFill>
                  <a:srgbClr val="CBD2E0"/>
                </a:solidFill>
                <a:latin typeface="Consolas"/>
              </a:rPr>
              <a:t> V6_cuda.cu -O2 -o v6</a:t>
            </a:r>
          </a:p>
          <a:p>
            <a:pPr>
              <a:spcBef>
                <a:spcPts val="0"/>
              </a:spcBef>
              <a:spcAft>
                <a:spcPts val="0"/>
              </a:spcAft>
            </a:pPr>
            <a:r>
              <a:rPr sz="1400" dirty="0">
                <a:solidFill>
                  <a:srgbClr val="CBD2E0"/>
                </a:solidFill>
                <a:latin typeface="Consolas"/>
              </a:rPr>
              <a:t>./v6</a:t>
            </a:r>
          </a:p>
        </p:txBody>
      </p:sp>
      <p:sp>
        <p:nvSpPr>
          <p:cNvPr id="14" name="Rectangle 13">
            <a:hlinkClick r:id="rId3"/>
          </p:cNvPr>
          <p:cNvSpPr/>
          <p:nvPr/>
        </p:nvSpPr>
        <p:spPr>
          <a:xfrm>
            <a:off x="365760" y="6291072"/>
            <a:ext cx="11430000" cy="347472"/>
          </a:xfrm>
          <a:prstGeom prst="rect">
            <a:avLst/>
          </a:prstGeom>
          <a:solidFill>
            <a:srgbClr val="2E74B5"/>
          </a:solidFill>
          <a:ln w="6350">
            <a:solidFill>
              <a:srgbClr val="1F3564"/>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dirty="0">
                <a:solidFill>
                  <a:srgbClr val="FFFFFF"/>
                </a:solidFill>
                <a:latin typeface="Calibri"/>
              </a:rPr>
              <a:t>Ver </a:t>
            </a:r>
            <a:r>
              <a:rPr sz="1200" b="1" dirty="0" err="1">
                <a:solidFill>
                  <a:srgbClr val="FFFFFF"/>
                </a:solidFill>
                <a:latin typeface="Calibri"/>
              </a:rPr>
              <a:t>resultados</a:t>
            </a:r>
            <a:r>
              <a:rPr sz="1200" b="1" dirty="0">
                <a:solidFill>
                  <a:srgbClr val="FFFFFF"/>
                </a:solidFill>
                <a:latin typeface="Calibri"/>
              </a:rPr>
              <a:t> </a:t>
            </a:r>
            <a:r>
              <a:rPr sz="1200" b="1" dirty="0" err="1">
                <a:solidFill>
                  <a:srgbClr val="FFFFFF"/>
                </a:solidFill>
                <a:latin typeface="Calibri"/>
              </a:rPr>
              <a:t>completos</a:t>
            </a:r>
            <a:r>
              <a:rPr sz="1200" b="1" dirty="0">
                <a:solidFill>
                  <a:srgbClr val="FFFFFF"/>
                </a:solidFill>
                <a:latin typeface="Calibri"/>
              </a:rPr>
              <a:t> — resultados.xlsx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7899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12880" cy="658368"/>
          </a:xfrm>
          <a:prstGeom prst="rect">
            <a:avLst/>
          </a:prstGeom>
          <a:noFill/>
        </p:spPr>
        <p:txBody>
          <a:bodyPr wrap="square">
            <a:spAutoFit/>
          </a:bodyPr>
          <a:lstStyle/>
          <a:p>
            <a:pPr algn="l"/>
            <a:r>
              <a:rPr sz="2600" b="1" i="0">
                <a:solidFill>
                  <a:srgbClr val="FFFFFF"/>
                </a:solidFill>
                <a:latin typeface="Calibri"/>
              </a:rPr>
              <a:t>V2 — Optimización de Memoria Contigua</a:t>
            </a:r>
          </a:p>
        </p:txBody>
      </p:sp>
      <p:sp>
        <p:nvSpPr>
          <p:cNvPr id="4" name="TextBox 3"/>
          <p:cNvSpPr txBox="1"/>
          <p:nvPr/>
        </p:nvSpPr>
        <p:spPr>
          <a:xfrm>
            <a:off x="274320" y="713232"/>
            <a:ext cx="11612880" cy="329184"/>
          </a:xfrm>
          <a:prstGeom prst="rect">
            <a:avLst/>
          </a:prstGeom>
          <a:noFill/>
        </p:spPr>
        <p:txBody>
          <a:bodyPr wrap="square">
            <a:spAutoFit/>
          </a:bodyPr>
          <a:lstStyle/>
          <a:p>
            <a:pPr algn="l"/>
            <a:r>
              <a:rPr sz="1200" b="0" i="0">
                <a:solidFill>
                  <a:srgbClr val="D6E4F7"/>
                </a:solidFill>
                <a:latin typeface="Calibri"/>
              </a:rPr>
              <a:t>Código C++ implementado vs. ensamblador generado por el compilador (-O2)</a:t>
            </a:r>
          </a:p>
        </p:txBody>
      </p:sp>
      <p:sp>
        <p:nvSpPr>
          <p:cNvPr id="5" name="Rectangle 4"/>
          <p:cNvSpPr/>
          <p:nvPr/>
        </p:nvSpPr>
        <p:spPr>
          <a:xfrm>
            <a:off x="365760" y="1170432"/>
            <a:ext cx="5577840" cy="256032"/>
          </a:xfrm>
          <a:prstGeom prst="rect">
            <a:avLst/>
          </a:prstGeom>
          <a:solidFill>
            <a:srgbClr val="008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38912" y="1153030"/>
            <a:ext cx="5431536" cy="307777"/>
          </a:xfrm>
          <a:prstGeom prst="rect">
            <a:avLst/>
          </a:prstGeom>
          <a:noFill/>
        </p:spPr>
        <p:txBody>
          <a:bodyPr wrap="square">
            <a:spAutoFit/>
          </a:bodyPr>
          <a:lstStyle/>
          <a:p>
            <a:pPr algn="l"/>
            <a:r>
              <a:rPr sz="1400" b="1" i="0" dirty="0">
                <a:solidFill>
                  <a:srgbClr val="FFFFFF"/>
                </a:solidFill>
                <a:latin typeface="Calibri"/>
              </a:rPr>
              <a:t>✔  Código </a:t>
            </a:r>
            <a:r>
              <a:rPr sz="1400" b="1" i="0" dirty="0" err="1">
                <a:solidFill>
                  <a:srgbClr val="FFFFFF"/>
                </a:solidFill>
                <a:latin typeface="Calibri"/>
              </a:rPr>
              <a:t>Implementado</a:t>
            </a:r>
            <a:r>
              <a:rPr sz="1400" b="1" i="0" dirty="0">
                <a:solidFill>
                  <a:srgbClr val="FFFFFF"/>
                </a:solidFill>
                <a:latin typeface="Calibri"/>
              </a:rPr>
              <a:t> (C++)</a:t>
            </a:r>
          </a:p>
        </p:txBody>
      </p:sp>
      <p:sp>
        <p:nvSpPr>
          <p:cNvPr id="7" name="Rectangle 6"/>
          <p:cNvSpPr/>
          <p:nvPr/>
        </p:nvSpPr>
        <p:spPr>
          <a:xfrm>
            <a:off x="365760" y="1444752"/>
            <a:ext cx="5577840" cy="3566160"/>
          </a:xfrm>
          <a:prstGeom prst="rect">
            <a:avLst/>
          </a:prstGeom>
          <a:solidFill>
            <a:srgbClr val="1E1E2E"/>
          </a:solidFill>
          <a:ln w="9525">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517904"/>
            <a:ext cx="4019049" cy="3162404"/>
          </a:xfrm>
          <a:prstGeom prst="rect">
            <a:avLst/>
          </a:prstGeom>
          <a:noFill/>
        </p:spPr>
        <p:txBody>
          <a:bodyPr wrap="none">
            <a:spAutoFit/>
          </a:bodyPr>
          <a:lstStyle/>
          <a:p>
            <a:pPr>
              <a:spcBef>
                <a:spcPts val="0"/>
              </a:spcBef>
              <a:spcAft>
                <a:spcPts val="0"/>
              </a:spcAft>
            </a:pPr>
            <a:r>
              <a:rPr sz="1050" dirty="0">
                <a:solidFill>
                  <a:srgbClr val="CBD2E0"/>
                </a:solidFill>
                <a:latin typeface="Consolas"/>
              </a:rPr>
              <a:t>// vector&lt;int&gt; plano — memoria CONTIGUA</a:t>
            </a:r>
          </a:p>
          <a:p>
            <a:pPr>
              <a:spcBef>
                <a:spcPts val="0"/>
              </a:spcBef>
              <a:spcAft>
                <a:spcPts val="0"/>
              </a:spcAft>
            </a:pPr>
            <a:r>
              <a:rPr sz="1050" dirty="0">
                <a:solidFill>
                  <a:srgbClr val="CBD2E0"/>
                </a:solidFill>
                <a:latin typeface="Consolas"/>
              </a:rPr>
              <a:t>std::vector&lt;int&gt; grid(N * N, 0);</a:t>
            </a:r>
          </a:p>
          <a:p>
            <a:pPr>
              <a:spcBef>
                <a:spcPts val="0"/>
              </a:spcBef>
              <a:spcAft>
                <a:spcPts val="0"/>
              </a:spcAft>
            </a:pPr>
            <a:r>
              <a:rPr sz="1050" dirty="0">
                <a:solidFill>
                  <a:srgbClr val="CBD2E0"/>
                </a:solidFill>
                <a:latin typeface="Consolas"/>
              </a:rPr>
              <a:t>std::vector&lt;int&gt; </a:t>
            </a:r>
            <a:r>
              <a:rPr sz="1050" dirty="0" err="1">
                <a:solidFill>
                  <a:srgbClr val="CBD2E0"/>
                </a:solidFill>
                <a:latin typeface="Consolas"/>
              </a:rPr>
              <a:t>nextGrid</a:t>
            </a:r>
            <a:r>
              <a:rPr sz="1050" dirty="0">
                <a:solidFill>
                  <a:srgbClr val="CBD2E0"/>
                </a:solidFill>
                <a:latin typeface="Consolas"/>
              </a:rPr>
              <a:t>(N * N, 0);</a:t>
            </a:r>
          </a:p>
          <a:p>
            <a:pPr>
              <a:spcBef>
                <a:spcPts val="0"/>
              </a:spcBef>
              <a:spcAft>
                <a:spcPts val="0"/>
              </a:spcAft>
            </a:pPr>
            <a:endParaRPr sz="1050" dirty="0">
              <a:solidFill>
                <a:srgbClr val="CBD2E0"/>
              </a:solidFill>
              <a:latin typeface="Consolas"/>
            </a:endParaRPr>
          </a:p>
          <a:p>
            <a:pPr>
              <a:spcBef>
                <a:spcPts val="0"/>
              </a:spcBef>
              <a:spcAft>
                <a:spcPts val="0"/>
              </a:spcAft>
            </a:pPr>
            <a:r>
              <a:rPr sz="1050" dirty="0">
                <a:solidFill>
                  <a:srgbClr val="CBD2E0"/>
                </a:solidFill>
                <a:latin typeface="Consolas"/>
              </a:rPr>
              <a:t>inline int </a:t>
            </a:r>
            <a:r>
              <a:rPr sz="1050" dirty="0" err="1">
                <a:solidFill>
                  <a:srgbClr val="CBD2E0"/>
                </a:solidFill>
                <a:latin typeface="Consolas"/>
              </a:rPr>
              <a:t>idx</a:t>
            </a:r>
            <a:r>
              <a:rPr sz="1050" dirty="0">
                <a:solidFill>
                  <a:srgbClr val="CBD2E0"/>
                </a:solidFill>
                <a:latin typeface="Consolas"/>
              </a:rPr>
              <a:t>(int </a:t>
            </a:r>
            <a:r>
              <a:rPr sz="1050" dirty="0" err="1">
                <a:solidFill>
                  <a:srgbClr val="CBD2E0"/>
                </a:solidFill>
                <a:latin typeface="Consolas"/>
              </a:rPr>
              <a:t>i</a:t>
            </a:r>
            <a:r>
              <a:rPr sz="1050" dirty="0">
                <a:solidFill>
                  <a:srgbClr val="CBD2E0"/>
                </a:solidFill>
                <a:latin typeface="Consolas"/>
              </a:rPr>
              <a:t>, int j) {</a:t>
            </a:r>
          </a:p>
          <a:p>
            <a:pPr>
              <a:spcBef>
                <a:spcPts val="0"/>
              </a:spcBef>
              <a:spcAft>
                <a:spcPts val="0"/>
              </a:spcAft>
            </a:pPr>
            <a:r>
              <a:rPr sz="1050" dirty="0">
                <a:solidFill>
                  <a:srgbClr val="CBD2E0"/>
                </a:solidFill>
                <a:latin typeface="Consolas"/>
              </a:rPr>
              <a:t>    return </a:t>
            </a:r>
            <a:r>
              <a:rPr sz="1050" dirty="0" err="1">
                <a:solidFill>
                  <a:srgbClr val="CBD2E0"/>
                </a:solidFill>
                <a:latin typeface="Consolas"/>
              </a:rPr>
              <a:t>i</a:t>
            </a:r>
            <a:r>
              <a:rPr sz="1050" dirty="0">
                <a:solidFill>
                  <a:srgbClr val="CBD2E0"/>
                </a:solidFill>
                <a:latin typeface="Consolas"/>
              </a:rPr>
              <a:t> * N + j;</a:t>
            </a:r>
          </a:p>
          <a:p>
            <a:pPr>
              <a:spcBef>
                <a:spcPts val="0"/>
              </a:spcBef>
              <a:spcAft>
                <a:spcPts val="0"/>
              </a:spcAft>
            </a:pPr>
            <a:r>
              <a:rPr sz="1050" dirty="0">
                <a:solidFill>
                  <a:srgbClr val="CBD2E0"/>
                </a:solidFill>
                <a:latin typeface="Consolas"/>
              </a:rPr>
              <a:t>}</a:t>
            </a:r>
          </a:p>
          <a:p>
            <a:pPr>
              <a:spcBef>
                <a:spcPts val="0"/>
              </a:spcBef>
              <a:spcAft>
                <a:spcPts val="0"/>
              </a:spcAft>
            </a:pPr>
            <a:endParaRPr sz="1050" dirty="0">
              <a:solidFill>
                <a:srgbClr val="CBD2E0"/>
              </a:solidFill>
              <a:latin typeface="Consolas"/>
            </a:endParaRPr>
          </a:p>
          <a:p>
            <a:pPr>
              <a:spcBef>
                <a:spcPts val="0"/>
              </a:spcBef>
              <a:spcAft>
                <a:spcPts val="0"/>
              </a:spcAft>
            </a:pPr>
            <a:r>
              <a:rPr sz="1050" dirty="0">
                <a:solidFill>
                  <a:srgbClr val="CBD2E0"/>
                </a:solidFill>
                <a:latin typeface="Consolas"/>
              </a:rPr>
              <a:t>// </a:t>
            </a:r>
            <a:r>
              <a:rPr sz="1050" dirty="0" err="1">
                <a:solidFill>
                  <a:srgbClr val="CBD2E0"/>
                </a:solidFill>
                <a:latin typeface="Consolas"/>
              </a:rPr>
              <a:t>Precálculo</a:t>
            </a:r>
            <a:r>
              <a:rPr sz="1050" dirty="0">
                <a:solidFill>
                  <a:srgbClr val="CBD2E0"/>
                </a:solidFill>
                <a:latin typeface="Consolas"/>
              </a:rPr>
              <a:t> de offsets de fila (</a:t>
            </a:r>
            <a:r>
              <a:rPr sz="1050" dirty="0" err="1">
                <a:solidFill>
                  <a:srgbClr val="CBD2E0"/>
                </a:solidFill>
                <a:latin typeface="Consolas"/>
              </a:rPr>
              <a:t>una</a:t>
            </a:r>
            <a:r>
              <a:rPr sz="1050" dirty="0">
                <a:solidFill>
                  <a:srgbClr val="CBD2E0"/>
                </a:solidFill>
                <a:latin typeface="Consolas"/>
              </a:rPr>
              <a:t> </a:t>
            </a:r>
            <a:r>
              <a:rPr sz="1050" dirty="0" err="1">
                <a:solidFill>
                  <a:srgbClr val="CBD2E0"/>
                </a:solidFill>
                <a:latin typeface="Consolas"/>
              </a:rPr>
              <a:t>vez</a:t>
            </a:r>
            <a:r>
              <a:rPr sz="1050" dirty="0">
                <a:solidFill>
                  <a:srgbClr val="CBD2E0"/>
                </a:solidFill>
                <a:latin typeface="Consolas"/>
              </a:rPr>
              <a:t> </a:t>
            </a:r>
            <a:r>
              <a:rPr sz="1050" dirty="0" err="1">
                <a:solidFill>
                  <a:srgbClr val="CBD2E0"/>
                </a:solidFill>
                <a:latin typeface="Consolas"/>
              </a:rPr>
              <a:t>por</a:t>
            </a:r>
            <a:r>
              <a:rPr sz="1050" dirty="0">
                <a:solidFill>
                  <a:srgbClr val="CBD2E0"/>
                </a:solidFill>
                <a:latin typeface="Consolas"/>
              </a:rPr>
              <a:t> </a:t>
            </a:r>
            <a:r>
              <a:rPr sz="1050" dirty="0" err="1">
                <a:solidFill>
                  <a:srgbClr val="CBD2E0"/>
                </a:solidFill>
                <a:latin typeface="Consolas"/>
              </a:rPr>
              <a:t>i</a:t>
            </a:r>
            <a:r>
              <a:rPr sz="1050" dirty="0">
                <a:solidFill>
                  <a:srgbClr val="CBD2E0"/>
                </a:solidFill>
                <a:latin typeface="Consolas"/>
              </a:rPr>
              <a:t>)</a:t>
            </a:r>
          </a:p>
          <a:p>
            <a:pPr>
              <a:spcBef>
                <a:spcPts val="0"/>
              </a:spcBef>
              <a:spcAft>
                <a:spcPts val="0"/>
              </a:spcAft>
            </a:pPr>
            <a:r>
              <a:rPr sz="1050" dirty="0">
                <a:solidFill>
                  <a:srgbClr val="CBD2E0"/>
                </a:solidFill>
                <a:latin typeface="Consolas"/>
              </a:rPr>
              <a:t>int </a:t>
            </a:r>
            <a:r>
              <a:rPr sz="1050" dirty="0" err="1">
                <a:solidFill>
                  <a:srgbClr val="CBD2E0"/>
                </a:solidFill>
                <a:latin typeface="Consolas"/>
              </a:rPr>
              <a:t>filaAnterior</a:t>
            </a:r>
            <a:r>
              <a:rPr sz="1050" dirty="0">
                <a:solidFill>
                  <a:srgbClr val="CBD2E0"/>
                </a:solidFill>
                <a:latin typeface="Consolas"/>
              </a:rPr>
              <a:t>  = (</a:t>
            </a:r>
            <a:r>
              <a:rPr sz="1050" dirty="0" err="1">
                <a:solidFill>
                  <a:srgbClr val="CBD2E0"/>
                </a:solidFill>
                <a:latin typeface="Consolas"/>
              </a:rPr>
              <a:t>i</a:t>
            </a:r>
            <a:r>
              <a:rPr sz="1050" dirty="0">
                <a:solidFill>
                  <a:srgbClr val="CBD2E0"/>
                </a:solidFill>
                <a:latin typeface="Consolas"/>
              </a:rPr>
              <a:t> - 1) * N;</a:t>
            </a:r>
          </a:p>
          <a:p>
            <a:pPr>
              <a:spcBef>
                <a:spcPts val="0"/>
              </a:spcBef>
              <a:spcAft>
                <a:spcPts val="0"/>
              </a:spcAft>
            </a:pPr>
            <a:r>
              <a:rPr sz="1050" dirty="0">
                <a:solidFill>
                  <a:srgbClr val="CBD2E0"/>
                </a:solidFill>
                <a:latin typeface="Consolas"/>
              </a:rPr>
              <a:t>int </a:t>
            </a:r>
            <a:r>
              <a:rPr sz="1050" dirty="0" err="1">
                <a:solidFill>
                  <a:srgbClr val="CBD2E0"/>
                </a:solidFill>
                <a:latin typeface="Consolas"/>
              </a:rPr>
              <a:t>filaActual</a:t>
            </a:r>
            <a:r>
              <a:rPr sz="1050" dirty="0">
                <a:solidFill>
                  <a:srgbClr val="CBD2E0"/>
                </a:solidFill>
                <a:latin typeface="Consolas"/>
              </a:rPr>
              <a:t>    = </a:t>
            </a:r>
            <a:r>
              <a:rPr sz="1050" dirty="0" err="1">
                <a:solidFill>
                  <a:srgbClr val="CBD2E0"/>
                </a:solidFill>
                <a:latin typeface="Consolas"/>
              </a:rPr>
              <a:t>i</a:t>
            </a:r>
            <a:r>
              <a:rPr sz="1050" dirty="0">
                <a:solidFill>
                  <a:srgbClr val="CBD2E0"/>
                </a:solidFill>
                <a:latin typeface="Consolas"/>
              </a:rPr>
              <a:t> * N;</a:t>
            </a:r>
          </a:p>
          <a:p>
            <a:pPr>
              <a:spcBef>
                <a:spcPts val="0"/>
              </a:spcBef>
              <a:spcAft>
                <a:spcPts val="0"/>
              </a:spcAft>
            </a:pPr>
            <a:r>
              <a:rPr sz="1050" dirty="0">
                <a:solidFill>
                  <a:srgbClr val="CBD2E0"/>
                </a:solidFill>
                <a:latin typeface="Consolas"/>
              </a:rPr>
              <a:t>int </a:t>
            </a:r>
            <a:r>
              <a:rPr sz="1050" dirty="0" err="1">
                <a:solidFill>
                  <a:srgbClr val="CBD2E0"/>
                </a:solidFill>
                <a:latin typeface="Consolas"/>
              </a:rPr>
              <a:t>filaSiguiente</a:t>
            </a:r>
            <a:r>
              <a:rPr sz="1050" dirty="0">
                <a:solidFill>
                  <a:srgbClr val="CBD2E0"/>
                </a:solidFill>
                <a:latin typeface="Consolas"/>
              </a:rPr>
              <a:t> = (</a:t>
            </a:r>
            <a:r>
              <a:rPr sz="1050" dirty="0" err="1">
                <a:solidFill>
                  <a:srgbClr val="CBD2E0"/>
                </a:solidFill>
                <a:latin typeface="Consolas"/>
              </a:rPr>
              <a:t>i</a:t>
            </a:r>
            <a:r>
              <a:rPr sz="1050" dirty="0">
                <a:solidFill>
                  <a:srgbClr val="CBD2E0"/>
                </a:solidFill>
                <a:latin typeface="Consolas"/>
              </a:rPr>
              <a:t> + 1) * N;</a:t>
            </a:r>
          </a:p>
          <a:p>
            <a:pPr>
              <a:spcBef>
                <a:spcPts val="0"/>
              </a:spcBef>
              <a:spcAft>
                <a:spcPts val="0"/>
              </a:spcAft>
            </a:pPr>
            <a:endParaRPr sz="1050" dirty="0">
              <a:solidFill>
                <a:srgbClr val="CBD2E0"/>
              </a:solidFill>
              <a:latin typeface="Consolas"/>
            </a:endParaRPr>
          </a:p>
          <a:p>
            <a:pPr>
              <a:spcBef>
                <a:spcPts val="0"/>
              </a:spcBef>
              <a:spcAft>
                <a:spcPts val="0"/>
              </a:spcAft>
            </a:pPr>
            <a:r>
              <a:rPr sz="1050" dirty="0">
                <a:solidFill>
                  <a:srgbClr val="CBD2E0"/>
                </a:solidFill>
                <a:latin typeface="Consolas"/>
              </a:rPr>
              <a:t>int </a:t>
            </a:r>
            <a:r>
              <a:rPr sz="1050" dirty="0" err="1">
                <a:solidFill>
                  <a:srgbClr val="CBD2E0"/>
                </a:solidFill>
                <a:latin typeface="Consolas"/>
              </a:rPr>
              <a:t>vecinosVivos</a:t>
            </a:r>
            <a:r>
              <a:rPr sz="1050" dirty="0">
                <a:solidFill>
                  <a:srgbClr val="CBD2E0"/>
                </a:solidFill>
                <a:latin typeface="Consolas"/>
              </a:rPr>
              <a:t> =</a:t>
            </a:r>
          </a:p>
          <a:p>
            <a:pPr>
              <a:spcBef>
                <a:spcPts val="0"/>
              </a:spcBef>
              <a:spcAft>
                <a:spcPts val="0"/>
              </a:spcAft>
            </a:pPr>
            <a:r>
              <a:rPr sz="1050" dirty="0">
                <a:solidFill>
                  <a:srgbClr val="CBD2E0"/>
                </a:solidFill>
                <a:latin typeface="Consolas"/>
              </a:rPr>
              <a:t>  actual[filaAnterior+j-1] + actual[</a:t>
            </a:r>
            <a:r>
              <a:rPr sz="1050" dirty="0" err="1">
                <a:solidFill>
                  <a:srgbClr val="CBD2E0"/>
                </a:solidFill>
                <a:latin typeface="Consolas"/>
              </a:rPr>
              <a:t>filaAnterior+j</a:t>
            </a:r>
            <a:r>
              <a:rPr sz="1050" dirty="0">
                <a:solidFill>
                  <a:srgbClr val="CBD2E0"/>
                </a:solidFill>
                <a:latin typeface="Consolas"/>
              </a:rPr>
              <a:t>]</a:t>
            </a:r>
          </a:p>
          <a:p>
            <a:pPr>
              <a:spcBef>
                <a:spcPts val="0"/>
              </a:spcBef>
              <a:spcAft>
                <a:spcPts val="0"/>
              </a:spcAft>
            </a:pPr>
            <a:r>
              <a:rPr sz="1050" dirty="0">
                <a:solidFill>
                  <a:srgbClr val="CBD2E0"/>
                </a:solidFill>
                <a:latin typeface="Consolas"/>
              </a:rPr>
              <a:t>+ actual[filaAnterior+j+1] + actual[filaActual+j-1]</a:t>
            </a:r>
          </a:p>
          <a:p>
            <a:pPr>
              <a:spcBef>
                <a:spcPts val="0"/>
              </a:spcBef>
              <a:spcAft>
                <a:spcPts val="0"/>
              </a:spcAft>
            </a:pPr>
            <a:r>
              <a:rPr sz="1050" dirty="0">
                <a:solidFill>
                  <a:srgbClr val="CBD2E0"/>
                </a:solidFill>
                <a:latin typeface="Consolas"/>
              </a:rPr>
              <a:t>+ actual[filaActual+j+1]</a:t>
            </a:r>
          </a:p>
          <a:p>
            <a:pPr>
              <a:spcBef>
                <a:spcPts val="0"/>
              </a:spcBef>
              <a:spcAft>
                <a:spcPts val="0"/>
              </a:spcAft>
            </a:pPr>
            <a:r>
              <a:rPr sz="1050" dirty="0">
                <a:solidFill>
                  <a:srgbClr val="CBD2E0"/>
                </a:solidFill>
                <a:latin typeface="Consolas"/>
              </a:rPr>
              <a:t>+ actual[filaSiguiente+j-1]+ actual[</a:t>
            </a:r>
            <a:r>
              <a:rPr sz="1050" dirty="0" err="1">
                <a:solidFill>
                  <a:srgbClr val="CBD2E0"/>
                </a:solidFill>
                <a:latin typeface="Consolas"/>
              </a:rPr>
              <a:t>filaSiguiente+j</a:t>
            </a:r>
            <a:r>
              <a:rPr sz="1050" dirty="0">
                <a:solidFill>
                  <a:srgbClr val="CBD2E0"/>
                </a:solidFill>
                <a:latin typeface="Consolas"/>
              </a:rPr>
              <a:t>]</a:t>
            </a:r>
          </a:p>
          <a:p>
            <a:pPr>
              <a:spcBef>
                <a:spcPts val="0"/>
              </a:spcBef>
              <a:spcAft>
                <a:spcPts val="0"/>
              </a:spcAft>
            </a:pPr>
            <a:r>
              <a:rPr sz="1050" dirty="0">
                <a:solidFill>
                  <a:srgbClr val="CBD2E0"/>
                </a:solidFill>
                <a:latin typeface="Consolas"/>
              </a:rPr>
              <a:t>+ actual[filaSiguiente+j+1];</a:t>
            </a:r>
          </a:p>
        </p:txBody>
      </p:sp>
      <p:sp>
        <p:nvSpPr>
          <p:cNvPr id="9" name="Rectangle 8"/>
          <p:cNvSpPr/>
          <p:nvPr/>
        </p:nvSpPr>
        <p:spPr>
          <a:xfrm>
            <a:off x="6126480" y="1170432"/>
            <a:ext cx="5669280" cy="27432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7920" y="1159835"/>
            <a:ext cx="5486400" cy="307777"/>
          </a:xfrm>
          <a:prstGeom prst="rect">
            <a:avLst/>
          </a:prstGeom>
          <a:noFill/>
        </p:spPr>
        <p:txBody>
          <a:bodyPr wrap="square">
            <a:spAutoFit/>
          </a:bodyPr>
          <a:lstStyle/>
          <a:p>
            <a:pPr algn="l"/>
            <a:r>
              <a:rPr sz="1400" b="1" i="0" dirty="0">
                <a:solidFill>
                  <a:srgbClr val="FFFFFF"/>
                </a:solidFill>
                <a:latin typeface="Calibri"/>
              </a:rPr>
              <a:t>¿Por </a:t>
            </a:r>
            <a:r>
              <a:rPr sz="1400" b="1" i="0" dirty="0" err="1">
                <a:solidFill>
                  <a:srgbClr val="FFFFFF"/>
                </a:solidFill>
                <a:latin typeface="Calibri"/>
              </a:rPr>
              <a:t>qué</a:t>
            </a:r>
            <a:r>
              <a:rPr sz="1400" b="1" i="0" dirty="0">
                <a:solidFill>
                  <a:srgbClr val="FFFFFF"/>
                </a:solidFill>
                <a:latin typeface="Calibri"/>
              </a:rPr>
              <a:t> </a:t>
            </a:r>
            <a:r>
              <a:rPr sz="1400" b="1" i="0" dirty="0" err="1">
                <a:solidFill>
                  <a:srgbClr val="FFFFFF"/>
                </a:solidFill>
                <a:latin typeface="Calibri"/>
              </a:rPr>
              <a:t>mejora</a:t>
            </a:r>
            <a:r>
              <a:rPr sz="1400" b="1" i="0" dirty="0">
                <a:solidFill>
                  <a:srgbClr val="FFFFFF"/>
                </a:solidFill>
                <a:latin typeface="Calibri"/>
              </a:rPr>
              <a:t> </a:t>
            </a:r>
            <a:r>
              <a:rPr sz="1400" b="1" i="0" dirty="0" err="1">
                <a:solidFill>
                  <a:srgbClr val="FFFFFF"/>
                </a:solidFill>
                <a:latin typeface="Calibri"/>
              </a:rPr>
              <a:t>el</a:t>
            </a:r>
            <a:r>
              <a:rPr sz="1400" b="1" i="0" dirty="0">
                <a:solidFill>
                  <a:srgbClr val="FFFFFF"/>
                </a:solidFill>
                <a:latin typeface="Calibri"/>
              </a:rPr>
              <a:t> </a:t>
            </a:r>
            <a:r>
              <a:rPr sz="1400" b="1" i="0" dirty="0" err="1">
                <a:solidFill>
                  <a:srgbClr val="FFFFFF"/>
                </a:solidFill>
                <a:latin typeface="Calibri"/>
              </a:rPr>
              <a:t>rendimiento</a:t>
            </a:r>
            <a:r>
              <a:rPr sz="1400" b="1" i="0" dirty="0">
                <a:solidFill>
                  <a:srgbClr val="FFFFFF"/>
                </a:solidFill>
                <a:latin typeface="Calibri"/>
              </a:rPr>
              <a:t> </a:t>
            </a:r>
            <a:r>
              <a:rPr sz="1400" b="1" i="0" dirty="0" err="1">
                <a:solidFill>
                  <a:srgbClr val="FFFFFF"/>
                </a:solidFill>
                <a:latin typeface="Calibri"/>
              </a:rPr>
              <a:t>respecto</a:t>
            </a:r>
            <a:r>
              <a:rPr sz="1400" b="1" i="0" dirty="0">
                <a:solidFill>
                  <a:srgbClr val="FFFFFF"/>
                </a:solidFill>
                <a:latin typeface="Calibri"/>
              </a:rPr>
              <a:t> a V1?</a:t>
            </a:r>
          </a:p>
        </p:txBody>
      </p:sp>
      <p:sp>
        <p:nvSpPr>
          <p:cNvPr id="11" name="Rectangle 10"/>
          <p:cNvSpPr/>
          <p:nvPr/>
        </p:nvSpPr>
        <p:spPr>
          <a:xfrm>
            <a:off x="6126480" y="1444752"/>
            <a:ext cx="5669280" cy="3566160"/>
          </a:xfrm>
          <a:prstGeom prst="rect">
            <a:avLst/>
          </a:prstGeom>
          <a:solidFill>
            <a:srgbClr val="F2F2F2"/>
          </a:solidFill>
          <a:ln w="6350">
            <a:solidFill>
              <a:srgbClr val="D6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17920" y="1536192"/>
            <a:ext cx="5486400" cy="276999"/>
          </a:xfrm>
          <a:prstGeom prst="rect">
            <a:avLst/>
          </a:prstGeom>
          <a:noFill/>
        </p:spPr>
        <p:txBody>
          <a:bodyPr wrap="square">
            <a:spAutoFit/>
          </a:bodyPr>
          <a:lstStyle/>
          <a:p>
            <a:pPr algn="l"/>
            <a:r>
              <a:rPr sz="1200" b="1" i="0" dirty="0">
                <a:solidFill>
                  <a:srgbClr val="C86000"/>
                </a:solidFill>
                <a:latin typeface="Calibri"/>
              </a:rPr>
              <a:t>V1 — vector&lt;vector&lt;int&gt;&gt;  (no </a:t>
            </a:r>
            <a:r>
              <a:rPr sz="1200" b="1" i="0" dirty="0" err="1">
                <a:solidFill>
                  <a:srgbClr val="C86000"/>
                </a:solidFill>
                <a:latin typeface="Calibri"/>
              </a:rPr>
              <a:t>contiguo</a:t>
            </a:r>
            <a:r>
              <a:rPr sz="1200" b="1" i="0" dirty="0">
                <a:solidFill>
                  <a:srgbClr val="C86000"/>
                </a:solidFill>
                <a:latin typeface="Calibri"/>
              </a:rPr>
              <a:t>)</a:t>
            </a:r>
          </a:p>
        </p:txBody>
      </p:sp>
      <p:sp>
        <p:nvSpPr>
          <p:cNvPr id="13" name="TextBox 12"/>
          <p:cNvSpPr txBox="1"/>
          <p:nvPr/>
        </p:nvSpPr>
        <p:spPr>
          <a:xfrm>
            <a:off x="6126480" y="1792224"/>
            <a:ext cx="5669280" cy="500137"/>
          </a:xfrm>
          <a:prstGeom prst="rect">
            <a:avLst/>
          </a:prstGeom>
          <a:noFill/>
        </p:spPr>
        <p:txBody>
          <a:bodyPr wrap="square">
            <a:spAutoFit/>
          </a:bodyPr>
          <a:lstStyle/>
          <a:p>
            <a:pPr>
              <a:spcBef>
                <a:spcPts val="300"/>
              </a:spcBef>
            </a:pPr>
            <a:r>
              <a:rPr sz="1100" dirty="0">
                <a:solidFill>
                  <a:srgbClr val="000000"/>
                </a:solidFill>
                <a:latin typeface="Calibri"/>
              </a:rPr>
              <a:t>• </a:t>
            </a:r>
            <a:r>
              <a:rPr sz="1200" dirty="0">
                <a:solidFill>
                  <a:srgbClr val="000000"/>
                </a:solidFill>
                <a:latin typeface="Calibri"/>
              </a:rPr>
              <a:t>Cada fila = vector </a:t>
            </a:r>
            <a:r>
              <a:rPr sz="1200" dirty="0" err="1">
                <a:solidFill>
                  <a:srgbClr val="000000"/>
                </a:solidFill>
                <a:latin typeface="Calibri"/>
              </a:rPr>
              <a:t>separado</a:t>
            </a:r>
            <a:r>
              <a:rPr sz="1200" dirty="0">
                <a:solidFill>
                  <a:srgbClr val="000000"/>
                </a:solidFill>
                <a:latin typeface="Calibri"/>
              </a:rPr>
              <a:t> → doble </a:t>
            </a:r>
            <a:r>
              <a:rPr sz="1200" dirty="0" err="1">
                <a:solidFill>
                  <a:srgbClr val="000000"/>
                </a:solidFill>
                <a:latin typeface="Calibri"/>
              </a:rPr>
              <a:t>indirección</a:t>
            </a:r>
            <a:r>
              <a:rPr sz="1200" dirty="0">
                <a:solidFill>
                  <a:srgbClr val="000000"/>
                </a:solidFill>
                <a:latin typeface="Calibri"/>
              </a:rPr>
              <a:t> de </a:t>
            </a:r>
            <a:r>
              <a:rPr sz="1200" dirty="0" err="1">
                <a:solidFill>
                  <a:srgbClr val="000000"/>
                </a:solidFill>
                <a:latin typeface="Calibri"/>
              </a:rPr>
              <a:t>puntero</a:t>
            </a:r>
            <a:r>
              <a:rPr sz="1200" dirty="0">
                <a:solidFill>
                  <a:srgbClr val="000000"/>
                </a:solidFill>
                <a:latin typeface="Calibri"/>
              </a:rPr>
              <a:t> </a:t>
            </a:r>
            <a:r>
              <a:rPr sz="1200" dirty="0" err="1">
                <a:solidFill>
                  <a:srgbClr val="000000"/>
                </a:solidFill>
                <a:latin typeface="Calibri"/>
              </a:rPr>
              <a:t>por</a:t>
            </a:r>
            <a:r>
              <a:rPr sz="1200" dirty="0">
                <a:solidFill>
                  <a:srgbClr val="000000"/>
                </a:solidFill>
                <a:latin typeface="Calibri"/>
              </a:rPr>
              <a:t> </a:t>
            </a:r>
            <a:r>
              <a:rPr sz="1200" dirty="0" err="1">
                <a:solidFill>
                  <a:srgbClr val="000000"/>
                </a:solidFill>
                <a:latin typeface="Calibri"/>
              </a:rPr>
              <a:t>acceso</a:t>
            </a:r>
            <a:endParaRPr sz="1200" dirty="0">
              <a:solidFill>
                <a:srgbClr val="000000"/>
              </a:solidFill>
              <a:latin typeface="Calibri"/>
            </a:endParaRPr>
          </a:p>
          <a:p>
            <a:pPr>
              <a:spcBef>
                <a:spcPts val="300"/>
              </a:spcBef>
            </a:pPr>
            <a:r>
              <a:rPr sz="1200" dirty="0">
                <a:solidFill>
                  <a:srgbClr val="000000"/>
                </a:solidFill>
                <a:latin typeface="Calibri"/>
              </a:rPr>
              <a:t>• Filas </a:t>
            </a:r>
            <a:r>
              <a:rPr sz="1200" dirty="0" err="1">
                <a:solidFill>
                  <a:srgbClr val="000000"/>
                </a:solidFill>
                <a:latin typeface="Calibri"/>
              </a:rPr>
              <a:t>dispersas</a:t>
            </a:r>
            <a:r>
              <a:rPr sz="1200" dirty="0">
                <a:solidFill>
                  <a:srgbClr val="000000"/>
                </a:solidFill>
                <a:latin typeface="Calibri"/>
              </a:rPr>
              <a:t> </a:t>
            </a:r>
            <a:r>
              <a:rPr sz="1200" dirty="0" err="1">
                <a:solidFill>
                  <a:srgbClr val="000000"/>
                </a:solidFill>
                <a:latin typeface="Calibri"/>
              </a:rPr>
              <a:t>en</a:t>
            </a:r>
            <a:r>
              <a:rPr sz="1200" dirty="0">
                <a:solidFill>
                  <a:srgbClr val="000000"/>
                </a:solidFill>
                <a:latin typeface="Calibri"/>
              </a:rPr>
              <a:t> heap → </a:t>
            </a:r>
            <a:r>
              <a:rPr sz="1200" dirty="0" err="1">
                <a:solidFill>
                  <a:srgbClr val="000000"/>
                </a:solidFill>
                <a:latin typeface="Calibri"/>
              </a:rPr>
              <a:t>salto</a:t>
            </a:r>
            <a:r>
              <a:rPr sz="1200" dirty="0">
                <a:solidFill>
                  <a:srgbClr val="000000"/>
                </a:solidFill>
                <a:latin typeface="Calibri"/>
              </a:rPr>
              <a:t> de </a:t>
            </a:r>
            <a:r>
              <a:rPr sz="1200" dirty="0" err="1">
                <a:solidFill>
                  <a:srgbClr val="000000"/>
                </a:solidFill>
                <a:latin typeface="Calibri"/>
              </a:rPr>
              <a:t>caché</a:t>
            </a:r>
            <a:r>
              <a:rPr sz="1200" dirty="0">
                <a:solidFill>
                  <a:srgbClr val="000000"/>
                </a:solidFill>
                <a:latin typeface="Calibri"/>
              </a:rPr>
              <a:t> al </a:t>
            </a:r>
            <a:r>
              <a:rPr sz="1200" dirty="0" err="1">
                <a:solidFill>
                  <a:srgbClr val="000000"/>
                </a:solidFill>
                <a:latin typeface="Calibri"/>
              </a:rPr>
              <a:t>cambiar</a:t>
            </a:r>
            <a:r>
              <a:rPr sz="1200" dirty="0">
                <a:solidFill>
                  <a:srgbClr val="000000"/>
                </a:solidFill>
                <a:latin typeface="Calibri"/>
              </a:rPr>
              <a:t> de fila</a:t>
            </a:r>
          </a:p>
        </p:txBody>
      </p:sp>
      <p:sp>
        <p:nvSpPr>
          <p:cNvPr id="14" name="TextBox 13"/>
          <p:cNvSpPr txBox="1"/>
          <p:nvPr/>
        </p:nvSpPr>
        <p:spPr>
          <a:xfrm>
            <a:off x="6217920" y="2560320"/>
            <a:ext cx="5486400" cy="276999"/>
          </a:xfrm>
          <a:prstGeom prst="rect">
            <a:avLst/>
          </a:prstGeom>
          <a:noFill/>
        </p:spPr>
        <p:txBody>
          <a:bodyPr wrap="square">
            <a:spAutoFit/>
          </a:bodyPr>
          <a:lstStyle/>
          <a:p>
            <a:pPr algn="l"/>
            <a:r>
              <a:rPr sz="1200" b="1" i="0" dirty="0">
                <a:solidFill>
                  <a:srgbClr val="008240"/>
                </a:solidFill>
                <a:latin typeface="Calibri"/>
              </a:rPr>
              <a:t>V2 — vector&lt;int&gt;  (</a:t>
            </a:r>
            <a:r>
              <a:rPr sz="1200" b="1" i="0" dirty="0" err="1">
                <a:solidFill>
                  <a:srgbClr val="008240"/>
                </a:solidFill>
                <a:latin typeface="Calibri"/>
              </a:rPr>
              <a:t>bloque</a:t>
            </a:r>
            <a:r>
              <a:rPr sz="1200" b="1" i="0" dirty="0">
                <a:solidFill>
                  <a:srgbClr val="008240"/>
                </a:solidFill>
                <a:latin typeface="Calibri"/>
              </a:rPr>
              <a:t> </a:t>
            </a:r>
            <a:r>
              <a:rPr sz="1200" b="1" i="0" dirty="0" err="1">
                <a:solidFill>
                  <a:srgbClr val="008240"/>
                </a:solidFill>
                <a:latin typeface="Calibri"/>
              </a:rPr>
              <a:t>único</a:t>
            </a:r>
            <a:r>
              <a:rPr sz="1200" b="1" i="0" dirty="0">
                <a:solidFill>
                  <a:srgbClr val="008240"/>
                </a:solidFill>
                <a:latin typeface="Calibri"/>
              </a:rPr>
              <a:t> de memoria)</a:t>
            </a:r>
          </a:p>
        </p:txBody>
      </p:sp>
      <p:sp>
        <p:nvSpPr>
          <p:cNvPr id="15" name="TextBox 14"/>
          <p:cNvSpPr txBox="1"/>
          <p:nvPr/>
        </p:nvSpPr>
        <p:spPr>
          <a:xfrm>
            <a:off x="6126480" y="2816352"/>
            <a:ext cx="5669280" cy="946413"/>
          </a:xfrm>
          <a:prstGeom prst="rect">
            <a:avLst/>
          </a:prstGeom>
          <a:noFill/>
        </p:spPr>
        <p:txBody>
          <a:bodyPr wrap="square">
            <a:spAutoFit/>
          </a:bodyPr>
          <a:lstStyle/>
          <a:p>
            <a:pPr>
              <a:spcBef>
                <a:spcPts val="300"/>
              </a:spcBef>
            </a:pPr>
            <a:r>
              <a:rPr sz="1100" dirty="0">
                <a:solidFill>
                  <a:srgbClr val="000000"/>
                </a:solidFill>
                <a:latin typeface="Calibri"/>
              </a:rPr>
              <a:t>• </a:t>
            </a:r>
            <a:r>
              <a:rPr sz="1200" dirty="0">
                <a:solidFill>
                  <a:srgbClr val="000000"/>
                </a:solidFill>
                <a:latin typeface="Calibri"/>
              </a:rPr>
              <a:t>Toda la </a:t>
            </a:r>
            <a:r>
              <a:rPr sz="1200" dirty="0" err="1">
                <a:solidFill>
                  <a:srgbClr val="000000"/>
                </a:solidFill>
                <a:latin typeface="Calibri"/>
              </a:rPr>
              <a:t>matriz</a:t>
            </a:r>
            <a:r>
              <a:rPr sz="1200" dirty="0">
                <a:solidFill>
                  <a:srgbClr val="000000"/>
                </a:solidFill>
                <a:latin typeface="Calibri"/>
              </a:rPr>
              <a:t> </a:t>
            </a:r>
            <a:r>
              <a:rPr sz="1200" dirty="0" err="1">
                <a:solidFill>
                  <a:srgbClr val="000000"/>
                </a:solidFill>
                <a:latin typeface="Calibri"/>
              </a:rPr>
              <a:t>en</a:t>
            </a:r>
            <a:r>
              <a:rPr sz="1200" dirty="0">
                <a:solidFill>
                  <a:srgbClr val="000000"/>
                </a:solidFill>
                <a:latin typeface="Calibri"/>
              </a:rPr>
              <a:t> un </a:t>
            </a:r>
            <a:r>
              <a:rPr sz="1200" dirty="0" err="1">
                <a:solidFill>
                  <a:srgbClr val="000000"/>
                </a:solidFill>
                <a:latin typeface="Calibri"/>
              </a:rPr>
              <a:t>único</a:t>
            </a:r>
            <a:r>
              <a:rPr sz="1200" dirty="0">
                <a:solidFill>
                  <a:srgbClr val="000000"/>
                </a:solidFill>
                <a:latin typeface="Calibri"/>
              </a:rPr>
              <a:t> </a:t>
            </a:r>
            <a:r>
              <a:rPr sz="1200" dirty="0" err="1">
                <a:solidFill>
                  <a:srgbClr val="000000"/>
                </a:solidFill>
                <a:latin typeface="Calibri"/>
              </a:rPr>
              <a:t>bloque</a:t>
            </a:r>
            <a:r>
              <a:rPr sz="1200" dirty="0">
                <a:solidFill>
                  <a:srgbClr val="000000"/>
                </a:solidFill>
                <a:latin typeface="Calibri"/>
              </a:rPr>
              <a:t> lineal </a:t>
            </a:r>
            <a:r>
              <a:rPr sz="1200" dirty="0" err="1">
                <a:solidFill>
                  <a:srgbClr val="000000"/>
                </a:solidFill>
                <a:latin typeface="Calibri"/>
              </a:rPr>
              <a:t>contiguo</a:t>
            </a:r>
            <a:r>
              <a:rPr sz="1200" dirty="0">
                <a:solidFill>
                  <a:srgbClr val="000000"/>
                </a:solidFill>
                <a:latin typeface="Calibri"/>
              </a:rPr>
              <a:t> </a:t>
            </a:r>
            <a:r>
              <a:rPr sz="1200" dirty="0" err="1">
                <a:solidFill>
                  <a:srgbClr val="000000"/>
                </a:solidFill>
                <a:latin typeface="Calibri"/>
              </a:rPr>
              <a:t>en</a:t>
            </a:r>
            <a:r>
              <a:rPr sz="1200" dirty="0">
                <a:solidFill>
                  <a:srgbClr val="000000"/>
                </a:solidFill>
                <a:latin typeface="Calibri"/>
              </a:rPr>
              <a:t> RAM</a:t>
            </a:r>
          </a:p>
          <a:p>
            <a:pPr>
              <a:spcBef>
                <a:spcPts val="300"/>
              </a:spcBef>
            </a:pPr>
            <a:r>
              <a:rPr sz="1200" dirty="0">
                <a:solidFill>
                  <a:srgbClr val="000000"/>
                </a:solidFill>
                <a:latin typeface="Calibri"/>
              </a:rPr>
              <a:t>• </a:t>
            </a:r>
            <a:r>
              <a:rPr sz="1200" dirty="0" err="1">
                <a:solidFill>
                  <a:srgbClr val="000000"/>
                </a:solidFill>
                <a:latin typeface="Calibri"/>
              </a:rPr>
              <a:t>Acceso</a:t>
            </a:r>
            <a:r>
              <a:rPr sz="1200" dirty="0">
                <a:solidFill>
                  <a:srgbClr val="000000"/>
                </a:solidFill>
                <a:latin typeface="Calibri"/>
              </a:rPr>
              <a:t> row-major = </a:t>
            </a:r>
            <a:r>
              <a:rPr sz="1200" dirty="0" err="1">
                <a:solidFill>
                  <a:srgbClr val="000000"/>
                </a:solidFill>
                <a:latin typeface="Calibri"/>
              </a:rPr>
              <a:t>orden</a:t>
            </a:r>
            <a:r>
              <a:rPr sz="1200" dirty="0">
                <a:solidFill>
                  <a:srgbClr val="000000"/>
                </a:solidFill>
                <a:latin typeface="Calibri"/>
              </a:rPr>
              <a:t> </a:t>
            </a:r>
            <a:r>
              <a:rPr sz="1200" dirty="0" err="1">
                <a:solidFill>
                  <a:srgbClr val="000000"/>
                </a:solidFill>
                <a:latin typeface="Calibri"/>
              </a:rPr>
              <a:t>físico</a:t>
            </a:r>
            <a:r>
              <a:rPr sz="1200" dirty="0">
                <a:solidFill>
                  <a:srgbClr val="000000"/>
                </a:solidFill>
                <a:latin typeface="Calibri"/>
              </a:rPr>
              <a:t> </a:t>
            </a:r>
            <a:r>
              <a:rPr sz="1200" dirty="0" err="1">
                <a:solidFill>
                  <a:srgbClr val="000000"/>
                </a:solidFill>
                <a:latin typeface="Calibri"/>
              </a:rPr>
              <a:t>en</a:t>
            </a:r>
            <a:r>
              <a:rPr sz="1200" dirty="0">
                <a:solidFill>
                  <a:srgbClr val="000000"/>
                </a:solidFill>
                <a:latin typeface="Calibri"/>
              </a:rPr>
              <a:t> memoria → hit de </a:t>
            </a:r>
            <a:r>
              <a:rPr sz="1200" dirty="0" err="1">
                <a:solidFill>
                  <a:srgbClr val="000000"/>
                </a:solidFill>
                <a:latin typeface="Calibri"/>
              </a:rPr>
              <a:t>caché</a:t>
            </a:r>
            <a:r>
              <a:rPr sz="1200" dirty="0">
                <a:solidFill>
                  <a:srgbClr val="000000"/>
                </a:solidFill>
                <a:latin typeface="Calibri"/>
              </a:rPr>
              <a:t> </a:t>
            </a:r>
            <a:r>
              <a:rPr sz="1200" dirty="0" err="1">
                <a:solidFill>
                  <a:srgbClr val="000000"/>
                </a:solidFill>
                <a:latin typeface="Calibri"/>
              </a:rPr>
              <a:t>máximo</a:t>
            </a:r>
            <a:endParaRPr sz="1200" dirty="0">
              <a:solidFill>
                <a:srgbClr val="000000"/>
              </a:solidFill>
              <a:latin typeface="Calibri"/>
            </a:endParaRPr>
          </a:p>
          <a:p>
            <a:pPr>
              <a:spcBef>
                <a:spcPts val="300"/>
              </a:spcBef>
            </a:pPr>
            <a:r>
              <a:rPr sz="1200" dirty="0">
                <a:solidFill>
                  <a:srgbClr val="000000"/>
                </a:solidFill>
                <a:latin typeface="Calibri"/>
              </a:rPr>
              <a:t>• </a:t>
            </a:r>
            <a:r>
              <a:rPr sz="1200" dirty="0" err="1">
                <a:solidFill>
                  <a:srgbClr val="000000"/>
                </a:solidFill>
                <a:latin typeface="Calibri"/>
              </a:rPr>
              <a:t>Precálculo</a:t>
            </a:r>
            <a:r>
              <a:rPr sz="1200" dirty="0">
                <a:solidFill>
                  <a:srgbClr val="000000"/>
                </a:solidFill>
                <a:latin typeface="Calibri"/>
              </a:rPr>
              <a:t> de </a:t>
            </a:r>
            <a:r>
              <a:rPr sz="1200" dirty="0" err="1">
                <a:solidFill>
                  <a:srgbClr val="000000"/>
                </a:solidFill>
                <a:latin typeface="Calibri"/>
              </a:rPr>
              <a:t>filaActual</a:t>
            </a:r>
            <a:r>
              <a:rPr sz="1200" dirty="0">
                <a:solidFill>
                  <a:srgbClr val="000000"/>
                </a:solidFill>
                <a:latin typeface="Calibri"/>
              </a:rPr>
              <a:t>*N: cero </a:t>
            </a:r>
            <a:r>
              <a:rPr sz="1200" dirty="0" err="1">
                <a:solidFill>
                  <a:srgbClr val="000000"/>
                </a:solidFill>
                <a:latin typeface="Calibri"/>
              </a:rPr>
              <a:t>multiplicaciones</a:t>
            </a:r>
            <a:r>
              <a:rPr sz="1200" dirty="0">
                <a:solidFill>
                  <a:srgbClr val="000000"/>
                </a:solidFill>
                <a:latin typeface="Calibri"/>
              </a:rPr>
              <a:t> </a:t>
            </a:r>
            <a:r>
              <a:rPr sz="1200" dirty="0" err="1">
                <a:solidFill>
                  <a:srgbClr val="000000"/>
                </a:solidFill>
                <a:latin typeface="Calibri"/>
              </a:rPr>
              <a:t>en</a:t>
            </a:r>
            <a:r>
              <a:rPr sz="1200" dirty="0">
                <a:solidFill>
                  <a:srgbClr val="000000"/>
                </a:solidFill>
                <a:latin typeface="Calibri"/>
              </a:rPr>
              <a:t> </a:t>
            </a:r>
            <a:r>
              <a:rPr sz="1200" dirty="0" err="1">
                <a:solidFill>
                  <a:srgbClr val="000000"/>
                </a:solidFill>
                <a:latin typeface="Calibri"/>
              </a:rPr>
              <a:t>el</a:t>
            </a:r>
            <a:r>
              <a:rPr sz="1200" dirty="0">
                <a:solidFill>
                  <a:srgbClr val="000000"/>
                </a:solidFill>
                <a:latin typeface="Calibri"/>
              </a:rPr>
              <a:t> </a:t>
            </a:r>
            <a:r>
              <a:rPr sz="1200" dirty="0" err="1">
                <a:solidFill>
                  <a:srgbClr val="000000"/>
                </a:solidFill>
                <a:latin typeface="Calibri"/>
              </a:rPr>
              <a:t>bucle</a:t>
            </a:r>
            <a:r>
              <a:rPr sz="1200" dirty="0">
                <a:solidFill>
                  <a:srgbClr val="000000"/>
                </a:solidFill>
                <a:latin typeface="Calibri"/>
              </a:rPr>
              <a:t> j</a:t>
            </a:r>
          </a:p>
          <a:p>
            <a:pPr>
              <a:spcBef>
                <a:spcPts val="300"/>
              </a:spcBef>
            </a:pPr>
            <a:r>
              <a:rPr sz="1200" dirty="0">
                <a:solidFill>
                  <a:srgbClr val="000000"/>
                </a:solidFill>
                <a:latin typeface="Calibri"/>
              </a:rPr>
              <a:t>• El ILP </a:t>
            </a:r>
            <a:r>
              <a:rPr sz="1200" dirty="0" err="1">
                <a:solidFill>
                  <a:srgbClr val="000000"/>
                </a:solidFill>
                <a:latin typeface="Calibri"/>
              </a:rPr>
              <a:t>detectado</a:t>
            </a:r>
            <a:r>
              <a:rPr sz="1200" dirty="0">
                <a:solidFill>
                  <a:srgbClr val="000000"/>
                </a:solidFill>
                <a:latin typeface="Calibri"/>
              </a:rPr>
              <a:t> </a:t>
            </a:r>
            <a:r>
              <a:rPr sz="1200" dirty="0" err="1">
                <a:solidFill>
                  <a:srgbClr val="000000"/>
                </a:solidFill>
                <a:latin typeface="Calibri"/>
              </a:rPr>
              <a:t>en</a:t>
            </a:r>
            <a:r>
              <a:rPr sz="1200" dirty="0">
                <a:solidFill>
                  <a:srgbClr val="000000"/>
                </a:solidFill>
                <a:latin typeface="Calibri"/>
              </a:rPr>
              <a:t> la </a:t>
            </a:r>
            <a:r>
              <a:rPr sz="1200" dirty="0" err="1">
                <a:solidFill>
                  <a:srgbClr val="000000"/>
                </a:solidFill>
                <a:latin typeface="Calibri"/>
              </a:rPr>
              <a:t>diapositiva</a:t>
            </a:r>
            <a:r>
              <a:rPr sz="1200" dirty="0">
                <a:solidFill>
                  <a:srgbClr val="000000"/>
                </a:solidFill>
                <a:latin typeface="Calibri"/>
              </a:rPr>
              <a:t> anterior se </a:t>
            </a:r>
            <a:r>
              <a:rPr sz="1200" dirty="0" err="1">
                <a:solidFill>
                  <a:srgbClr val="000000"/>
                </a:solidFill>
                <a:latin typeface="Calibri"/>
              </a:rPr>
              <a:t>maximiza</a:t>
            </a:r>
            <a:r>
              <a:rPr sz="1200" dirty="0">
                <a:solidFill>
                  <a:srgbClr val="000000"/>
                </a:solidFill>
                <a:latin typeface="Calibri"/>
              </a:rPr>
              <a:t> </a:t>
            </a:r>
            <a:r>
              <a:rPr sz="1200" dirty="0" err="1">
                <a:solidFill>
                  <a:srgbClr val="000000"/>
                </a:solidFill>
                <a:latin typeface="Calibri"/>
              </a:rPr>
              <a:t>aquí</a:t>
            </a:r>
            <a:endParaRPr sz="1200" dirty="0">
              <a:solidFill>
                <a:srgbClr val="000000"/>
              </a:solidFill>
              <a:latin typeface="Calibri"/>
            </a:endParaRPr>
          </a:p>
        </p:txBody>
      </p:sp>
      <p:sp>
        <p:nvSpPr>
          <p:cNvPr id="16" name="Rectangle 15"/>
          <p:cNvSpPr/>
          <p:nvPr/>
        </p:nvSpPr>
        <p:spPr>
          <a:xfrm>
            <a:off x="6126480" y="4169663"/>
            <a:ext cx="5669280" cy="566928"/>
          </a:xfrm>
          <a:prstGeom prst="rect">
            <a:avLst/>
          </a:prstGeom>
          <a:solidFill>
            <a:srgbClr val="1F3564"/>
          </a:solidFill>
          <a:ln w="12700">
            <a:solidFill>
              <a:srgbClr val="70B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63640" y="4224527"/>
            <a:ext cx="5394960" cy="457200"/>
          </a:xfrm>
          <a:prstGeom prst="rect">
            <a:avLst/>
          </a:prstGeom>
          <a:noFill/>
        </p:spPr>
        <p:txBody>
          <a:bodyPr wrap="square">
            <a:spAutoFit/>
          </a:bodyPr>
          <a:lstStyle/>
          <a:p>
            <a:pPr algn="ctr"/>
            <a:r>
              <a:rPr sz="1200" b="0" i="0" dirty="0">
                <a:solidFill>
                  <a:srgbClr val="FFFFFF"/>
                </a:solidFill>
                <a:latin typeface="Calibri"/>
              </a:rPr>
              <a:t>1.927 s  →  1.560 s  ·  Speedup: 1.24×
Base </a:t>
            </a:r>
            <a:r>
              <a:rPr sz="1200" b="0" i="0" dirty="0" err="1">
                <a:solidFill>
                  <a:srgbClr val="FFFFFF"/>
                </a:solidFill>
                <a:latin typeface="Calibri"/>
              </a:rPr>
              <a:t>imprescindible</a:t>
            </a:r>
            <a:r>
              <a:rPr sz="1200" b="0" i="0" dirty="0">
                <a:solidFill>
                  <a:srgbClr val="FFFFFF"/>
                </a:solidFill>
                <a:latin typeface="Calibri"/>
              </a:rPr>
              <a:t> de </a:t>
            </a:r>
            <a:r>
              <a:rPr sz="1200" b="0" i="0" dirty="0" err="1">
                <a:solidFill>
                  <a:srgbClr val="FFFFFF"/>
                </a:solidFill>
                <a:latin typeface="Calibri"/>
              </a:rPr>
              <a:t>localidad</a:t>
            </a:r>
            <a:r>
              <a:rPr sz="1200" b="0" i="0" dirty="0">
                <a:solidFill>
                  <a:srgbClr val="FFFFFF"/>
                </a:solidFill>
                <a:latin typeface="Calibri"/>
              </a:rPr>
              <a:t> de </a:t>
            </a:r>
            <a:r>
              <a:rPr sz="1200" b="0" i="0" dirty="0" err="1">
                <a:solidFill>
                  <a:srgbClr val="FFFFFF"/>
                </a:solidFill>
                <a:latin typeface="Calibri"/>
              </a:rPr>
              <a:t>caché</a:t>
            </a:r>
            <a:r>
              <a:rPr sz="1200" b="0" i="0" dirty="0">
                <a:solidFill>
                  <a:srgbClr val="FFFFFF"/>
                </a:solidFill>
                <a:latin typeface="Calibri"/>
              </a:rPr>
              <a:t> para V3–V6</a:t>
            </a:r>
          </a:p>
        </p:txBody>
      </p:sp>
      <p:sp>
        <p:nvSpPr>
          <p:cNvPr id="18" name="Rectangle 17"/>
          <p:cNvSpPr/>
          <p:nvPr/>
        </p:nvSpPr>
        <p:spPr>
          <a:xfrm>
            <a:off x="365760" y="5084064"/>
            <a:ext cx="5577840" cy="219456"/>
          </a:xfrm>
          <a:prstGeom prst="rect">
            <a:avLst/>
          </a:prstGeom>
          <a:solidFill>
            <a:srgbClr val="008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5039903"/>
            <a:ext cx="5394960" cy="307777"/>
          </a:xfrm>
          <a:prstGeom prst="rect">
            <a:avLst/>
          </a:prstGeom>
          <a:noFill/>
        </p:spPr>
        <p:txBody>
          <a:bodyPr wrap="square">
            <a:spAutoFit/>
          </a:bodyPr>
          <a:lstStyle/>
          <a:p>
            <a:pPr algn="l"/>
            <a:r>
              <a:rPr sz="1400" b="1" i="0" dirty="0">
                <a:solidFill>
                  <a:srgbClr val="FFFFFF"/>
                </a:solidFill>
                <a:latin typeface="Calibri"/>
              </a:rPr>
              <a:t>✔  </a:t>
            </a:r>
            <a:r>
              <a:rPr sz="1400" b="1" i="0" dirty="0" err="1">
                <a:solidFill>
                  <a:srgbClr val="FFFFFF"/>
                </a:solidFill>
                <a:latin typeface="Calibri"/>
              </a:rPr>
              <a:t>Ventajas</a:t>
            </a:r>
            <a:r>
              <a:rPr sz="1400" b="1" i="0" dirty="0">
                <a:solidFill>
                  <a:srgbClr val="FFFFFF"/>
                </a:solidFill>
                <a:latin typeface="Calibri"/>
              </a:rPr>
              <a:t> clave de V2</a:t>
            </a:r>
          </a:p>
        </p:txBody>
      </p:sp>
      <p:sp>
        <p:nvSpPr>
          <p:cNvPr id="20" name="TextBox 19"/>
          <p:cNvSpPr txBox="1"/>
          <p:nvPr/>
        </p:nvSpPr>
        <p:spPr>
          <a:xfrm>
            <a:off x="365760" y="5321808"/>
            <a:ext cx="5577840" cy="723275"/>
          </a:xfrm>
          <a:prstGeom prst="rect">
            <a:avLst/>
          </a:prstGeom>
          <a:noFill/>
        </p:spPr>
        <p:txBody>
          <a:bodyPr wrap="square">
            <a:spAutoFit/>
          </a:bodyPr>
          <a:lstStyle/>
          <a:p>
            <a:pPr>
              <a:spcBef>
                <a:spcPts val="300"/>
              </a:spcBef>
            </a:pPr>
            <a:r>
              <a:t>• RAII con std::vector: gestión automática de memoria</a:t>
            </a:r>
          </a:p>
          <a:p>
            <a:pPr>
              <a:spcBef>
                <a:spcPts val="300"/>
              </a:spcBef>
            </a:pPr>
            <a:r>
              <a:rPr sz="1200" dirty="0">
                <a:solidFill>
                  <a:srgbClr val="000000"/>
                </a:solidFill>
                <a:latin typeface="Calibri"/>
              </a:rPr>
              <a:t>• std::fill </a:t>
            </a:r>
            <a:r>
              <a:rPr sz="1200" dirty="0" err="1">
                <a:solidFill>
                  <a:srgbClr val="000000"/>
                </a:solidFill>
                <a:latin typeface="Calibri"/>
              </a:rPr>
              <a:t>inicializa</a:t>
            </a:r>
            <a:r>
              <a:rPr sz="1200" dirty="0">
                <a:solidFill>
                  <a:srgbClr val="000000"/>
                </a:solidFill>
                <a:latin typeface="Calibri"/>
              </a:rPr>
              <a:t> </a:t>
            </a:r>
            <a:r>
              <a:rPr sz="1200" dirty="0" err="1">
                <a:solidFill>
                  <a:srgbClr val="000000"/>
                </a:solidFill>
                <a:latin typeface="Calibri"/>
              </a:rPr>
              <a:t>toda</a:t>
            </a:r>
            <a:r>
              <a:rPr sz="1200" dirty="0">
                <a:solidFill>
                  <a:srgbClr val="000000"/>
                </a:solidFill>
                <a:latin typeface="Calibri"/>
              </a:rPr>
              <a:t> la </a:t>
            </a:r>
            <a:r>
              <a:rPr sz="1200" dirty="0" err="1">
                <a:solidFill>
                  <a:srgbClr val="000000"/>
                </a:solidFill>
                <a:latin typeface="Calibri"/>
              </a:rPr>
              <a:t>matriz</a:t>
            </a:r>
            <a:r>
              <a:rPr sz="1200" dirty="0">
                <a:solidFill>
                  <a:srgbClr val="000000"/>
                </a:solidFill>
                <a:latin typeface="Calibri"/>
              </a:rPr>
              <a:t> </a:t>
            </a:r>
            <a:r>
              <a:rPr sz="1200" dirty="0" err="1">
                <a:solidFill>
                  <a:srgbClr val="000000"/>
                </a:solidFill>
                <a:latin typeface="Calibri"/>
              </a:rPr>
              <a:t>en</a:t>
            </a:r>
            <a:r>
              <a:rPr sz="1200" dirty="0">
                <a:solidFill>
                  <a:srgbClr val="000000"/>
                </a:solidFill>
                <a:latin typeface="Calibri"/>
              </a:rPr>
              <a:t> un </a:t>
            </a:r>
            <a:r>
              <a:rPr sz="1200" dirty="0" err="1">
                <a:solidFill>
                  <a:srgbClr val="000000"/>
                </a:solidFill>
                <a:latin typeface="Calibri"/>
              </a:rPr>
              <a:t>único</a:t>
            </a:r>
            <a:r>
              <a:rPr sz="1200" dirty="0">
                <a:solidFill>
                  <a:srgbClr val="000000"/>
                </a:solidFill>
                <a:latin typeface="Calibri"/>
              </a:rPr>
              <a:t> </a:t>
            </a:r>
            <a:r>
              <a:rPr sz="1200" dirty="0" err="1">
                <a:solidFill>
                  <a:srgbClr val="000000"/>
                </a:solidFill>
                <a:latin typeface="Calibri"/>
              </a:rPr>
              <a:t>pase</a:t>
            </a:r>
            <a:r>
              <a:rPr sz="1200" dirty="0">
                <a:solidFill>
                  <a:srgbClr val="000000"/>
                </a:solidFill>
                <a:latin typeface="Calibri"/>
              </a:rPr>
              <a:t> </a:t>
            </a:r>
            <a:r>
              <a:rPr sz="1200" dirty="0" err="1">
                <a:solidFill>
                  <a:srgbClr val="000000"/>
                </a:solidFill>
                <a:latin typeface="Calibri"/>
              </a:rPr>
              <a:t>contiguo</a:t>
            </a:r>
            <a:endParaRPr sz="1200" dirty="0">
              <a:solidFill>
                <a:srgbClr val="000000"/>
              </a:solidFill>
              <a:latin typeface="Calibri"/>
            </a:endParaRPr>
          </a:p>
          <a:p>
            <a:pPr>
              <a:spcBef>
                <a:spcPts val="300"/>
              </a:spcBef>
            </a:pPr>
            <a:r>
              <a:rPr sz="1200" dirty="0">
                <a:solidFill>
                  <a:srgbClr val="000000"/>
                </a:solidFill>
                <a:latin typeface="Calibri"/>
              </a:rPr>
              <a:t>• La </a:t>
            </a:r>
            <a:r>
              <a:rPr sz="1200" dirty="0" err="1">
                <a:solidFill>
                  <a:srgbClr val="000000"/>
                </a:solidFill>
                <a:latin typeface="Calibri"/>
              </a:rPr>
              <a:t>mejora</a:t>
            </a:r>
            <a:r>
              <a:rPr sz="1200" dirty="0">
                <a:solidFill>
                  <a:srgbClr val="000000"/>
                </a:solidFill>
                <a:latin typeface="Calibri"/>
              </a:rPr>
              <a:t> de </a:t>
            </a:r>
            <a:r>
              <a:rPr sz="1200" dirty="0" err="1">
                <a:solidFill>
                  <a:srgbClr val="000000"/>
                </a:solidFill>
                <a:latin typeface="Calibri"/>
              </a:rPr>
              <a:t>localidad</a:t>
            </a:r>
            <a:r>
              <a:rPr sz="1200" dirty="0">
                <a:solidFill>
                  <a:srgbClr val="000000"/>
                </a:solidFill>
                <a:latin typeface="Calibri"/>
              </a:rPr>
              <a:t> beneficia </a:t>
            </a:r>
            <a:r>
              <a:rPr sz="1200" dirty="0" err="1">
                <a:solidFill>
                  <a:srgbClr val="000000"/>
                </a:solidFill>
                <a:latin typeface="Calibri"/>
              </a:rPr>
              <a:t>igual</a:t>
            </a:r>
            <a:r>
              <a:rPr sz="1200" dirty="0">
                <a:solidFill>
                  <a:srgbClr val="000000"/>
                </a:solidFill>
                <a:latin typeface="Calibri"/>
              </a:rPr>
              <a:t> a OpenMP, MPI y CUDA </a:t>
            </a:r>
            <a:r>
              <a:rPr sz="1200" dirty="0" err="1">
                <a:solidFill>
                  <a:srgbClr val="000000"/>
                </a:solidFill>
                <a:latin typeface="Calibri"/>
              </a:rPr>
              <a:t>en</a:t>
            </a:r>
            <a:r>
              <a:rPr sz="1200" dirty="0">
                <a:solidFill>
                  <a:srgbClr val="000000"/>
                </a:solidFill>
                <a:latin typeface="Calibri"/>
              </a:rPr>
              <a:t> </a:t>
            </a:r>
            <a:r>
              <a:rPr sz="1200" dirty="0" err="1">
                <a:solidFill>
                  <a:srgbClr val="000000"/>
                </a:solidFill>
                <a:latin typeface="Calibri"/>
              </a:rPr>
              <a:t>su</a:t>
            </a:r>
            <a:r>
              <a:rPr sz="1200" dirty="0">
                <a:solidFill>
                  <a:srgbClr val="000000"/>
                </a:solidFill>
                <a:latin typeface="Calibri"/>
              </a:rPr>
              <a:t> </a:t>
            </a:r>
            <a:r>
              <a:rPr sz="1200" dirty="0" err="1">
                <a:solidFill>
                  <a:srgbClr val="000000"/>
                </a:solidFill>
                <a:latin typeface="Calibri"/>
              </a:rPr>
              <a:t>bucle</a:t>
            </a:r>
            <a:r>
              <a:rPr sz="1200" dirty="0">
                <a:solidFill>
                  <a:srgbClr val="000000"/>
                </a:solidFill>
                <a:latin typeface="Calibri"/>
              </a:rPr>
              <a:t> </a:t>
            </a:r>
            <a:r>
              <a:rPr sz="1200" dirty="0" err="1">
                <a:solidFill>
                  <a:srgbClr val="000000"/>
                </a:solidFill>
                <a:latin typeface="Calibri"/>
              </a:rPr>
              <a:t>interno</a:t>
            </a:r>
            <a:endParaRPr sz="1200" dirty="0">
              <a:solidFill>
                <a:srgbClr val="000000"/>
              </a:solidFill>
              <a:latin typeface="Calibri"/>
            </a:endParaRPr>
          </a:p>
        </p:txBody>
      </p:sp>
      <p:sp>
        <p:nvSpPr>
          <p:cNvPr id="21" name="Rectangle 20"/>
          <p:cNvSpPr/>
          <p:nvPr/>
        </p:nvSpPr>
        <p:spPr>
          <a:xfrm>
            <a:off x="6126480" y="5084064"/>
            <a:ext cx="5669280" cy="219456"/>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45226" y="5039902"/>
            <a:ext cx="5486400" cy="307777"/>
          </a:xfrm>
          <a:prstGeom prst="rect">
            <a:avLst/>
          </a:prstGeom>
          <a:noFill/>
        </p:spPr>
        <p:txBody>
          <a:bodyPr wrap="square">
            <a:spAutoFit/>
          </a:bodyPr>
          <a:lstStyle/>
          <a:p>
            <a:pPr algn="l"/>
            <a:r>
              <a:rPr sz="1400" b="1" i="0" dirty="0">
                <a:solidFill>
                  <a:srgbClr val="FFFFFF"/>
                </a:solidFill>
                <a:latin typeface="Calibri"/>
              </a:rPr>
              <a:t>Impacto </a:t>
            </a:r>
            <a:r>
              <a:rPr sz="1400" b="1" i="0" dirty="0" err="1">
                <a:solidFill>
                  <a:srgbClr val="FFFFFF"/>
                </a:solidFill>
                <a:latin typeface="Calibri"/>
              </a:rPr>
              <a:t>en</a:t>
            </a:r>
            <a:r>
              <a:rPr sz="1400" b="1" i="0" dirty="0">
                <a:solidFill>
                  <a:srgbClr val="FFFFFF"/>
                </a:solidFill>
                <a:latin typeface="Calibri"/>
              </a:rPr>
              <a:t> </a:t>
            </a:r>
            <a:r>
              <a:rPr sz="1400" b="1" i="0" dirty="0" err="1">
                <a:solidFill>
                  <a:srgbClr val="FFFFFF"/>
                </a:solidFill>
                <a:latin typeface="Calibri"/>
              </a:rPr>
              <a:t>el</a:t>
            </a:r>
            <a:r>
              <a:rPr sz="1400" b="1" i="0" dirty="0">
                <a:solidFill>
                  <a:srgbClr val="FFFFFF"/>
                </a:solidFill>
                <a:latin typeface="Calibri"/>
              </a:rPr>
              <a:t> </a:t>
            </a:r>
            <a:r>
              <a:rPr sz="1400" b="1" i="0" dirty="0" err="1">
                <a:solidFill>
                  <a:srgbClr val="FFFFFF"/>
                </a:solidFill>
                <a:latin typeface="Calibri"/>
              </a:rPr>
              <a:t>modelo</a:t>
            </a:r>
            <a:r>
              <a:rPr sz="1400" b="1" i="0" dirty="0">
                <a:solidFill>
                  <a:srgbClr val="FFFFFF"/>
                </a:solidFill>
                <a:latin typeface="Calibri"/>
              </a:rPr>
              <a:t> del </a:t>
            </a:r>
            <a:r>
              <a:rPr sz="1400" b="1" i="0" dirty="0" err="1">
                <a:solidFill>
                  <a:srgbClr val="FFFFFF"/>
                </a:solidFill>
                <a:latin typeface="Calibri"/>
              </a:rPr>
              <a:t>tejado</a:t>
            </a:r>
            <a:endParaRPr sz="1400" b="1" i="0" dirty="0">
              <a:solidFill>
                <a:srgbClr val="FFFFFF"/>
              </a:solidFill>
              <a:latin typeface="Calibri"/>
            </a:endParaRPr>
          </a:p>
        </p:txBody>
      </p:sp>
      <p:sp>
        <p:nvSpPr>
          <p:cNvPr id="23" name="TextBox 22"/>
          <p:cNvSpPr txBox="1"/>
          <p:nvPr/>
        </p:nvSpPr>
        <p:spPr>
          <a:xfrm>
            <a:off x="6126480" y="5321808"/>
            <a:ext cx="5669280" cy="723275"/>
          </a:xfrm>
          <a:prstGeom prst="rect">
            <a:avLst/>
          </a:prstGeom>
          <a:noFill/>
        </p:spPr>
        <p:txBody>
          <a:bodyPr wrap="square">
            <a:spAutoFit/>
          </a:bodyPr>
          <a:lstStyle/>
          <a:p>
            <a:pPr>
              <a:spcBef>
                <a:spcPts val="300"/>
              </a:spcBef>
            </a:pPr>
            <a:r>
              <a:rPr sz="1200" dirty="0">
                <a:solidFill>
                  <a:srgbClr val="000000"/>
                </a:solidFill>
                <a:latin typeface="Calibri"/>
              </a:rPr>
              <a:t>• IA ≈ 0.25 ops/byte: </a:t>
            </a:r>
            <a:r>
              <a:rPr sz="1200" dirty="0" err="1">
                <a:solidFill>
                  <a:srgbClr val="000000"/>
                </a:solidFill>
                <a:latin typeface="Calibri"/>
              </a:rPr>
              <a:t>problema</a:t>
            </a:r>
            <a:r>
              <a:rPr sz="1200" dirty="0">
                <a:solidFill>
                  <a:srgbClr val="000000"/>
                </a:solidFill>
                <a:latin typeface="Calibri"/>
              </a:rPr>
              <a:t> bound </a:t>
            </a:r>
            <a:r>
              <a:rPr sz="1200" dirty="0" err="1">
                <a:solidFill>
                  <a:srgbClr val="000000"/>
                </a:solidFill>
                <a:latin typeface="Calibri"/>
              </a:rPr>
              <a:t>por</a:t>
            </a:r>
            <a:r>
              <a:rPr sz="1200" dirty="0">
                <a:solidFill>
                  <a:srgbClr val="000000"/>
                </a:solidFill>
                <a:latin typeface="Calibri"/>
              </a:rPr>
              <a:t> ancho de </a:t>
            </a:r>
            <a:r>
              <a:rPr sz="1200" dirty="0" err="1">
                <a:solidFill>
                  <a:srgbClr val="000000"/>
                </a:solidFill>
                <a:latin typeface="Calibri"/>
              </a:rPr>
              <a:t>banda</a:t>
            </a:r>
            <a:r>
              <a:rPr sz="1200" dirty="0">
                <a:solidFill>
                  <a:srgbClr val="000000"/>
                </a:solidFill>
                <a:latin typeface="Calibri"/>
              </a:rPr>
              <a:t> de memoria</a:t>
            </a:r>
          </a:p>
          <a:p>
            <a:pPr>
              <a:spcBef>
                <a:spcPts val="300"/>
              </a:spcBef>
            </a:pPr>
            <a:r>
              <a:rPr sz="1200" dirty="0">
                <a:solidFill>
                  <a:srgbClr val="000000"/>
                </a:solidFill>
                <a:latin typeface="Calibri"/>
              </a:rPr>
              <a:t>• V2 reduce </a:t>
            </a:r>
            <a:r>
              <a:rPr sz="1200" dirty="0" err="1">
                <a:solidFill>
                  <a:srgbClr val="000000"/>
                </a:solidFill>
                <a:latin typeface="Calibri"/>
              </a:rPr>
              <a:t>fallos</a:t>
            </a:r>
            <a:r>
              <a:rPr sz="1200" dirty="0">
                <a:solidFill>
                  <a:srgbClr val="000000"/>
                </a:solidFill>
                <a:latin typeface="Calibri"/>
              </a:rPr>
              <a:t> de </a:t>
            </a:r>
            <a:r>
              <a:rPr sz="1200" dirty="0" err="1">
                <a:solidFill>
                  <a:srgbClr val="000000"/>
                </a:solidFill>
                <a:latin typeface="Calibri"/>
              </a:rPr>
              <a:t>caché</a:t>
            </a:r>
            <a:r>
              <a:rPr sz="1200" dirty="0">
                <a:solidFill>
                  <a:srgbClr val="000000"/>
                </a:solidFill>
                <a:latin typeface="Calibri"/>
              </a:rPr>
              <a:t> → </a:t>
            </a:r>
            <a:r>
              <a:rPr sz="1200" dirty="0" err="1">
                <a:solidFill>
                  <a:srgbClr val="000000"/>
                </a:solidFill>
                <a:latin typeface="Calibri"/>
              </a:rPr>
              <a:t>sube</a:t>
            </a:r>
            <a:r>
              <a:rPr sz="1200" dirty="0">
                <a:solidFill>
                  <a:srgbClr val="000000"/>
                </a:solidFill>
                <a:latin typeface="Calibri"/>
              </a:rPr>
              <a:t> </a:t>
            </a:r>
            <a:r>
              <a:rPr sz="1200" dirty="0" err="1">
                <a:solidFill>
                  <a:srgbClr val="000000"/>
                </a:solidFill>
                <a:latin typeface="Calibri"/>
              </a:rPr>
              <a:t>el</a:t>
            </a:r>
            <a:r>
              <a:rPr sz="1200" dirty="0">
                <a:solidFill>
                  <a:srgbClr val="000000"/>
                </a:solidFill>
                <a:latin typeface="Calibri"/>
              </a:rPr>
              <a:t> '</a:t>
            </a:r>
            <a:r>
              <a:rPr sz="1200" dirty="0" err="1">
                <a:solidFill>
                  <a:srgbClr val="000000"/>
                </a:solidFill>
                <a:latin typeface="Calibri"/>
              </a:rPr>
              <a:t>techo</a:t>
            </a:r>
            <a:r>
              <a:rPr sz="1200" dirty="0">
                <a:solidFill>
                  <a:srgbClr val="000000"/>
                </a:solidFill>
                <a:latin typeface="Calibri"/>
              </a:rPr>
              <a:t>' de BW </a:t>
            </a:r>
            <a:r>
              <a:rPr sz="1200" dirty="0" err="1">
                <a:solidFill>
                  <a:srgbClr val="000000"/>
                </a:solidFill>
                <a:latin typeface="Calibri"/>
              </a:rPr>
              <a:t>efectivo</a:t>
            </a:r>
            <a:r>
              <a:rPr sz="1200" dirty="0">
                <a:solidFill>
                  <a:srgbClr val="000000"/>
                </a:solidFill>
                <a:latin typeface="Calibri"/>
              </a:rPr>
              <a:t> disponible</a:t>
            </a:r>
          </a:p>
          <a:p>
            <a:pPr>
              <a:spcBef>
                <a:spcPts val="300"/>
              </a:spcBef>
            </a:pPr>
            <a:r>
              <a:rPr sz="1200" dirty="0">
                <a:solidFill>
                  <a:srgbClr val="000000"/>
                </a:solidFill>
                <a:latin typeface="Calibri"/>
              </a:rPr>
              <a:t>• Sin V2 </a:t>
            </a:r>
            <a:r>
              <a:rPr sz="1200" dirty="0" err="1">
                <a:solidFill>
                  <a:srgbClr val="000000"/>
                </a:solidFill>
                <a:latin typeface="Calibri"/>
              </a:rPr>
              <a:t>como</a:t>
            </a:r>
            <a:r>
              <a:rPr sz="1200" dirty="0">
                <a:solidFill>
                  <a:srgbClr val="000000"/>
                </a:solidFill>
                <a:latin typeface="Calibri"/>
              </a:rPr>
              <a:t> base, las </a:t>
            </a:r>
            <a:r>
              <a:rPr sz="1200" dirty="0" err="1">
                <a:solidFill>
                  <a:srgbClr val="000000"/>
                </a:solidFill>
                <a:latin typeface="Calibri"/>
              </a:rPr>
              <a:t>versiones</a:t>
            </a:r>
            <a:r>
              <a:rPr sz="1200" dirty="0">
                <a:solidFill>
                  <a:srgbClr val="000000"/>
                </a:solidFill>
                <a:latin typeface="Calibri"/>
              </a:rPr>
              <a:t> </a:t>
            </a:r>
            <a:r>
              <a:rPr sz="1200" dirty="0" err="1">
                <a:solidFill>
                  <a:srgbClr val="000000"/>
                </a:solidFill>
                <a:latin typeface="Calibri"/>
              </a:rPr>
              <a:t>paralelas</a:t>
            </a:r>
            <a:r>
              <a:rPr sz="1200" dirty="0">
                <a:solidFill>
                  <a:srgbClr val="000000"/>
                </a:solidFill>
                <a:latin typeface="Calibri"/>
              </a:rPr>
              <a:t> </a:t>
            </a:r>
            <a:r>
              <a:rPr sz="1200" dirty="0" err="1">
                <a:solidFill>
                  <a:srgbClr val="000000"/>
                </a:solidFill>
                <a:latin typeface="Calibri"/>
              </a:rPr>
              <a:t>serían</a:t>
            </a:r>
            <a:r>
              <a:rPr sz="1200" dirty="0">
                <a:solidFill>
                  <a:srgbClr val="000000"/>
                </a:solidFill>
                <a:latin typeface="Calibri"/>
              </a:rPr>
              <a:t> ~20% </a:t>
            </a:r>
            <a:r>
              <a:rPr sz="1200" dirty="0" err="1">
                <a:solidFill>
                  <a:srgbClr val="000000"/>
                </a:solidFill>
                <a:latin typeface="Calibri"/>
              </a:rPr>
              <a:t>más</a:t>
            </a:r>
            <a:r>
              <a:rPr sz="1200" dirty="0">
                <a:solidFill>
                  <a:srgbClr val="000000"/>
                </a:solidFill>
                <a:latin typeface="Calibri"/>
              </a:rPr>
              <a:t> </a:t>
            </a:r>
            <a:r>
              <a:rPr sz="1200" dirty="0" err="1">
                <a:solidFill>
                  <a:srgbClr val="000000"/>
                </a:solidFill>
                <a:latin typeface="Calibri"/>
              </a:rPr>
              <a:t>lentas</a:t>
            </a:r>
            <a:endParaRPr sz="1200" dirty="0">
              <a:solidFill>
                <a:srgbClr val="000000"/>
              </a:solidFill>
              <a:latin typeface="Calibri"/>
            </a:endParaRPr>
          </a:p>
        </p:txBody>
      </p:sp>
      <p:sp>
        <p:nvSpPr>
          <p:cNvPr id="24" name="Rectangle 23">
            <a:hlinkClick r:id="rId3"/>
          </p:cNvPr>
          <p:cNvSpPr/>
          <p:nvPr/>
        </p:nvSpPr>
        <p:spPr>
          <a:xfrm>
            <a:off x="3305492" y="6281928"/>
            <a:ext cx="5577840" cy="292608"/>
          </a:xfrm>
          <a:prstGeom prst="rect">
            <a:avLst/>
          </a:prstGeom>
          <a:solidFill>
            <a:srgbClr val="2E74B5"/>
          </a:solidFill>
          <a:ln w="6350">
            <a:solidFill>
              <a:srgbClr val="1F3564"/>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dirty="0">
                <a:solidFill>
                  <a:srgbClr val="FFFFFF"/>
                </a:solidFill>
                <a:latin typeface="Calibri"/>
              </a:rPr>
              <a:t>Ver V2_memoria_contigua.cpp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7899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12880" cy="658368"/>
          </a:xfrm>
          <a:prstGeom prst="rect">
            <a:avLst/>
          </a:prstGeom>
          <a:noFill/>
        </p:spPr>
        <p:txBody>
          <a:bodyPr wrap="square">
            <a:spAutoFit/>
          </a:bodyPr>
          <a:lstStyle/>
          <a:p>
            <a:pPr algn="l"/>
            <a:r>
              <a:rPr sz="2600" b="1" i="0">
                <a:solidFill>
                  <a:srgbClr val="FFFFFF"/>
                </a:solidFill>
                <a:latin typeface="Calibri"/>
              </a:rPr>
              <a:t>V3 — OpenMP: Paralelismo de Hilos</a:t>
            </a:r>
          </a:p>
        </p:txBody>
      </p:sp>
      <p:sp>
        <p:nvSpPr>
          <p:cNvPr id="4" name="TextBox 3"/>
          <p:cNvSpPr txBox="1"/>
          <p:nvPr/>
        </p:nvSpPr>
        <p:spPr>
          <a:xfrm>
            <a:off x="274320" y="713232"/>
            <a:ext cx="11612880" cy="329184"/>
          </a:xfrm>
          <a:prstGeom prst="rect">
            <a:avLst/>
          </a:prstGeom>
          <a:noFill/>
        </p:spPr>
        <p:txBody>
          <a:bodyPr wrap="square">
            <a:spAutoFit/>
          </a:bodyPr>
          <a:lstStyle/>
          <a:p>
            <a:pPr algn="l"/>
            <a:r>
              <a:rPr sz="1200" b="0" i="0">
                <a:solidFill>
                  <a:srgbClr val="D6E4F7"/>
                </a:solidFill>
                <a:latin typeface="Calibri"/>
              </a:rPr>
              <a:t>Código C++ implementado vs. ensamblador generado por el compilador (-O2 -fopenmp)</a:t>
            </a:r>
          </a:p>
        </p:txBody>
      </p:sp>
      <p:sp>
        <p:nvSpPr>
          <p:cNvPr id="5" name="Rectangle 4"/>
          <p:cNvSpPr/>
          <p:nvPr/>
        </p:nvSpPr>
        <p:spPr>
          <a:xfrm>
            <a:off x="365760" y="1170432"/>
            <a:ext cx="5577840" cy="256032"/>
          </a:xfrm>
          <a:prstGeom prst="rect">
            <a:avLst/>
          </a:prstGeom>
          <a:solidFill>
            <a:srgbClr val="008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84505" y="1144559"/>
            <a:ext cx="5431536" cy="307777"/>
          </a:xfrm>
          <a:prstGeom prst="rect">
            <a:avLst/>
          </a:prstGeom>
          <a:noFill/>
        </p:spPr>
        <p:txBody>
          <a:bodyPr wrap="square">
            <a:spAutoFit/>
          </a:bodyPr>
          <a:lstStyle/>
          <a:p>
            <a:pPr algn="l"/>
            <a:r>
              <a:rPr sz="1400" b="1" i="0" dirty="0">
                <a:solidFill>
                  <a:srgbClr val="FFFFFF"/>
                </a:solidFill>
                <a:latin typeface="Calibri"/>
              </a:rPr>
              <a:t>✔  Código </a:t>
            </a:r>
            <a:r>
              <a:rPr sz="1400" b="1" i="0" dirty="0" err="1">
                <a:solidFill>
                  <a:srgbClr val="FFFFFF"/>
                </a:solidFill>
                <a:latin typeface="Calibri"/>
              </a:rPr>
              <a:t>Implementado</a:t>
            </a:r>
            <a:r>
              <a:rPr sz="1400" b="1" i="0" dirty="0">
                <a:solidFill>
                  <a:srgbClr val="FFFFFF"/>
                </a:solidFill>
                <a:latin typeface="Calibri"/>
              </a:rPr>
              <a:t> (C++)</a:t>
            </a:r>
          </a:p>
        </p:txBody>
      </p:sp>
      <p:sp>
        <p:nvSpPr>
          <p:cNvPr id="7" name="Rectangle 6"/>
          <p:cNvSpPr/>
          <p:nvPr/>
        </p:nvSpPr>
        <p:spPr>
          <a:xfrm>
            <a:off x="365760" y="1444752"/>
            <a:ext cx="5577840" cy="3886200"/>
          </a:xfrm>
          <a:prstGeom prst="rect">
            <a:avLst/>
          </a:prstGeom>
          <a:solidFill>
            <a:srgbClr val="1E1E2E"/>
          </a:solidFill>
          <a:ln w="9525">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517904"/>
            <a:ext cx="5394959" cy="3739896"/>
          </a:xfrm>
          <a:prstGeom prst="rect">
            <a:avLst/>
          </a:prstGeom>
          <a:noFill/>
        </p:spPr>
        <p:txBody>
          <a:bodyPr wrap="none">
            <a:spAutoFit/>
          </a:bodyPr>
          <a:lstStyle/>
          <a:p>
            <a:pPr>
              <a:spcBef>
                <a:spcPts val="0"/>
              </a:spcBef>
              <a:spcAft>
                <a:spcPts val="0"/>
              </a:spcAft>
            </a:pPr>
            <a:r>
              <a:rPr sz="930">
                <a:solidFill>
                  <a:srgbClr val="CBD2E0"/>
                </a:solidFill>
                <a:latin typeface="Consolas"/>
              </a:rPr>
              <a:t>// Configuración explícita de hilos: 1, 2, 4, 8</a:t>
            </a:r>
          </a:p>
          <a:p>
            <a:pPr>
              <a:spcBef>
                <a:spcPts val="0"/>
              </a:spcBef>
              <a:spcAft>
                <a:spcPts val="0"/>
              </a:spcAft>
            </a:pPr>
            <a:r>
              <a:rPr sz="930">
                <a:solidFill>
                  <a:srgbClr val="CBD2E0"/>
                </a:solidFill>
                <a:latin typeface="Consolas"/>
              </a:rPr>
              <a:t>omp_set_num_threads(numThreads);</a:t>
            </a:r>
          </a:p>
          <a:p>
            <a:pPr>
              <a:spcBef>
                <a:spcPts val="0"/>
              </a:spcBef>
              <a:spcAft>
                <a:spcPts val="0"/>
              </a:spcAft>
            </a:pPr>
            <a:endParaRPr sz="930">
              <a:solidFill>
                <a:srgbClr val="CBD2E0"/>
              </a:solidFill>
              <a:latin typeface="Consolas"/>
            </a:endParaRPr>
          </a:p>
          <a:p>
            <a:pPr>
              <a:spcBef>
                <a:spcPts val="0"/>
              </a:spcBef>
              <a:spcAft>
                <a:spcPts val="0"/>
              </a:spcAft>
            </a:pPr>
            <a:r>
              <a:rPr sz="930">
                <a:solidFill>
                  <a:srgbClr val="CBD2E0"/>
                </a:solidFill>
                <a:latin typeface="Consolas"/>
              </a:rPr>
              <a:t>// Paralelizar solo el bucle exterior (por filas)</a:t>
            </a:r>
          </a:p>
          <a:p>
            <a:pPr>
              <a:spcBef>
                <a:spcPts val="0"/>
              </a:spcBef>
              <a:spcAft>
                <a:spcPts val="0"/>
              </a:spcAft>
            </a:pPr>
            <a:r>
              <a:rPr sz="930">
                <a:solidFill>
                  <a:srgbClr val="CBD2E0"/>
                </a:solidFill>
                <a:latin typeface="Consolas"/>
              </a:rPr>
              <a:t>#pragma omp parallel for schedule(static)</a:t>
            </a:r>
          </a:p>
          <a:p>
            <a:pPr>
              <a:spcBef>
                <a:spcPts val="0"/>
              </a:spcBef>
              <a:spcAft>
                <a:spcPts val="0"/>
              </a:spcAft>
            </a:pPr>
            <a:r>
              <a:rPr sz="930">
                <a:solidFill>
                  <a:srgbClr val="CBD2E0"/>
                </a:solidFill>
                <a:latin typeface="Consolas"/>
              </a:rPr>
              <a:t>for (int i = 1; i &lt; N - 1; ++i) {</a:t>
            </a:r>
          </a:p>
          <a:p>
            <a:pPr>
              <a:spcBef>
                <a:spcPts val="0"/>
              </a:spcBef>
              <a:spcAft>
                <a:spcPts val="0"/>
              </a:spcAft>
            </a:pPr>
            <a:r>
              <a:rPr sz="930">
                <a:solidFill>
                  <a:srgbClr val="CBD2E0"/>
                </a:solidFill>
                <a:latin typeface="Consolas"/>
              </a:rPr>
              <a:t>    int filaAnterior  = (i - 1) * N;</a:t>
            </a:r>
          </a:p>
          <a:p>
            <a:pPr>
              <a:spcBef>
                <a:spcPts val="0"/>
              </a:spcBef>
              <a:spcAft>
                <a:spcPts val="0"/>
              </a:spcAft>
            </a:pPr>
            <a:r>
              <a:rPr sz="930">
                <a:solidFill>
                  <a:srgbClr val="CBD2E0"/>
                </a:solidFill>
                <a:latin typeface="Consolas"/>
              </a:rPr>
              <a:t>    int filaActual    = i * N;</a:t>
            </a:r>
          </a:p>
          <a:p>
            <a:pPr>
              <a:spcBef>
                <a:spcPts val="0"/>
              </a:spcBef>
              <a:spcAft>
                <a:spcPts val="0"/>
              </a:spcAft>
            </a:pPr>
            <a:r>
              <a:rPr sz="930">
                <a:solidFill>
                  <a:srgbClr val="CBD2E0"/>
                </a:solidFill>
                <a:latin typeface="Consolas"/>
              </a:rPr>
              <a:t>    int filaSiguiente = (i + 1) * N;</a:t>
            </a:r>
          </a:p>
          <a:p>
            <a:pPr>
              <a:spcBef>
                <a:spcPts val="0"/>
              </a:spcBef>
              <a:spcAft>
                <a:spcPts val="0"/>
              </a:spcAft>
            </a:pPr>
            <a:r>
              <a:rPr sz="930">
                <a:solidFill>
                  <a:srgbClr val="CBD2E0"/>
                </a:solidFill>
                <a:latin typeface="Consolas"/>
              </a:rPr>
              <a:t>    for (int j = 1; j &lt; N - 1; ++j) {</a:t>
            </a:r>
          </a:p>
          <a:p>
            <a:pPr>
              <a:spcBef>
                <a:spcPts val="0"/>
              </a:spcBef>
              <a:spcAft>
                <a:spcPts val="0"/>
              </a:spcAft>
            </a:pPr>
            <a:r>
              <a:rPr sz="930">
                <a:solidFill>
                  <a:srgbClr val="CBD2E0"/>
                </a:solidFill>
                <a:latin typeface="Consolas"/>
              </a:rPr>
              <a:t>        // Escribe en siguiente[filaActual+j]</a:t>
            </a:r>
          </a:p>
          <a:p>
            <a:pPr>
              <a:spcBef>
                <a:spcPts val="0"/>
              </a:spcBef>
              <a:spcAft>
                <a:spcPts val="0"/>
              </a:spcAft>
            </a:pPr>
            <a:r>
              <a:rPr sz="930">
                <a:solidFill>
                  <a:srgbClr val="CBD2E0"/>
                </a:solidFill>
                <a:latin typeface="Consolas"/>
              </a:rPr>
              <a:t>        // → distintas posiciones por hilo</a:t>
            </a:r>
          </a:p>
          <a:p>
            <a:pPr>
              <a:spcBef>
                <a:spcPts val="0"/>
              </a:spcBef>
              <a:spcAft>
                <a:spcPts val="0"/>
              </a:spcAft>
            </a:pPr>
            <a:r>
              <a:rPr sz="930">
                <a:solidFill>
                  <a:srgbClr val="CBD2E0"/>
                </a:solidFill>
                <a:latin typeface="Consolas"/>
              </a:rPr>
              <a:t>        // → sin condición de carrera</a:t>
            </a:r>
          </a:p>
          <a:p>
            <a:pPr>
              <a:spcBef>
                <a:spcPts val="0"/>
              </a:spcBef>
              <a:spcAft>
                <a:spcPts val="0"/>
              </a:spcAft>
            </a:pPr>
            <a:r>
              <a:rPr sz="930">
                <a:solidFill>
                  <a:srgbClr val="CBD2E0"/>
                </a:solidFill>
                <a:latin typeface="Consolas"/>
              </a:rPr>
              <a:t>    }</a:t>
            </a:r>
          </a:p>
          <a:p>
            <a:pPr>
              <a:spcBef>
                <a:spcPts val="0"/>
              </a:spcBef>
              <a:spcAft>
                <a:spcPts val="0"/>
              </a:spcAft>
            </a:pPr>
            <a:r>
              <a:rPr sz="930">
                <a:solidFill>
                  <a:srgbClr val="CBD2E0"/>
                </a:solidFill>
                <a:latin typeface="Consolas"/>
              </a:rPr>
              <a:t>}</a:t>
            </a:r>
          </a:p>
          <a:p>
            <a:pPr>
              <a:spcBef>
                <a:spcPts val="0"/>
              </a:spcBef>
              <a:spcAft>
                <a:spcPts val="0"/>
              </a:spcAft>
            </a:pPr>
            <a:endParaRPr sz="930">
              <a:solidFill>
                <a:srgbClr val="CBD2E0"/>
              </a:solidFill>
              <a:latin typeface="Consolas"/>
            </a:endParaRPr>
          </a:p>
          <a:p>
            <a:pPr>
              <a:spcBef>
                <a:spcPts val="0"/>
              </a:spcBef>
              <a:spcAft>
                <a:spcPts val="0"/>
              </a:spcAft>
            </a:pPr>
            <a:r>
              <a:rPr sz="930">
                <a:solidFill>
                  <a:srgbClr val="CBD2E0"/>
                </a:solidFill>
                <a:latin typeface="Consolas"/>
              </a:rPr>
              <a:t>// Conteo final también paralelo</a:t>
            </a:r>
          </a:p>
          <a:p>
            <a:pPr>
              <a:spcBef>
                <a:spcPts val="0"/>
              </a:spcBef>
              <a:spcAft>
                <a:spcPts val="0"/>
              </a:spcAft>
            </a:pPr>
            <a:r>
              <a:rPr sz="930">
                <a:solidFill>
                  <a:srgbClr val="CBD2E0"/>
                </a:solidFill>
                <a:latin typeface="Consolas"/>
              </a:rPr>
              <a:t>#pragma omp parallel for reduction(+:total)\</a:t>
            </a:r>
          </a:p>
          <a:p>
            <a:pPr>
              <a:spcBef>
                <a:spcPts val="0"/>
              </a:spcBef>
              <a:spcAft>
                <a:spcPts val="0"/>
              </a:spcAft>
            </a:pPr>
            <a:r>
              <a:rPr sz="930">
                <a:solidFill>
                  <a:srgbClr val="CBD2E0"/>
                </a:solidFill>
                <a:latin typeface="Consolas"/>
              </a:rPr>
              <a:t>        schedule(static)</a:t>
            </a:r>
          </a:p>
          <a:p>
            <a:pPr>
              <a:spcBef>
                <a:spcPts val="0"/>
              </a:spcBef>
              <a:spcAft>
                <a:spcPts val="0"/>
              </a:spcAft>
            </a:pPr>
            <a:r>
              <a:rPr sz="930">
                <a:solidFill>
                  <a:srgbClr val="CBD2E0"/>
                </a:solidFill>
                <a:latin typeface="Consolas"/>
              </a:rPr>
              <a:t>for (int i = 0; i &lt; N * N; ++i)</a:t>
            </a:r>
          </a:p>
          <a:p>
            <a:pPr>
              <a:spcBef>
                <a:spcPts val="0"/>
              </a:spcBef>
              <a:spcAft>
                <a:spcPts val="0"/>
              </a:spcAft>
            </a:pPr>
            <a:r>
              <a:rPr sz="930">
                <a:solidFill>
                  <a:srgbClr val="CBD2E0"/>
                </a:solidFill>
                <a:latin typeface="Consolas"/>
              </a:rPr>
              <a:t>    total += grid[i];</a:t>
            </a:r>
          </a:p>
        </p:txBody>
      </p:sp>
      <p:sp>
        <p:nvSpPr>
          <p:cNvPr id="9" name="Rectangle 8"/>
          <p:cNvSpPr/>
          <p:nvPr/>
        </p:nvSpPr>
        <p:spPr>
          <a:xfrm>
            <a:off x="6126480" y="1170432"/>
            <a:ext cx="5669280" cy="27432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7920" y="1144559"/>
            <a:ext cx="5486400" cy="307777"/>
          </a:xfrm>
          <a:prstGeom prst="rect">
            <a:avLst/>
          </a:prstGeom>
          <a:noFill/>
        </p:spPr>
        <p:txBody>
          <a:bodyPr wrap="square">
            <a:spAutoFit/>
          </a:bodyPr>
          <a:lstStyle/>
          <a:p>
            <a:pPr algn="l"/>
            <a:r>
              <a:rPr sz="1400" b="1" i="0" dirty="0" err="1">
                <a:solidFill>
                  <a:srgbClr val="FFFFFF"/>
                </a:solidFill>
                <a:latin typeface="Calibri"/>
              </a:rPr>
              <a:t>Distribución</a:t>
            </a:r>
            <a:r>
              <a:rPr sz="1400" b="1" i="0" dirty="0">
                <a:solidFill>
                  <a:srgbClr val="FFFFFF"/>
                </a:solidFill>
                <a:latin typeface="Calibri"/>
              </a:rPr>
              <a:t> del </a:t>
            </a:r>
            <a:r>
              <a:rPr sz="1400" b="1" i="0" dirty="0" err="1">
                <a:solidFill>
                  <a:srgbClr val="FFFFFF"/>
                </a:solidFill>
                <a:latin typeface="Calibri"/>
              </a:rPr>
              <a:t>trabajo</a:t>
            </a:r>
            <a:r>
              <a:rPr sz="1400" b="1" i="0" dirty="0">
                <a:solidFill>
                  <a:srgbClr val="FFFFFF"/>
                </a:solidFill>
                <a:latin typeface="Calibri"/>
              </a:rPr>
              <a:t> entre </a:t>
            </a:r>
            <a:r>
              <a:rPr sz="1400" b="1" i="0" dirty="0" err="1">
                <a:solidFill>
                  <a:srgbClr val="FFFFFF"/>
                </a:solidFill>
                <a:latin typeface="Calibri"/>
              </a:rPr>
              <a:t>hilos</a:t>
            </a:r>
            <a:endParaRPr sz="1400" b="1" i="0" dirty="0">
              <a:solidFill>
                <a:srgbClr val="FFFFFF"/>
              </a:solidFill>
              <a:latin typeface="Calibri"/>
            </a:endParaRPr>
          </a:p>
        </p:txBody>
      </p:sp>
      <p:sp>
        <p:nvSpPr>
          <p:cNvPr id="11" name="Rectangle 10"/>
          <p:cNvSpPr/>
          <p:nvPr/>
        </p:nvSpPr>
        <p:spPr>
          <a:xfrm>
            <a:off x="6126480" y="1444752"/>
            <a:ext cx="5669280" cy="3886200"/>
          </a:xfrm>
          <a:prstGeom prst="rect">
            <a:avLst/>
          </a:prstGeom>
          <a:solidFill>
            <a:srgbClr val="F2F2F2"/>
          </a:solidFill>
          <a:ln w="6350">
            <a:solidFill>
              <a:srgbClr val="D6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17920" y="1517904"/>
            <a:ext cx="5486400" cy="292388"/>
          </a:xfrm>
          <a:prstGeom prst="rect">
            <a:avLst/>
          </a:prstGeom>
          <a:noFill/>
        </p:spPr>
        <p:txBody>
          <a:bodyPr wrap="square">
            <a:spAutoFit/>
          </a:bodyPr>
          <a:lstStyle/>
          <a:p>
            <a:pPr algn="l"/>
            <a:r>
              <a:rPr sz="1300" b="1" i="0" dirty="0" err="1">
                <a:solidFill>
                  <a:srgbClr val="1F3564"/>
                </a:solidFill>
                <a:latin typeface="Calibri"/>
              </a:rPr>
              <a:t>Partición</a:t>
            </a:r>
            <a:r>
              <a:rPr sz="1300" b="1" i="0" dirty="0">
                <a:solidFill>
                  <a:srgbClr val="1F3564"/>
                </a:solidFill>
                <a:latin typeface="Calibri"/>
              </a:rPr>
              <a:t> de </a:t>
            </a:r>
            <a:r>
              <a:rPr sz="1300" b="1" i="0" dirty="0" err="1">
                <a:solidFill>
                  <a:srgbClr val="1F3564"/>
                </a:solidFill>
                <a:latin typeface="Calibri"/>
              </a:rPr>
              <a:t>filas</a:t>
            </a:r>
            <a:r>
              <a:rPr sz="1300" b="1" i="0" dirty="0">
                <a:solidFill>
                  <a:srgbClr val="1F3564"/>
                </a:solidFill>
                <a:latin typeface="Calibri"/>
              </a:rPr>
              <a:t> con schedule(static):</a:t>
            </a:r>
          </a:p>
        </p:txBody>
      </p:sp>
      <p:sp>
        <p:nvSpPr>
          <p:cNvPr id="13" name="TextBox 12"/>
          <p:cNvSpPr txBox="1"/>
          <p:nvPr/>
        </p:nvSpPr>
        <p:spPr>
          <a:xfrm>
            <a:off x="6126480" y="1773936"/>
            <a:ext cx="5669280" cy="769441"/>
          </a:xfrm>
          <a:prstGeom prst="rect">
            <a:avLst/>
          </a:prstGeom>
          <a:noFill/>
        </p:spPr>
        <p:txBody>
          <a:bodyPr wrap="square">
            <a:spAutoFit/>
          </a:bodyPr>
          <a:lstStyle/>
          <a:p>
            <a:pPr>
              <a:spcBef>
                <a:spcPts val="300"/>
              </a:spcBef>
            </a:pPr>
            <a:r>
              <a:rPr sz="1300" dirty="0">
                <a:solidFill>
                  <a:srgbClr val="000000"/>
                </a:solidFill>
                <a:latin typeface="Calibri"/>
              </a:rPr>
              <a:t>• ~998 </a:t>
            </a:r>
            <a:r>
              <a:rPr sz="1300" dirty="0" err="1">
                <a:solidFill>
                  <a:srgbClr val="000000"/>
                </a:solidFill>
                <a:latin typeface="Calibri"/>
              </a:rPr>
              <a:t>filas</a:t>
            </a:r>
            <a:r>
              <a:rPr sz="1300" dirty="0">
                <a:solidFill>
                  <a:srgbClr val="000000"/>
                </a:solidFill>
                <a:latin typeface="Calibri"/>
              </a:rPr>
              <a:t> </a:t>
            </a:r>
            <a:r>
              <a:rPr sz="1300" dirty="0" err="1">
                <a:solidFill>
                  <a:srgbClr val="000000"/>
                </a:solidFill>
                <a:latin typeface="Calibri"/>
              </a:rPr>
              <a:t>interiores</a:t>
            </a:r>
            <a:r>
              <a:rPr sz="1300" dirty="0">
                <a:solidFill>
                  <a:srgbClr val="000000"/>
                </a:solidFill>
                <a:latin typeface="Calibri"/>
              </a:rPr>
              <a:t> </a:t>
            </a:r>
            <a:r>
              <a:rPr sz="1300" dirty="0" err="1">
                <a:solidFill>
                  <a:srgbClr val="000000"/>
                </a:solidFill>
                <a:latin typeface="Calibri"/>
              </a:rPr>
              <a:t>divididas</a:t>
            </a:r>
            <a:r>
              <a:rPr sz="1300" dirty="0">
                <a:solidFill>
                  <a:srgbClr val="000000"/>
                </a:solidFill>
                <a:latin typeface="Calibri"/>
              </a:rPr>
              <a:t> </a:t>
            </a:r>
            <a:r>
              <a:rPr sz="1300" dirty="0" err="1">
                <a:solidFill>
                  <a:srgbClr val="000000"/>
                </a:solidFill>
                <a:latin typeface="Calibri"/>
              </a:rPr>
              <a:t>en</a:t>
            </a:r>
            <a:r>
              <a:rPr sz="1300" dirty="0">
                <a:solidFill>
                  <a:srgbClr val="000000"/>
                </a:solidFill>
                <a:latin typeface="Calibri"/>
              </a:rPr>
              <a:t> </a:t>
            </a:r>
            <a:r>
              <a:rPr sz="1300" dirty="0" err="1">
                <a:solidFill>
                  <a:srgbClr val="000000"/>
                </a:solidFill>
                <a:latin typeface="Calibri"/>
              </a:rPr>
              <a:t>bloques</a:t>
            </a:r>
            <a:r>
              <a:rPr sz="1300" dirty="0">
                <a:solidFill>
                  <a:srgbClr val="000000"/>
                </a:solidFill>
                <a:latin typeface="Calibri"/>
              </a:rPr>
              <a:t> </a:t>
            </a:r>
            <a:r>
              <a:rPr sz="1300" dirty="0" err="1">
                <a:solidFill>
                  <a:srgbClr val="000000"/>
                </a:solidFill>
                <a:latin typeface="Calibri"/>
              </a:rPr>
              <a:t>iguales</a:t>
            </a:r>
            <a:r>
              <a:rPr sz="1300" dirty="0">
                <a:solidFill>
                  <a:srgbClr val="000000"/>
                </a:solidFill>
                <a:latin typeface="Calibri"/>
              </a:rPr>
              <a:t>: 998/N </a:t>
            </a:r>
            <a:r>
              <a:rPr sz="1300" dirty="0" err="1">
                <a:solidFill>
                  <a:srgbClr val="000000"/>
                </a:solidFill>
                <a:latin typeface="Calibri"/>
              </a:rPr>
              <a:t>filas</a:t>
            </a:r>
            <a:r>
              <a:rPr sz="1300" dirty="0">
                <a:solidFill>
                  <a:srgbClr val="000000"/>
                </a:solidFill>
                <a:latin typeface="Calibri"/>
              </a:rPr>
              <a:t>/</a:t>
            </a:r>
            <a:r>
              <a:rPr sz="1300" dirty="0" err="1">
                <a:solidFill>
                  <a:srgbClr val="000000"/>
                </a:solidFill>
                <a:latin typeface="Calibri"/>
              </a:rPr>
              <a:t>hilo</a:t>
            </a:r>
            <a:endParaRPr sz="1300" dirty="0">
              <a:solidFill>
                <a:srgbClr val="000000"/>
              </a:solidFill>
              <a:latin typeface="Calibri"/>
            </a:endParaRPr>
          </a:p>
          <a:p>
            <a:pPr>
              <a:spcBef>
                <a:spcPts val="300"/>
              </a:spcBef>
            </a:pPr>
            <a:r>
              <a:rPr sz="1300" dirty="0">
                <a:solidFill>
                  <a:srgbClr val="000000"/>
                </a:solidFill>
                <a:latin typeface="Calibri"/>
              </a:rPr>
              <a:t>• Carga </a:t>
            </a:r>
            <a:r>
              <a:rPr sz="1300" dirty="0" err="1">
                <a:solidFill>
                  <a:srgbClr val="000000"/>
                </a:solidFill>
                <a:latin typeface="Calibri"/>
              </a:rPr>
              <a:t>perfectamente</a:t>
            </a:r>
            <a:r>
              <a:rPr sz="1300" dirty="0">
                <a:solidFill>
                  <a:srgbClr val="000000"/>
                </a:solidFill>
                <a:latin typeface="Calibri"/>
              </a:rPr>
              <a:t> </a:t>
            </a:r>
            <a:r>
              <a:rPr sz="1300" dirty="0" err="1">
                <a:solidFill>
                  <a:srgbClr val="000000"/>
                </a:solidFill>
                <a:latin typeface="Calibri"/>
              </a:rPr>
              <a:t>uniforme</a:t>
            </a:r>
            <a:r>
              <a:rPr sz="1300" dirty="0">
                <a:solidFill>
                  <a:srgbClr val="000000"/>
                </a:solidFill>
                <a:latin typeface="Calibri"/>
              </a:rPr>
              <a:t> → schedule(static) sin overhead de </a:t>
            </a:r>
            <a:r>
              <a:rPr sz="1300" dirty="0" err="1">
                <a:solidFill>
                  <a:srgbClr val="000000"/>
                </a:solidFill>
                <a:latin typeface="Calibri"/>
              </a:rPr>
              <a:t>planificación</a:t>
            </a:r>
            <a:endParaRPr sz="1300" dirty="0">
              <a:solidFill>
                <a:srgbClr val="000000"/>
              </a:solidFill>
              <a:latin typeface="Calibri"/>
            </a:endParaRPr>
          </a:p>
          <a:p>
            <a:pPr>
              <a:spcBef>
                <a:spcPts val="300"/>
              </a:spcBef>
            </a:pPr>
            <a:r>
              <a:rPr sz="1300" dirty="0">
                <a:solidFill>
                  <a:srgbClr val="000000"/>
                </a:solidFill>
                <a:latin typeface="Calibri"/>
              </a:rPr>
              <a:t>• Hilo k: </a:t>
            </a:r>
            <a:r>
              <a:rPr sz="1300" dirty="0" err="1">
                <a:solidFill>
                  <a:srgbClr val="000000"/>
                </a:solidFill>
                <a:latin typeface="Calibri"/>
              </a:rPr>
              <a:t>rango</a:t>
            </a:r>
            <a:r>
              <a:rPr sz="1300" dirty="0">
                <a:solidFill>
                  <a:srgbClr val="000000"/>
                </a:solidFill>
                <a:latin typeface="Calibri"/>
              </a:rPr>
              <a:t> [k·(998/N)+1, (k+1)·(998/N)] — sin </a:t>
            </a:r>
            <a:r>
              <a:rPr sz="1300" dirty="0" err="1">
                <a:solidFill>
                  <a:srgbClr val="000000"/>
                </a:solidFill>
                <a:latin typeface="Calibri"/>
              </a:rPr>
              <a:t>solapamiento</a:t>
            </a:r>
            <a:endParaRPr sz="1300" dirty="0">
              <a:solidFill>
                <a:srgbClr val="000000"/>
              </a:solidFill>
              <a:latin typeface="Calibri"/>
            </a:endParaRPr>
          </a:p>
        </p:txBody>
      </p:sp>
      <p:sp>
        <p:nvSpPr>
          <p:cNvPr id="14" name="TextBox 13"/>
          <p:cNvSpPr txBox="1"/>
          <p:nvPr/>
        </p:nvSpPr>
        <p:spPr>
          <a:xfrm>
            <a:off x="6217920" y="2852928"/>
            <a:ext cx="5486400" cy="292388"/>
          </a:xfrm>
          <a:prstGeom prst="rect">
            <a:avLst/>
          </a:prstGeom>
          <a:noFill/>
        </p:spPr>
        <p:txBody>
          <a:bodyPr wrap="square">
            <a:spAutoFit/>
          </a:bodyPr>
          <a:lstStyle/>
          <a:p>
            <a:pPr algn="l"/>
            <a:r>
              <a:rPr sz="1300" b="1" i="0" dirty="0">
                <a:solidFill>
                  <a:srgbClr val="008240"/>
                </a:solidFill>
                <a:latin typeface="Calibri"/>
              </a:rPr>
              <a:t>Sin </a:t>
            </a:r>
            <a:r>
              <a:rPr sz="1300" b="1" i="0" dirty="0" err="1">
                <a:solidFill>
                  <a:srgbClr val="008240"/>
                </a:solidFill>
                <a:latin typeface="Calibri"/>
              </a:rPr>
              <a:t>condición</a:t>
            </a:r>
            <a:r>
              <a:rPr sz="1300" b="1" i="0" dirty="0">
                <a:solidFill>
                  <a:srgbClr val="008240"/>
                </a:solidFill>
                <a:latin typeface="Calibri"/>
              </a:rPr>
              <a:t> de </a:t>
            </a:r>
            <a:r>
              <a:rPr sz="1300" b="1" i="0" dirty="0" err="1">
                <a:solidFill>
                  <a:srgbClr val="008240"/>
                </a:solidFill>
                <a:latin typeface="Calibri"/>
              </a:rPr>
              <a:t>carrera</a:t>
            </a:r>
            <a:r>
              <a:rPr sz="1300" b="1" i="0" dirty="0">
                <a:solidFill>
                  <a:srgbClr val="008240"/>
                </a:solidFill>
                <a:latin typeface="Calibri"/>
              </a:rPr>
              <a:t> — doble buffer:</a:t>
            </a:r>
          </a:p>
        </p:txBody>
      </p:sp>
      <p:sp>
        <p:nvSpPr>
          <p:cNvPr id="15" name="TextBox 14"/>
          <p:cNvSpPr txBox="1"/>
          <p:nvPr/>
        </p:nvSpPr>
        <p:spPr>
          <a:xfrm>
            <a:off x="6126480" y="3108960"/>
            <a:ext cx="5669280" cy="769441"/>
          </a:xfrm>
          <a:prstGeom prst="rect">
            <a:avLst/>
          </a:prstGeom>
          <a:noFill/>
        </p:spPr>
        <p:txBody>
          <a:bodyPr wrap="square">
            <a:spAutoFit/>
          </a:bodyPr>
          <a:lstStyle/>
          <a:p>
            <a:pPr>
              <a:spcBef>
                <a:spcPts val="300"/>
              </a:spcBef>
            </a:pPr>
            <a:r>
              <a:rPr sz="1300" dirty="0">
                <a:solidFill>
                  <a:srgbClr val="000000"/>
                </a:solidFill>
                <a:latin typeface="Calibri"/>
              </a:rPr>
              <a:t>• Cada </a:t>
            </a:r>
            <a:r>
              <a:rPr sz="1300" dirty="0" err="1">
                <a:solidFill>
                  <a:srgbClr val="000000"/>
                </a:solidFill>
                <a:latin typeface="Calibri"/>
              </a:rPr>
              <a:t>hilo</a:t>
            </a:r>
            <a:r>
              <a:rPr sz="1300" dirty="0">
                <a:solidFill>
                  <a:srgbClr val="000000"/>
                </a:solidFill>
                <a:latin typeface="Calibri"/>
              </a:rPr>
              <a:t> escribe </a:t>
            </a:r>
            <a:r>
              <a:rPr sz="1300" dirty="0" err="1">
                <a:solidFill>
                  <a:srgbClr val="000000"/>
                </a:solidFill>
                <a:latin typeface="Calibri"/>
              </a:rPr>
              <a:t>en</a:t>
            </a:r>
            <a:r>
              <a:rPr sz="1300" dirty="0">
                <a:solidFill>
                  <a:srgbClr val="000000"/>
                </a:solidFill>
                <a:latin typeface="Calibri"/>
              </a:rPr>
              <a:t> </a:t>
            </a:r>
            <a:r>
              <a:rPr sz="1300" dirty="0" err="1">
                <a:solidFill>
                  <a:srgbClr val="000000"/>
                </a:solidFill>
                <a:latin typeface="Calibri"/>
              </a:rPr>
              <a:t>nextGrid</a:t>
            </a:r>
            <a:r>
              <a:rPr sz="1300" dirty="0">
                <a:solidFill>
                  <a:srgbClr val="000000"/>
                </a:solidFill>
                <a:latin typeface="Calibri"/>
              </a:rPr>
              <a:t>[</a:t>
            </a:r>
            <a:r>
              <a:rPr sz="1300" dirty="0" err="1">
                <a:solidFill>
                  <a:srgbClr val="000000"/>
                </a:solidFill>
                <a:latin typeface="Calibri"/>
              </a:rPr>
              <a:t>filaActual+j</a:t>
            </a:r>
            <a:r>
              <a:rPr sz="1300" dirty="0">
                <a:solidFill>
                  <a:srgbClr val="000000"/>
                </a:solidFill>
                <a:latin typeface="Calibri"/>
              </a:rPr>
              <a:t>] → </a:t>
            </a:r>
            <a:r>
              <a:rPr sz="1300" dirty="0" err="1">
                <a:solidFill>
                  <a:srgbClr val="000000"/>
                </a:solidFill>
                <a:latin typeface="Calibri"/>
              </a:rPr>
              <a:t>posición</a:t>
            </a:r>
            <a:r>
              <a:rPr sz="1300" dirty="0">
                <a:solidFill>
                  <a:srgbClr val="000000"/>
                </a:solidFill>
                <a:latin typeface="Calibri"/>
              </a:rPr>
              <a:t> </a:t>
            </a:r>
            <a:r>
              <a:rPr sz="1300" dirty="0" err="1">
                <a:solidFill>
                  <a:srgbClr val="000000"/>
                </a:solidFill>
                <a:latin typeface="Calibri"/>
              </a:rPr>
              <a:t>exclusiva</a:t>
            </a:r>
            <a:endParaRPr sz="1300" dirty="0">
              <a:solidFill>
                <a:srgbClr val="000000"/>
              </a:solidFill>
              <a:latin typeface="Calibri"/>
            </a:endParaRPr>
          </a:p>
          <a:p>
            <a:pPr>
              <a:spcBef>
                <a:spcPts val="300"/>
              </a:spcBef>
            </a:pPr>
            <a:r>
              <a:rPr sz="1300" dirty="0">
                <a:solidFill>
                  <a:srgbClr val="000000"/>
                </a:solidFill>
                <a:latin typeface="Calibri"/>
              </a:rPr>
              <a:t>• Todos </a:t>
            </a:r>
            <a:r>
              <a:rPr sz="1300" dirty="0" err="1">
                <a:solidFill>
                  <a:srgbClr val="000000"/>
                </a:solidFill>
                <a:latin typeface="Calibri"/>
              </a:rPr>
              <a:t>leen</a:t>
            </a:r>
            <a:r>
              <a:rPr sz="1300" dirty="0">
                <a:solidFill>
                  <a:srgbClr val="000000"/>
                </a:solidFill>
                <a:latin typeface="Calibri"/>
              </a:rPr>
              <a:t> de grid (solo </a:t>
            </a:r>
            <a:r>
              <a:rPr sz="1300" dirty="0" err="1">
                <a:solidFill>
                  <a:srgbClr val="000000"/>
                </a:solidFill>
                <a:latin typeface="Calibri"/>
              </a:rPr>
              <a:t>lectura</a:t>
            </a:r>
            <a:r>
              <a:rPr sz="1300" dirty="0">
                <a:solidFill>
                  <a:srgbClr val="000000"/>
                </a:solidFill>
                <a:latin typeface="Calibri"/>
              </a:rPr>
              <a:t>) → no hay </a:t>
            </a:r>
            <a:r>
              <a:rPr sz="1300" dirty="0" err="1">
                <a:solidFill>
                  <a:srgbClr val="000000"/>
                </a:solidFill>
                <a:latin typeface="Calibri"/>
              </a:rPr>
              <a:t>conflicto</a:t>
            </a:r>
            <a:endParaRPr sz="1300" dirty="0">
              <a:solidFill>
                <a:srgbClr val="000000"/>
              </a:solidFill>
              <a:latin typeface="Calibri"/>
            </a:endParaRPr>
          </a:p>
          <a:p>
            <a:pPr>
              <a:spcBef>
                <a:spcPts val="300"/>
              </a:spcBef>
            </a:pPr>
            <a:r>
              <a:rPr sz="1300" dirty="0">
                <a:solidFill>
                  <a:srgbClr val="000000"/>
                </a:solidFill>
                <a:latin typeface="Calibri"/>
              </a:rPr>
              <a:t>• reduction(+:total): </a:t>
            </a:r>
            <a:r>
              <a:rPr sz="1300" dirty="0" err="1">
                <a:solidFill>
                  <a:srgbClr val="000000"/>
                </a:solidFill>
                <a:latin typeface="Calibri"/>
              </a:rPr>
              <a:t>suma</a:t>
            </a:r>
            <a:r>
              <a:rPr sz="1300" dirty="0">
                <a:solidFill>
                  <a:srgbClr val="000000"/>
                </a:solidFill>
                <a:latin typeface="Calibri"/>
              </a:rPr>
              <a:t> </a:t>
            </a:r>
            <a:r>
              <a:rPr sz="1300" dirty="0" err="1">
                <a:solidFill>
                  <a:srgbClr val="000000"/>
                </a:solidFill>
                <a:latin typeface="Calibri"/>
              </a:rPr>
              <a:t>atómica</a:t>
            </a:r>
            <a:r>
              <a:rPr sz="1300" dirty="0">
                <a:solidFill>
                  <a:srgbClr val="000000"/>
                </a:solidFill>
                <a:latin typeface="Calibri"/>
              </a:rPr>
              <a:t> de </a:t>
            </a:r>
            <a:r>
              <a:rPr sz="1300" dirty="0" err="1">
                <a:solidFill>
                  <a:srgbClr val="000000"/>
                </a:solidFill>
                <a:latin typeface="Calibri"/>
              </a:rPr>
              <a:t>células</a:t>
            </a:r>
            <a:r>
              <a:rPr sz="1300" dirty="0">
                <a:solidFill>
                  <a:srgbClr val="000000"/>
                </a:solidFill>
                <a:latin typeface="Calibri"/>
              </a:rPr>
              <a:t> </a:t>
            </a:r>
            <a:r>
              <a:rPr sz="1300" dirty="0" err="1">
                <a:solidFill>
                  <a:srgbClr val="000000"/>
                </a:solidFill>
                <a:latin typeface="Calibri"/>
              </a:rPr>
              <a:t>vivas</a:t>
            </a:r>
            <a:r>
              <a:rPr sz="1300" dirty="0">
                <a:solidFill>
                  <a:srgbClr val="000000"/>
                </a:solidFill>
                <a:latin typeface="Calibri"/>
              </a:rPr>
              <a:t> entre </a:t>
            </a:r>
            <a:r>
              <a:rPr sz="1300" dirty="0" err="1">
                <a:solidFill>
                  <a:srgbClr val="000000"/>
                </a:solidFill>
                <a:latin typeface="Calibri"/>
              </a:rPr>
              <a:t>hilos</a:t>
            </a:r>
            <a:endParaRPr sz="1300" dirty="0">
              <a:solidFill>
                <a:srgbClr val="000000"/>
              </a:solidFill>
              <a:latin typeface="Calibri"/>
            </a:endParaRPr>
          </a:p>
        </p:txBody>
      </p:sp>
      <p:graphicFrame>
        <p:nvGraphicFramePr>
          <p:cNvPr id="16" name="Table 15"/>
          <p:cNvGraphicFramePr>
            <a:graphicFrameLocks noGrp="1"/>
          </p:cNvGraphicFramePr>
          <p:nvPr>
            <p:extLst>
              <p:ext uri="{D42A27DB-BD31-4B8C-83A1-F6EECF244321}">
                <p14:modId xmlns:p14="http://schemas.microsoft.com/office/powerpoint/2010/main" val="915131585"/>
              </p:ext>
            </p:extLst>
          </p:nvPr>
        </p:nvGraphicFramePr>
        <p:xfrm>
          <a:off x="6153785" y="3886200"/>
          <a:ext cx="5669280" cy="1371600"/>
        </p:xfrm>
        <a:graphic>
          <a:graphicData uri="http://schemas.openxmlformats.org/drawingml/2006/table">
            <a:tbl>
              <a:tblPr firstRow="1" bandRow="1">
                <a:tableStyleId>{5C22544A-7EE6-4342-B048-85BDC9FD1C3A}</a:tableStyleId>
              </a:tblPr>
              <a:tblGrid>
                <a:gridCol w="1889760">
                  <a:extLst>
                    <a:ext uri="{9D8B030D-6E8A-4147-A177-3AD203B41FA5}">
                      <a16:colId xmlns:a16="http://schemas.microsoft.com/office/drawing/2014/main" val="20000"/>
                    </a:ext>
                  </a:extLst>
                </a:gridCol>
                <a:gridCol w="1889760">
                  <a:extLst>
                    <a:ext uri="{9D8B030D-6E8A-4147-A177-3AD203B41FA5}">
                      <a16:colId xmlns:a16="http://schemas.microsoft.com/office/drawing/2014/main" val="20001"/>
                    </a:ext>
                  </a:extLst>
                </a:gridCol>
                <a:gridCol w="1889760">
                  <a:extLst>
                    <a:ext uri="{9D8B030D-6E8A-4147-A177-3AD203B41FA5}">
                      <a16:colId xmlns:a16="http://schemas.microsoft.com/office/drawing/2014/main" val="20002"/>
                    </a:ext>
                  </a:extLst>
                </a:gridCol>
              </a:tblGrid>
              <a:tr h="274320">
                <a:tc>
                  <a:txBody>
                    <a:bodyPr/>
                    <a:lstStyle/>
                    <a:p>
                      <a:pPr algn="ctr"/>
                      <a:r>
                        <a:rPr sz="1200" b="1" dirty="0" err="1">
                          <a:solidFill>
                            <a:srgbClr val="FFFFFF"/>
                          </a:solidFill>
                          <a:latin typeface="Calibri"/>
                        </a:rPr>
                        <a:t>Hilos</a:t>
                      </a:r>
                      <a:endParaRPr sz="1200" b="1" dirty="0">
                        <a:solidFill>
                          <a:srgbClr val="FFFFFF"/>
                        </a:solidFill>
                        <a:latin typeface="Calibri"/>
                      </a:endParaRPr>
                    </a:p>
                  </a:txBody>
                  <a:tcPr>
                    <a:solidFill>
                      <a:srgbClr val="1F3564"/>
                    </a:solidFill>
                  </a:tcPr>
                </a:tc>
                <a:tc>
                  <a:txBody>
                    <a:bodyPr/>
                    <a:lstStyle/>
                    <a:p>
                      <a:pPr algn="ctr"/>
                      <a:r>
                        <a:rPr sz="1200" b="1">
                          <a:solidFill>
                            <a:srgbClr val="FFFFFF"/>
                          </a:solidFill>
                          <a:latin typeface="Calibri"/>
                        </a:rPr>
                        <a:t>Tiempo</a:t>
                      </a:r>
                    </a:p>
                  </a:txBody>
                  <a:tcPr>
                    <a:solidFill>
                      <a:srgbClr val="1F3564"/>
                    </a:solidFill>
                  </a:tcPr>
                </a:tc>
                <a:tc>
                  <a:txBody>
                    <a:bodyPr/>
                    <a:lstStyle/>
                    <a:p>
                      <a:pPr algn="ctr"/>
                      <a:r>
                        <a:rPr sz="1200" b="1">
                          <a:solidFill>
                            <a:srgbClr val="FFFFFF"/>
                          </a:solidFill>
                          <a:latin typeface="Calibri"/>
                        </a:rPr>
                        <a:t>Speedup vs V1</a:t>
                      </a:r>
                    </a:p>
                  </a:txBody>
                  <a:tcPr>
                    <a:solidFill>
                      <a:srgbClr val="1F3564"/>
                    </a:solidFill>
                  </a:tcPr>
                </a:tc>
                <a:extLst>
                  <a:ext uri="{0D108BD9-81ED-4DB2-BD59-A6C34878D82A}">
                    <a16:rowId xmlns:a16="http://schemas.microsoft.com/office/drawing/2014/main" val="10000"/>
                  </a:ext>
                </a:extLst>
              </a:tr>
              <a:tr h="274320">
                <a:tc>
                  <a:txBody>
                    <a:bodyPr/>
                    <a:lstStyle/>
                    <a:p>
                      <a:pPr algn="l"/>
                      <a:r>
                        <a:rPr sz="1200" dirty="0">
                          <a:solidFill>
                            <a:srgbClr val="000000"/>
                          </a:solidFill>
                          <a:latin typeface="Calibri"/>
                        </a:rPr>
                        <a:t>1</a:t>
                      </a:r>
                    </a:p>
                  </a:txBody>
                  <a:tcPr>
                    <a:solidFill>
                      <a:srgbClr val="D6E4F7"/>
                    </a:solidFill>
                  </a:tcPr>
                </a:tc>
                <a:tc>
                  <a:txBody>
                    <a:bodyPr/>
                    <a:lstStyle/>
                    <a:p>
                      <a:pPr algn="ctr"/>
                      <a:r>
                        <a:rPr sz="1200" dirty="0">
                          <a:solidFill>
                            <a:srgbClr val="000000"/>
                          </a:solidFill>
                          <a:latin typeface="Calibri"/>
                        </a:rPr>
                        <a:t>1.485 s</a:t>
                      </a:r>
                    </a:p>
                  </a:txBody>
                  <a:tcPr>
                    <a:solidFill>
                      <a:srgbClr val="D6E4F7"/>
                    </a:solidFill>
                  </a:tcPr>
                </a:tc>
                <a:tc>
                  <a:txBody>
                    <a:bodyPr/>
                    <a:lstStyle/>
                    <a:p>
                      <a:pPr algn="ctr"/>
                      <a:r>
                        <a:rPr sz="1200">
                          <a:solidFill>
                            <a:srgbClr val="000000"/>
                          </a:solidFill>
                          <a:latin typeface="Calibri"/>
                        </a:rPr>
                        <a:t>1.30×</a:t>
                      </a:r>
                    </a:p>
                  </a:txBody>
                  <a:tcPr>
                    <a:solidFill>
                      <a:srgbClr val="D6E4F7"/>
                    </a:solidFill>
                  </a:tcPr>
                </a:tc>
                <a:extLst>
                  <a:ext uri="{0D108BD9-81ED-4DB2-BD59-A6C34878D82A}">
                    <a16:rowId xmlns:a16="http://schemas.microsoft.com/office/drawing/2014/main" val="10001"/>
                  </a:ext>
                </a:extLst>
              </a:tr>
              <a:tr h="274320">
                <a:tc>
                  <a:txBody>
                    <a:bodyPr/>
                    <a:lstStyle/>
                    <a:p>
                      <a:pPr algn="l"/>
                      <a:r>
                        <a:rPr sz="1200" dirty="0">
                          <a:solidFill>
                            <a:srgbClr val="000000"/>
                          </a:solidFill>
                          <a:latin typeface="Calibri"/>
                        </a:rPr>
                        <a:t>2</a:t>
                      </a:r>
                    </a:p>
                  </a:txBody>
                  <a:tcPr>
                    <a:solidFill>
                      <a:srgbClr val="FFFFFF"/>
                    </a:solidFill>
                  </a:tcPr>
                </a:tc>
                <a:tc>
                  <a:txBody>
                    <a:bodyPr/>
                    <a:lstStyle/>
                    <a:p>
                      <a:pPr algn="ctr"/>
                      <a:r>
                        <a:rPr sz="1200" dirty="0">
                          <a:solidFill>
                            <a:srgbClr val="000000"/>
                          </a:solidFill>
                          <a:latin typeface="Calibri"/>
                        </a:rPr>
                        <a:t>0.742 s</a:t>
                      </a:r>
                    </a:p>
                  </a:txBody>
                  <a:tcPr>
                    <a:solidFill>
                      <a:srgbClr val="FFFFFF"/>
                    </a:solidFill>
                  </a:tcPr>
                </a:tc>
                <a:tc>
                  <a:txBody>
                    <a:bodyPr/>
                    <a:lstStyle/>
                    <a:p>
                      <a:pPr algn="ctr"/>
                      <a:r>
                        <a:rPr sz="1200">
                          <a:solidFill>
                            <a:srgbClr val="000000"/>
                          </a:solidFill>
                          <a:latin typeface="Calibri"/>
                        </a:rPr>
                        <a:t>2.60×</a:t>
                      </a:r>
                    </a:p>
                  </a:txBody>
                  <a:tcPr>
                    <a:solidFill>
                      <a:srgbClr val="FFFFFF"/>
                    </a:solidFill>
                  </a:tcPr>
                </a:tc>
                <a:extLst>
                  <a:ext uri="{0D108BD9-81ED-4DB2-BD59-A6C34878D82A}">
                    <a16:rowId xmlns:a16="http://schemas.microsoft.com/office/drawing/2014/main" val="10002"/>
                  </a:ext>
                </a:extLst>
              </a:tr>
              <a:tr h="274320">
                <a:tc>
                  <a:txBody>
                    <a:bodyPr/>
                    <a:lstStyle/>
                    <a:p>
                      <a:pPr algn="l"/>
                      <a:r>
                        <a:rPr sz="1200">
                          <a:solidFill>
                            <a:srgbClr val="000000"/>
                          </a:solidFill>
                          <a:latin typeface="Calibri"/>
                        </a:rPr>
                        <a:t>4</a:t>
                      </a:r>
                    </a:p>
                  </a:txBody>
                  <a:tcPr>
                    <a:solidFill>
                      <a:srgbClr val="D6E4F7"/>
                    </a:solidFill>
                  </a:tcPr>
                </a:tc>
                <a:tc>
                  <a:txBody>
                    <a:bodyPr/>
                    <a:lstStyle/>
                    <a:p>
                      <a:pPr algn="ctr"/>
                      <a:r>
                        <a:rPr sz="1200">
                          <a:solidFill>
                            <a:srgbClr val="000000"/>
                          </a:solidFill>
                          <a:latin typeface="Calibri"/>
                        </a:rPr>
                        <a:t>0.430 s</a:t>
                      </a:r>
                    </a:p>
                  </a:txBody>
                  <a:tcPr>
                    <a:solidFill>
                      <a:srgbClr val="D6E4F7"/>
                    </a:solidFill>
                  </a:tcPr>
                </a:tc>
                <a:tc>
                  <a:txBody>
                    <a:bodyPr/>
                    <a:lstStyle/>
                    <a:p>
                      <a:pPr algn="ctr"/>
                      <a:r>
                        <a:rPr sz="1200" dirty="0">
                          <a:solidFill>
                            <a:srgbClr val="000000"/>
                          </a:solidFill>
                          <a:latin typeface="Calibri"/>
                        </a:rPr>
                        <a:t>4.48×</a:t>
                      </a:r>
                    </a:p>
                  </a:txBody>
                  <a:tcPr>
                    <a:solidFill>
                      <a:srgbClr val="D6E4F7"/>
                    </a:solidFill>
                  </a:tcPr>
                </a:tc>
                <a:extLst>
                  <a:ext uri="{0D108BD9-81ED-4DB2-BD59-A6C34878D82A}">
                    <a16:rowId xmlns:a16="http://schemas.microsoft.com/office/drawing/2014/main" val="10003"/>
                  </a:ext>
                </a:extLst>
              </a:tr>
              <a:tr h="274320">
                <a:tc>
                  <a:txBody>
                    <a:bodyPr/>
                    <a:lstStyle/>
                    <a:p>
                      <a:pPr algn="l"/>
                      <a:r>
                        <a:rPr sz="1200">
                          <a:solidFill>
                            <a:srgbClr val="000000"/>
                          </a:solidFill>
                          <a:latin typeface="Calibri"/>
                        </a:rPr>
                        <a:t>8</a:t>
                      </a:r>
                    </a:p>
                  </a:txBody>
                  <a:tcPr>
                    <a:solidFill>
                      <a:srgbClr val="FFFFFF"/>
                    </a:solidFill>
                  </a:tcPr>
                </a:tc>
                <a:tc>
                  <a:txBody>
                    <a:bodyPr/>
                    <a:lstStyle/>
                    <a:p>
                      <a:pPr algn="ctr"/>
                      <a:r>
                        <a:rPr sz="1200">
                          <a:solidFill>
                            <a:srgbClr val="000000"/>
                          </a:solidFill>
                          <a:latin typeface="Calibri"/>
                        </a:rPr>
                        <a:t>0.307 s</a:t>
                      </a:r>
                    </a:p>
                  </a:txBody>
                  <a:tcPr>
                    <a:solidFill>
                      <a:srgbClr val="FFFFFF"/>
                    </a:solidFill>
                  </a:tcPr>
                </a:tc>
                <a:tc>
                  <a:txBody>
                    <a:bodyPr/>
                    <a:lstStyle/>
                    <a:p>
                      <a:pPr algn="ctr"/>
                      <a:r>
                        <a:rPr sz="1200" dirty="0">
                          <a:solidFill>
                            <a:srgbClr val="000000"/>
                          </a:solidFill>
                          <a:latin typeface="Calibri"/>
                        </a:rPr>
                        <a:t>6.27×</a:t>
                      </a:r>
                    </a:p>
                  </a:txBody>
                  <a:tcPr>
                    <a:solidFill>
                      <a:srgbClr val="FFFFFF"/>
                    </a:solidFill>
                  </a:tcPr>
                </a:tc>
                <a:extLst>
                  <a:ext uri="{0D108BD9-81ED-4DB2-BD59-A6C34878D82A}">
                    <a16:rowId xmlns:a16="http://schemas.microsoft.com/office/drawing/2014/main" val="10004"/>
                  </a:ext>
                </a:extLst>
              </a:tr>
            </a:tbl>
          </a:graphicData>
        </a:graphic>
      </p:graphicFrame>
      <p:sp>
        <p:nvSpPr>
          <p:cNvPr id="17" name="Rectangle 16"/>
          <p:cNvSpPr/>
          <p:nvPr/>
        </p:nvSpPr>
        <p:spPr>
          <a:xfrm>
            <a:off x="365760" y="5394960"/>
            <a:ext cx="5577840" cy="219456"/>
          </a:xfrm>
          <a:prstGeom prst="rect">
            <a:avLst/>
          </a:prstGeom>
          <a:solidFill>
            <a:srgbClr val="008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7200" y="5352359"/>
            <a:ext cx="5394960" cy="307777"/>
          </a:xfrm>
          <a:prstGeom prst="rect">
            <a:avLst/>
          </a:prstGeom>
          <a:noFill/>
        </p:spPr>
        <p:txBody>
          <a:bodyPr wrap="square">
            <a:spAutoFit/>
          </a:bodyPr>
          <a:lstStyle/>
          <a:p>
            <a:pPr algn="l"/>
            <a:r>
              <a:rPr sz="1400" b="1" i="0" dirty="0">
                <a:solidFill>
                  <a:srgbClr val="FFFFFF"/>
                </a:solidFill>
                <a:latin typeface="Calibri"/>
              </a:rPr>
              <a:t>✔  </a:t>
            </a:r>
            <a:r>
              <a:rPr sz="1400" b="1" i="0" dirty="0" err="1">
                <a:solidFill>
                  <a:srgbClr val="FFFFFF"/>
                </a:solidFill>
                <a:latin typeface="Calibri"/>
              </a:rPr>
              <a:t>Ventajas</a:t>
            </a:r>
            <a:r>
              <a:rPr sz="1400" b="1" i="0" dirty="0">
                <a:solidFill>
                  <a:srgbClr val="FFFFFF"/>
                </a:solidFill>
                <a:latin typeface="Calibri"/>
              </a:rPr>
              <a:t> clave de V3</a:t>
            </a:r>
          </a:p>
        </p:txBody>
      </p:sp>
      <p:sp>
        <p:nvSpPr>
          <p:cNvPr id="19" name="TextBox 18"/>
          <p:cNvSpPr txBox="1"/>
          <p:nvPr/>
        </p:nvSpPr>
        <p:spPr>
          <a:xfrm>
            <a:off x="365760" y="5632704"/>
            <a:ext cx="5577840" cy="777136"/>
          </a:xfrm>
          <a:prstGeom prst="rect">
            <a:avLst/>
          </a:prstGeom>
          <a:noFill/>
        </p:spPr>
        <p:txBody>
          <a:bodyPr wrap="square">
            <a:spAutoFit/>
          </a:bodyPr>
          <a:lstStyle/>
          <a:p>
            <a:pPr>
              <a:spcBef>
                <a:spcPts val="300"/>
              </a:spcBef>
            </a:pPr>
            <a:r>
              <a:rPr sz="1400" dirty="0">
                <a:solidFill>
                  <a:srgbClr val="000000"/>
                </a:solidFill>
                <a:latin typeface="Calibri"/>
              </a:rPr>
              <a:t>• Una </a:t>
            </a:r>
            <a:r>
              <a:rPr sz="1400" dirty="0" err="1">
                <a:solidFill>
                  <a:srgbClr val="000000"/>
                </a:solidFill>
                <a:latin typeface="Calibri"/>
              </a:rPr>
              <a:t>línea</a:t>
            </a:r>
            <a:r>
              <a:rPr sz="1400" dirty="0">
                <a:solidFill>
                  <a:srgbClr val="000000"/>
                </a:solidFill>
                <a:latin typeface="Calibri"/>
              </a:rPr>
              <a:t> de pragma </a:t>
            </a:r>
            <a:r>
              <a:rPr sz="1400" dirty="0" err="1">
                <a:solidFill>
                  <a:srgbClr val="000000"/>
                </a:solidFill>
                <a:latin typeface="Calibri"/>
              </a:rPr>
              <a:t>transforma</a:t>
            </a:r>
            <a:r>
              <a:rPr sz="1400" dirty="0">
                <a:solidFill>
                  <a:srgbClr val="000000"/>
                </a:solidFill>
                <a:latin typeface="Calibri"/>
              </a:rPr>
              <a:t> </a:t>
            </a:r>
            <a:r>
              <a:rPr sz="1400" dirty="0" err="1">
                <a:solidFill>
                  <a:srgbClr val="000000"/>
                </a:solidFill>
                <a:latin typeface="Calibri"/>
              </a:rPr>
              <a:t>el</a:t>
            </a:r>
            <a:r>
              <a:rPr sz="1400" dirty="0">
                <a:solidFill>
                  <a:srgbClr val="000000"/>
                </a:solidFill>
                <a:latin typeface="Calibri"/>
              </a:rPr>
              <a:t> </a:t>
            </a:r>
            <a:r>
              <a:rPr sz="1400" dirty="0" err="1">
                <a:solidFill>
                  <a:srgbClr val="000000"/>
                </a:solidFill>
                <a:latin typeface="Calibri"/>
              </a:rPr>
              <a:t>código</a:t>
            </a:r>
            <a:r>
              <a:rPr sz="1400" dirty="0">
                <a:solidFill>
                  <a:srgbClr val="000000"/>
                </a:solidFill>
                <a:latin typeface="Calibri"/>
              </a:rPr>
              <a:t> </a:t>
            </a:r>
            <a:r>
              <a:rPr sz="1400" dirty="0" err="1">
                <a:solidFill>
                  <a:srgbClr val="000000"/>
                </a:solidFill>
                <a:latin typeface="Calibri"/>
              </a:rPr>
              <a:t>secuencial</a:t>
            </a:r>
            <a:r>
              <a:rPr sz="1400" dirty="0">
                <a:solidFill>
                  <a:srgbClr val="000000"/>
                </a:solidFill>
                <a:latin typeface="Calibri"/>
              </a:rPr>
              <a:t> </a:t>
            </a:r>
            <a:r>
              <a:rPr sz="1400" dirty="0" err="1">
                <a:solidFill>
                  <a:srgbClr val="000000"/>
                </a:solidFill>
                <a:latin typeface="Calibri"/>
              </a:rPr>
              <a:t>en</a:t>
            </a:r>
            <a:r>
              <a:rPr sz="1400" dirty="0">
                <a:solidFill>
                  <a:srgbClr val="000000"/>
                </a:solidFill>
                <a:latin typeface="Calibri"/>
              </a:rPr>
              <a:t> </a:t>
            </a:r>
            <a:r>
              <a:rPr sz="1400" dirty="0" err="1">
                <a:solidFill>
                  <a:srgbClr val="000000"/>
                </a:solidFill>
                <a:latin typeface="Calibri"/>
              </a:rPr>
              <a:t>paralelo</a:t>
            </a:r>
            <a:endParaRPr sz="1400" dirty="0">
              <a:solidFill>
                <a:srgbClr val="000000"/>
              </a:solidFill>
              <a:latin typeface="Calibri"/>
            </a:endParaRPr>
          </a:p>
          <a:p>
            <a:pPr>
              <a:spcBef>
                <a:spcPts val="300"/>
              </a:spcBef>
            </a:pPr>
            <a:r>
              <a:rPr sz="1400" dirty="0">
                <a:solidFill>
                  <a:srgbClr val="000000"/>
                </a:solidFill>
                <a:latin typeface="Calibri"/>
              </a:rPr>
              <a:t>• </a:t>
            </a:r>
            <a:r>
              <a:rPr sz="1400" dirty="0" err="1">
                <a:solidFill>
                  <a:srgbClr val="000000"/>
                </a:solidFill>
                <a:latin typeface="Calibri"/>
              </a:rPr>
              <a:t>omp_set_num_threads</a:t>
            </a:r>
            <a:r>
              <a:rPr sz="1400" dirty="0">
                <a:solidFill>
                  <a:srgbClr val="000000"/>
                </a:solidFill>
                <a:latin typeface="Calibri"/>
              </a:rPr>
              <a:t> configurable: </a:t>
            </a:r>
            <a:r>
              <a:rPr sz="1400" dirty="0" err="1">
                <a:solidFill>
                  <a:srgbClr val="000000"/>
                </a:solidFill>
                <a:latin typeface="Calibri"/>
              </a:rPr>
              <a:t>medición</a:t>
            </a:r>
            <a:r>
              <a:rPr sz="1400" dirty="0">
                <a:solidFill>
                  <a:srgbClr val="000000"/>
                </a:solidFill>
                <a:latin typeface="Calibri"/>
              </a:rPr>
              <a:t> de </a:t>
            </a:r>
            <a:r>
              <a:rPr sz="1400" dirty="0" err="1">
                <a:solidFill>
                  <a:srgbClr val="000000"/>
                </a:solidFill>
                <a:latin typeface="Calibri"/>
              </a:rPr>
              <a:t>escalabilidad</a:t>
            </a:r>
            <a:r>
              <a:rPr sz="1400" dirty="0">
                <a:solidFill>
                  <a:srgbClr val="000000"/>
                </a:solidFill>
                <a:latin typeface="Calibri"/>
              </a:rPr>
              <a:t> 1→2→4→8 </a:t>
            </a:r>
            <a:r>
              <a:rPr sz="1400" dirty="0" err="1">
                <a:solidFill>
                  <a:srgbClr val="000000"/>
                </a:solidFill>
                <a:latin typeface="Calibri"/>
              </a:rPr>
              <a:t>hilos</a:t>
            </a:r>
            <a:endParaRPr sz="1400" dirty="0">
              <a:solidFill>
                <a:srgbClr val="000000"/>
              </a:solidFill>
              <a:latin typeface="Calibri"/>
            </a:endParaRPr>
          </a:p>
        </p:txBody>
      </p:sp>
      <p:sp>
        <p:nvSpPr>
          <p:cNvPr id="20" name="Rectangle 19"/>
          <p:cNvSpPr/>
          <p:nvPr/>
        </p:nvSpPr>
        <p:spPr>
          <a:xfrm>
            <a:off x="6126480" y="5394960"/>
            <a:ext cx="5669280" cy="219456"/>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217920" y="5349240"/>
            <a:ext cx="5486400" cy="307777"/>
          </a:xfrm>
          <a:prstGeom prst="rect">
            <a:avLst/>
          </a:prstGeom>
          <a:noFill/>
        </p:spPr>
        <p:txBody>
          <a:bodyPr wrap="square">
            <a:spAutoFit/>
          </a:bodyPr>
          <a:lstStyle/>
          <a:p>
            <a:pPr algn="l"/>
            <a:r>
              <a:rPr sz="1400" b="1" i="0" dirty="0" err="1">
                <a:solidFill>
                  <a:srgbClr val="FFFFFF"/>
                </a:solidFill>
                <a:latin typeface="Calibri"/>
              </a:rPr>
              <a:t>Limitaciones</a:t>
            </a:r>
            <a:r>
              <a:rPr sz="1400" b="1" i="0" dirty="0">
                <a:solidFill>
                  <a:srgbClr val="FFFFFF"/>
                </a:solidFill>
                <a:latin typeface="Calibri"/>
              </a:rPr>
              <a:t> de OpenMP</a:t>
            </a:r>
          </a:p>
        </p:txBody>
      </p:sp>
      <p:sp>
        <p:nvSpPr>
          <p:cNvPr id="22" name="TextBox 21"/>
          <p:cNvSpPr txBox="1"/>
          <p:nvPr/>
        </p:nvSpPr>
        <p:spPr>
          <a:xfrm>
            <a:off x="6126480" y="5632704"/>
            <a:ext cx="5669280" cy="561692"/>
          </a:xfrm>
          <a:prstGeom prst="rect">
            <a:avLst/>
          </a:prstGeom>
          <a:noFill/>
        </p:spPr>
        <p:txBody>
          <a:bodyPr wrap="square">
            <a:spAutoFit/>
          </a:bodyPr>
          <a:lstStyle/>
          <a:p>
            <a:pPr>
              <a:spcBef>
                <a:spcPts val="300"/>
              </a:spcBef>
            </a:pPr>
            <a:r>
              <a:rPr sz="1400" dirty="0">
                <a:solidFill>
                  <a:srgbClr val="000000"/>
                </a:solidFill>
                <a:latin typeface="Calibri"/>
              </a:rPr>
              <a:t>• Solo </a:t>
            </a:r>
            <a:r>
              <a:rPr sz="1400" dirty="0" err="1">
                <a:solidFill>
                  <a:srgbClr val="000000"/>
                </a:solidFill>
                <a:latin typeface="Calibri"/>
              </a:rPr>
              <a:t>escala</a:t>
            </a:r>
            <a:r>
              <a:rPr sz="1400" dirty="0">
                <a:solidFill>
                  <a:srgbClr val="000000"/>
                </a:solidFill>
                <a:latin typeface="Calibri"/>
              </a:rPr>
              <a:t> </a:t>
            </a:r>
            <a:r>
              <a:rPr sz="1400" dirty="0" err="1">
                <a:solidFill>
                  <a:srgbClr val="000000"/>
                </a:solidFill>
                <a:latin typeface="Calibri"/>
              </a:rPr>
              <a:t>dentro</a:t>
            </a:r>
            <a:r>
              <a:rPr sz="1400" dirty="0">
                <a:solidFill>
                  <a:srgbClr val="000000"/>
                </a:solidFill>
                <a:latin typeface="Calibri"/>
              </a:rPr>
              <a:t> de un </a:t>
            </a:r>
            <a:r>
              <a:rPr sz="1400" dirty="0" err="1">
                <a:solidFill>
                  <a:srgbClr val="000000"/>
                </a:solidFill>
                <a:latin typeface="Calibri"/>
              </a:rPr>
              <a:t>único</a:t>
            </a:r>
            <a:r>
              <a:rPr sz="1400" dirty="0">
                <a:solidFill>
                  <a:srgbClr val="000000"/>
                </a:solidFill>
                <a:latin typeface="Calibri"/>
              </a:rPr>
              <a:t> </a:t>
            </a:r>
            <a:r>
              <a:rPr sz="1400" dirty="0" err="1">
                <a:solidFill>
                  <a:srgbClr val="000000"/>
                </a:solidFill>
                <a:latin typeface="Calibri"/>
              </a:rPr>
              <a:t>nodo</a:t>
            </a:r>
            <a:r>
              <a:rPr sz="1400" dirty="0">
                <a:solidFill>
                  <a:srgbClr val="000000"/>
                </a:solidFill>
                <a:latin typeface="Calibri"/>
              </a:rPr>
              <a:t> (memoria </a:t>
            </a:r>
            <a:r>
              <a:rPr sz="1400" dirty="0" err="1">
                <a:solidFill>
                  <a:srgbClr val="000000"/>
                </a:solidFill>
                <a:latin typeface="Calibri"/>
              </a:rPr>
              <a:t>compartida</a:t>
            </a:r>
            <a:r>
              <a:rPr sz="1400" dirty="0">
                <a:solidFill>
                  <a:srgbClr val="000000"/>
                </a:solidFill>
                <a:latin typeface="Calibri"/>
              </a:rPr>
              <a:t>)</a:t>
            </a:r>
          </a:p>
          <a:p>
            <a:pPr>
              <a:spcBef>
                <a:spcPts val="300"/>
              </a:spcBef>
            </a:pPr>
            <a:r>
              <a:rPr sz="1400" dirty="0">
                <a:solidFill>
                  <a:srgbClr val="000000"/>
                </a:solidFill>
                <a:latin typeface="Calibri"/>
              </a:rPr>
              <a:t>• Para </a:t>
            </a:r>
            <a:r>
              <a:rPr sz="1400" dirty="0" err="1">
                <a:solidFill>
                  <a:srgbClr val="000000"/>
                </a:solidFill>
                <a:latin typeface="Calibri"/>
              </a:rPr>
              <a:t>múltiples</a:t>
            </a:r>
            <a:r>
              <a:rPr sz="1400" dirty="0">
                <a:solidFill>
                  <a:srgbClr val="000000"/>
                </a:solidFill>
                <a:latin typeface="Calibri"/>
              </a:rPr>
              <a:t> </a:t>
            </a:r>
            <a:r>
              <a:rPr sz="1400" dirty="0" err="1">
                <a:solidFill>
                  <a:srgbClr val="000000"/>
                </a:solidFill>
                <a:latin typeface="Calibri"/>
              </a:rPr>
              <a:t>nodos</a:t>
            </a:r>
            <a:r>
              <a:rPr sz="1400" dirty="0">
                <a:solidFill>
                  <a:srgbClr val="000000"/>
                </a:solidFill>
                <a:latin typeface="Calibri"/>
              </a:rPr>
              <a:t> </a:t>
            </a:r>
            <a:r>
              <a:rPr sz="1400" dirty="0" err="1">
                <a:solidFill>
                  <a:srgbClr val="000000"/>
                </a:solidFill>
                <a:latin typeface="Calibri"/>
              </a:rPr>
              <a:t>físicos</a:t>
            </a:r>
            <a:r>
              <a:rPr sz="1400" dirty="0">
                <a:solidFill>
                  <a:srgbClr val="000000"/>
                </a:solidFill>
                <a:latin typeface="Calibri"/>
              </a:rPr>
              <a:t> se </a:t>
            </a:r>
            <a:r>
              <a:rPr sz="1400" dirty="0" err="1">
                <a:solidFill>
                  <a:srgbClr val="000000"/>
                </a:solidFill>
                <a:latin typeface="Calibri"/>
              </a:rPr>
              <a:t>necesita</a:t>
            </a:r>
            <a:r>
              <a:rPr sz="1400" dirty="0">
                <a:solidFill>
                  <a:srgbClr val="000000"/>
                </a:solidFill>
                <a:latin typeface="Calibri"/>
              </a:rPr>
              <a:t> MPI (V4) o la </a:t>
            </a:r>
            <a:r>
              <a:rPr sz="1400" dirty="0" err="1">
                <a:solidFill>
                  <a:srgbClr val="000000"/>
                </a:solidFill>
                <a:latin typeface="Calibri"/>
              </a:rPr>
              <a:t>combinación</a:t>
            </a:r>
            <a:r>
              <a:rPr sz="1400" dirty="0">
                <a:solidFill>
                  <a:srgbClr val="000000"/>
                </a:solidFill>
                <a:latin typeface="Calibri"/>
              </a:rPr>
              <a:t> V5</a:t>
            </a:r>
          </a:p>
        </p:txBody>
      </p:sp>
      <p:sp>
        <p:nvSpPr>
          <p:cNvPr id="23" name="Rectangle 22">
            <a:hlinkClick r:id="rId3"/>
          </p:cNvPr>
          <p:cNvSpPr/>
          <p:nvPr/>
        </p:nvSpPr>
        <p:spPr>
          <a:xfrm>
            <a:off x="3291840" y="6454319"/>
            <a:ext cx="5577840" cy="292608"/>
          </a:xfrm>
          <a:prstGeom prst="rect">
            <a:avLst/>
          </a:prstGeom>
          <a:solidFill>
            <a:srgbClr val="2E74B5"/>
          </a:solidFill>
          <a:ln w="6350">
            <a:solidFill>
              <a:srgbClr val="1F3564"/>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dirty="0">
                <a:solidFill>
                  <a:srgbClr val="FFFFFF"/>
                </a:solidFill>
                <a:latin typeface="Calibri"/>
              </a:rPr>
              <a:t>Ver V3_openmp.cpp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7899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12880" cy="658368"/>
          </a:xfrm>
          <a:prstGeom prst="rect">
            <a:avLst/>
          </a:prstGeom>
          <a:noFill/>
        </p:spPr>
        <p:txBody>
          <a:bodyPr wrap="square">
            <a:spAutoFit/>
          </a:bodyPr>
          <a:lstStyle/>
          <a:p>
            <a:pPr algn="l"/>
            <a:r>
              <a:rPr sz="2600" b="1" i="0">
                <a:solidFill>
                  <a:srgbClr val="FFFFFF"/>
                </a:solidFill>
                <a:latin typeface="Calibri"/>
              </a:rPr>
              <a:t>V4 — MPI: Paralelismo Distribuido</a:t>
            </a:r>
          </a:p>
        </p:txBody>
      </p:sp>
      <p:sp>
        <p:nvSpPr>
          <p:cNvPr id="4" name="TextBox 3"/>
          <p:cNvSpPr txBox="1"/>
          <p:nvPr/>
        </p:nvSpPr>
        <p:spPr>
          <a:xfrm>
            <a:off x="274320" y="713232"/>
            <a:ext cx="11612880" cy="329184"/>
          </a:xfrm>
          <a:prstGeom prst="rect">
            <a:avLst/>
          </a:prstGeom>
          <a:noFill/>
        </p:spPr>
        <p:txBody>
          <a:bodyPr wrap="square">
            <a:spAutoFit/>
          </a:bodyPr>
          <a:lstStyle/>
          <a:p>
            <a:pPr algn="l"/>
            <a:r>
              <a:rPr sz="1200" b="0" i="0">
                <a:solidFill>
                  <a:srgbClr val="D6E4F7"/>
                </a:solidFill>
                <a:latin typeface="Calibri"/>
              </a:rPr>
              <a:t>Código C++ implementado vs. ensamblador generado por el compilador (-O2)</a:t>
            </a:r>
          </a:p>
        </p:txBody>
      </p:sp>
      <p:sp>
        <p:nvSpPr>
          <p:cNvPr id="5" name="Rectangle 4"/>
          <p:cNvSpPr/>
          <p:nvPr/>
        </p:nvSpPr>
        <p:spPr>
          <a:xfrm>
            <a:off x="365760" y="1170432"/>
            <a:ext cx="5577840" cy="256032"/>
          </a:xfrm>
          <a:prstGeom prst="rect">
            <a:avLst/>
          </a:prstGeom>
          <a:solidFill>
            <a:srgbClr val="008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153703"/>
            <a:ext cx="5431536" cy="307777"/>
          </a:xfrm>
          <a:prstGeom prst="rect">
            <a:avLst/>
          </a:prstGeom>
          <a:noFill/>
        </p:spPr>
        <p:txBody>
          <a:bodyPr wrap="square">
            <a:spAutoFit/>
          </a:bodyPr>
          <a:lstStyle/>
          <a:p>
            <a:pPr algn="l"/>
            <a:r>
              <a:rPr sz="1400" b="1" i="0" dirty="0">
                <a:solidFill>
                  <a:srgbClr val="FFFFFF"/>
                </a:solidFill>
                <a:latin typeface="Calibri"/>
              </a:rPr>
              <a:t>✔  Código </a:t>
            </a:r>
            <a:r>
              <a:rPr sz="1400" b="1" i="0" dirty="0" err="1">
                <a:solidFill>
                  <a:srgbClr val="FFFFFF"/>
                </a:solidFill>
                <a:latin typeface="Calibri"/>
              </a:rPr>
              <a:t>Implementado</a:t>
            </a:r>
            <a:r>
              <a:rPr sz="1400" b="1" i="0" dirty="0">
                <a:solidFill>
                  <a:srgbClr val="FFFFFF"/>
                </a:solidFill>
                <a:latin typeface="Calibri"/>
              </a:rPr>
              <a:t> (C++)</a:t>
            </a:r>
          </a:p>
        </p:txBody>
      </p:sp>
      <p:sp>
        <p:nvSpPr>
          <p:cNvPr id="7" name="Rectangle 6"/>
          <p:cNvSpPr/>
          <p:nvPr/>
        </p:nvSpPr>
        <p:spPr>
          <a:xfrm>
            <a:off x="365760" y="1444752"/>
            <a:ext cx="5577840" cy="4160520"/>
          </a:xfrm>
          <a:prstGeom prst="rect">
            <a:avLst/>
          </a:prstGeom>
          <a:solidFill>
            <a:srgbClr val="1E1E2E"/>
          </a:solidFill>
          <a:ln w="9525">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517904"/>
            <a:ext cx="5027338" cy="3970318"/>
          </a:xfrm>
          <a:prstGeom prst="rect">
            <a:avLst/>
          </a:prstGeom>
          <a:noFill/>
        </p:spPr>
        <p:txBody>
          <a:bodyPr wrap="none">
            <a:spAutoFit/>
          </a:bodyPr>
          <a:lstStyle/>
          <a:p>
            <a:pPr>
              <a:spcBef>
                <a:spcPts val="0"/>
              </a:spcBef>
              <a:spcAft>
                <a:spcPts val="0"/>
              </a:spcAft>
            </a:pPr>
            <a:r>
              <a:rPr sz="1200" dirty="0">
                <a:solidFill>
                  <a:srgbClr val="CBD2E0"/>
                </a:solidFill>
                <a:latin typeface="Consolas"/>
              </a:rPr>
              <a:t>// </a:t>
            </a:r>
            <a:r>
              <a:rPr sz="1200" dirty="0" err="1">
                <a:solidFill>
                  <a:srgbClr val="CBD2E0"/>
                </a:solidFill>
                <a:latin typeface="Consolas"/>
              </a:rPr>
              <a:t>Intercambio</a:t>
            </a:r>
            <a:r>
              <a:rPr sz="1200" dirty="0">
                <a:solidFill>
                  <a:srgbClr val="CBD2E0"/>
                </a:solidFill>
                <a:latin typeface="Consolas"/>
              </a:rPr>
              <a:t> de </a:t>
            </a:r>
            <a:r>
              <a:rPr sz="1200" dirty="0" err="1">
                <a:solidFill>
                  <a:srgbClr val="CBD2E0"/>
                </a:solidFill>
                <a:latin typeface="Consolas"/>
              </a:rPr>
              <a:t>filas</a:t>
            </a:r>
            <a:r>
              <a:rPr sz="1200" dirty="0">
                <a:solidFill>
                  <a:srgbClr val="CBD2E0"/>
                </a:solidFill>
                <a:latin typeface="Consolas"/>
              </a:rPr>
              <a:t> </a:t>
            </a:r>
            <a:r>
              <a:rPr sz="1200" dirty="0" err="1">
                <a:solidFill>
                  <a:srgbClr val="CBD2E0"/>
                </a:solidFill>
                <a:latin typeface="Consolas"/>
              </a:rPr>
              <a:t>fantasma</a:t>
            </a:r>
            <a:r>
              <a:rPr sz="1200" dirty="0">
                <a:solidFill>
                  <a:srgbClr val="CBD2E0"/>
                </a:solidFill>
                <a:latin typeface="Consolas"/>
              </a:rPr>
              <a:t> con </a:t>
            </a:r>
            <a:r>
              <a:rPr sz="1200" dirty="0" err="1">
                <a:solidFill>
                  <a:srgbClr val="CBD2E0"/>
                </a:solidFill>
                <a:latin typeface="Consolas"/>
              </a:rPr>
              <a:t>Sendrecv</a:t>
            </a:r>
            <a:endParaRPr sz="1200" dirty="0">
              <a:solidFill>
                <a:srgbClr val="CBD2E0"/>
              </a:solidFill>
              <a:latin typeface="Consolas"/>
            </a:endParaRPr>
          </a:p>
          <a:p>
            <a:pPr>
              <a:spcBef>
                <a:spcPts val="0"/>
              </a:spcBef>
              <a:spcAft>
                <a:spcPts val="0"/>
              </a:spcAft>
            </a:pPr>
            <a:r>
              <a:rPr sz="1200" dirty="0">
                <a:solidFill>
                  <a:srgbClr val="CBD2E0"/>
                </a:solidFill>
                <a:latin typeface="Consolas"/>
              </a:rPr>
              <a:t>// (</a:t>
            </a:r>
            <a:r>
              <a:rPr sz="1200" dirty="0" err="1">
                <a:solidFill>
                  <a:srgbClr val="CBD2E0"/>
                </a:solidFill>
                <a:latin typeface="Consolas"/>
              </a:rPr>
              <a:t>operación</a:t>
            </a:r>
            <a:r>
              <a:rPr sz="1200" dirty="0">
                <a:solidFill>
                  <a:srgbClr val="CBD2E0"/>
                </a:solidFill>
                <a:latin typeface="Consolas"/>
              </a:rPr>
              <a:t> </a:t>
            </a:r>
            <a:r>
              <a:rPr sz="1200" dirty="0" err="1">
                <a:solidFill>
                  <a:srgbClr val="CBD2E0"/>
                </a:solidFill>
                <a:latin typeface="Consolas"/>
              </a:rPr>
              <a:t>atómica</a:t>
            </a:r>
            <a:r>
              <a:rPr sz="1200" dirty="0">
                <a:solidFill>
                  <a:srgbClr val="CBD2E0"/>
                </a:solidFill>
                <a:latin typeface="Consolas"/>
              </a:rPr>
              <a:t> — </a:t>
            </a:r>
            <a:r>
              <a:rPr sz="1200" dirty="0" err="1">
                <a:solidFill>
                  <a:srgbClr val="CBD2E0"/>
                </a:solidFill>
                <a:latin typeface="Consolas"/>
              </a:rPr>
              <a:t>evita</a:t>
            </a:r>
            <a:r>
              <a:rPr sz="1200" dirty="0">
                <a:solidFill>
                  <a:srgbClr val="CBD2E0"/>
                </a:solidFill>
                <a:latin typeface="Consolas"/>
              </a:rPr>
              <a:t> deadlocks)</a:t>
            </a:r>
          </a:p>
          <a:p>
            <a:pPr>
              <a:spcBef>
                <a:spcPts val="0"/>
              </a:spcBef>
              <a:spcAft>
                <a:spcPts val="0"/>
              </a:spcAft>
            </a:pPr>
            <a:r>
              <a:rPr sz="1200" dirty="0">
                <a:solidFill>
                  <a:srgbClr val="CBD2E0"/>
                </a:solidFill>
                <a:latin typeface="Consolas"/>
              </a:rPr>
              <a:t>if (rank &gt; 0) {</a:t>
            </a:r>
          </a:p>
          <a:p>
            <a:pPr>
              <a:spcBef>
                <a:spcPts val="0"/>
              </a:spcBef>
              <a:spcAft>
                <a:spcPts val="0"/>
              </a:spcAft>
            </a:pPr>
            <a:r>
              <a:rPr sz="1200" dirty="0">
                <a:solidFill>
                  <a:srgbClr val="CBD2E0"/>
                </a:solidFill>
                <a:latin typeface="Consolas"/>
              </a:rPr>
              <a:t>  </a:t>
            </a:r>
            <a:r>
              <a:rPr sz="1200" dirty="0" err="1">
                <a:solidFill>
                  <a:srgbClr val="CBD2E0"/>
                </a:solidFill>
                <a:latin typeface="Consolas"/>
              </a:rPr>
              <a:t>MPI_Sendrecv</a:t>
            </a:r>
            <a:r>
              <a:rPr sz="1200" dirty="0">
                <a:solidFill>
                  <a:srgbClr val="CBD2E0"/>
                </a:solidFill>
                <a:latin typeface="Consolas"/>
              </a:rPr>
              <a:t>(</a:t>
            </a:r>
          </a:p>
          <a:p>
            <a:pPr>
              <a:spcBef>
                <a:spcPts val="0"/>
              </a:spcBef>
              <a:spcAft>
                <a:spcPts val="0"/>
              </a:spcAft>
            </a:pPr>
            <a:r>
              <a:rPr sz="1200" dirty="0">
                <a:solidFill>
                  <a:srgbClr val="CBD2E0"/>
                </a:solidFill>
                <a:latin typeface="Consolas"/>
              </a:rPr>
              <a:t>    &amp;</a:t>
            </a:r>
            <a:r>
              <a:rPr sz="1200" dirty="0" err="1">
                <a:solidFill>
                  <a:srgbClr val="CBD2E0"/>
                </a:solidFill>
                <a:latin typeface="Consolas"/>
              </a:rPr>
              <a:t>gridLocal</a:t>
            </a:r>
            <a:r>
              <a:rPr sz="1200" dirty="0">
                <a:solidFill>
                  <a:srgbClr val="CBD2E0"/>
                </a:solidFill>
                <a:latin typeface="Consolas"/>
              </a:rPr>
              <a:t>[</a:t>
            </a:r>
            <a:r>
              <a:rPr sz="1200" dirty="0" err="1">
                <a:solidFill>
                  <a:srgbClr val="CBD2E0"/>
                </a:solidFill>
                <a:latin typeface="Consolas"/>
              </a:rPr>
              <a:t>idx</a:t>
            </a:r>
            <a:r>
              <a:rPr sz="1200" dirty="0">
                <a:solidFill>
                  <a:srgbClr val="CBD2E0"/>
                </a:solidFill>
                <a:latin typeface="Consolas"/>
              </a:rPr>
              <a:t>(1,0)],       N, MPI_INT, rank-1,0,</a:t>
            </a:r>
          </a:p>
          <a:p>
            <a:pPr>
              <a:spcBef>
                <a:spcPts val="0"/>
              </a:spcBef>
              <a:spcAft>
                <a:spcPts val="0"/>
              </a:spcAft>
            </a:pPr>
            <a:r>
              <a:rPr sz="1200" dirty="0">
                <a:solidFill>
                  <a:srgbClr val="CBD2E0"/>
                </a:solidFill>
                <a:latin typeface="Consolas"/>
              </a:rPr>
              <a:t>    &amp;</a:t>
            </a:r>
            <a:r>
              <a:rPr sz="1200" dirty="0" err="1">
                <a:solidFill>
                  <a:srgbClr val="CBD2E0"/>
                </a:solidFill>
                <a:latin typeface="Consolas"/>
              </a:rPr>
              <a:t>gridLocal</a:t>
            </a:r>
            <a:r>
              <a:rPr sz="1200" dirty="0">
                <a:solidFill>
                  <a:srgbClr val="CBD2E0"/>
                </a:solidFill>
                <a:latin typeface="Consolas"/>
              </a:rPr>
              <a:t>[</a:t>
            </a:r>
            <a:r>
              <a:rPr sz="1200" dirty="0" err="1">
                <a:solidFill>
                  <a:srgbClr val="CBD2E0"/>
                </a:solidFill>
                <a:latin typeface="Consolas"/>
              </a:rPr>
              <a:t>idx</a:t>
            </a:r>
            <a:r>
              <a:rPr sz="1200" dirty="0">
                <a:solidFill>
                  <a:srgbClr val="CBD2E0"/>
                </a:solidFill>
                <a:latin typeface="Consolas"/>
              </a:rPr>
              <a:t>(0,0)],       N, MPI_INT, rank-1,1,</a:t>
            </a:r>
          </a:p>
          <a:p>
            <a:pPr>
              <a:spcBef>
                <a:spcPts val="0"/>
              </a:spcBef>
              <a:spcAft>
                <a:spcPts val="0"/>
              </a:spcAft>
            </a:pPr>
            <a:r>
              <a:rPr sz="1200" dirty="0">
                <a:solidFill>
                  <a:srgbClr val="CBD2E0"/>
                </a:solidFill>
                <a:latin typeface="Consolas"/>
              </a:rPr>
              <a:t>    MPI_COMM_WORLD, MPI_STATUS_IGNORE);</a:t>
            </a:r>
          </a:p>
          <a:p>
            <a:pPr>
              <a:spcBef>
                <a:spcPts val="0"/>
              </a:spcBef>
              <a:spcAft>
                <a:spcPts val="0"/>
              </a:spcAft>
            </a:pPr>
            <a:r>
              <a:rPr sz="1200" dirty="0">
                <a:solidFill>
                  <a:srgbClr val="CBD2E0"/>
                </a:solidFill>
                <a:latin typeface="Consolas"/>
              </a:rPr>
              <a:t>}</a:t>
            </a:r>
          </a:p>
          <a:p>
            <a:pPr>
              <a:spcBef>
                <a:spcPts val="0"/>
              </a:spcBef>
              <a:spcAft>
                <a:spcPts val="0"/>
              </a:spcAft>
            </a:pPr>
            <a:r>
              <a:rPr sz="1200" dirty="0">
                <a:solidFill>
                  <a:srgbClr val="CBD2E0"/>
                </a:solidFill>
                <a:latin typeface="Consolas"/>
              </a:rPr>
              <a:t>if (rank &lt; size-1) {</a:t>
            </a:r>
          </a:p>
          <a:p>
            <a:pPr>
              <a:spcBef>
                <a:spcPts val="0"/>
              </a:spcBef>
              <a:spcAft>
                <a:spcPts val="0"/>
              </a:spcAft>
            </a:pPr>
            <a:r>
              <a:rPr sz="1200" dirty="0">
                <a:solidFill>
                  <a:srgbClr val="CBD2E0"/>
                </a:solidFill>
                <a:latin typeface="Consolas"/>
              </a:rPr>
              <a:t>  </a:t>
            </a:r>
            <a:r>
              <a:rPr sz="1200" dirty="0" err="1">
                <a:solidFill>
                  <a:srgbClr val="CBD2E0"/>
                </a:solidFill>
                <a:latin typeface="Consolas"/>
              </a:rPr>
              <a:t>MPI_Sendrecv</a:t>
            </a:r>
            <a:r>
              <a:rPr sz="1200" dirty="0">
                <a:solidFill>
                  <a:srgbClr val="CBD2E0"/>
                </a:solidFill>
                <a:latin typeface="Consolas"/>
              </a:rPr>
              <a:t>(</a:t>
            </a:r>
          </a:p>
          <a:p>
            <a:pPr>
              <a:spcBef>
                <a:spcPts val="0"/>
              </a:spcBef>
              <a:spcAft>
                <a:spcPts val="0"/>
              </a:spcAft>
            </a:pPr>
            <a:r>
              <a:rPr sz="1200" dirty="0">
                <a:solidFill>
                  <a:srgbClr val="CBD2E0"/>
                </a:solidFill>
                <a:latin typeface="Consolas"/>
              </a:rPr>
              <a:t>    &amp;</a:t>
            </a:r>
            <a:r>
              <a:rPr sz="1200" dirty="0" err="1">
                <a:solidFill>
                  <a:srgbClr val="CBD2E0"/>
                </a:solidFill>
                <a:latin typeface="Consolas"/>
              </a:rPr>
              <a:t>gridLocal</a:t>
            </a:r>
            <a:r>
              <a:rPr sz="1200" dirty="0">
                <a:solidFill>
                  <a:srgbClr val="CBD2E0"/>
                </a:solidFill>
                <a:latin typeface="Consolas"/>
              </a:rPr>
              <a:t>[</a:t>
            </a:r>
            <a:r>
              <a:rPr sz="1200" dirty="0" err="1">
                <a:solidFill>
                  <a:srgbClr val="CBD2E0"/>
                </a:solidFill>
                <a:latin typeface="Consolas"/>
              </a:rPr>
              <a:t>idx</a:t>
            </a:r>
            <a:r>
              <a:rPr sz="1200" dirty="0">
                <a:solidFill>
                  <a:srgbClr val="CBD2E0"/>
                </a:solidFill>
                <a:latin typeface="Consolas"/>
              </a:rPr>
              <a:t>(filasLocales,0)],  N,MPI_INT,rank+1,1,</a:t>
            </a:r>
          </a:p>
          <a:p>
            <a:pPr>
              <a:spcBef>
                <a:spcPts val="0"/>
              </a:spcBef>
              <a:spcAft>
                <a:spcPts val="0"/>
              </a:spcAft>
            </a:pPr>
            <a:r>
              <a:rPr sz="1200" dirty="0">
                <a:solidFill>
                  <a:srgbClr val="CBD2E0"/>
                </a:solidFill>
                <a:latin typeface="Consolas"/>
              </a:rPr>
              <a:t>    &amp;</a:t>
            </a:r>
            <a:r>
              <a:rPr sz="1200" dirty="0" err="1">
                <a:solidFill>
                  <a:srgbClr val="CBD2E0"/>
                </a:solidFill>
                <a:latin typeface="Consolas"/>
              </a:rPr>
              <a:t>gridLocal</a:t>
            </a:r>
            <a:r>
              <a:rPr sz="1200" dirty="0">
                <a:solidFill>
                  <a:srgbClr val="CBD2E0"/>
                </a:solidFill>
                <a:latin typeface="Consolas"/>
              </a:rPr>
              <a:t>[</a:t>
            </a:r>
            <a:r>
              <a:rPr sz="1200" dirty="0" err="1">
                <a:solidFill>
                  <a:srgbClr val="CBD2E0"/>
                </a:solidFill>
                <a:latin typeface="Consolas"/>
              </a:rPr>
              <a:t>idx</a:t>
            </a:r>
            <a:r>
              <a:rPr sz="1200" dirty="0">
                <a:solidFill>
                  <a:srgbClr val="CBD2E0"/>
                </a:solidFill>
                <a:latin typeface="Consolas"/>
              </a:rPr>
              <a:t>(filasLocales+1,0)],N,MPI_INT,rank+1,0,</a:t>
            </a:r>
          </a:p>
          <a:p>
            <a:pPr>
              <a:spcBef>
                <a:spcPts val="0"/>
              </a:spcBef>
              <a:spcAft>
                <a:spcPts val="0"/>
              </a:spcAft>
            </a:pPr>
            <a:r>
              <a:rPr sz="1200" dirty="0">
                <a:solidFill>
                  <a:srgbClr val="CBD2E0"/>
                </a:solidFill>
                <a:latin typeface="Consolas"/>
              </a:rPr>
              <a:t>    MPI_COMM_WORLD, MPI_STATUS_IGNORE);</a:t>
            </a:r>
          </a:p>
          <a:p>
            <a:pPr>
              <a:spcBef>
                <a:spcPts val="0"/>
              </a:spcBef>
              <a:spcAft>
                <a:spcPts val="0"/>
              </a:spcAft>
            </a:pPr>
            <a:r>
              <a:rPr sz="1200" dirty="0">
                <a:solidFill>
                  <a:srgbClr val="CBD2E0"/>
                </a:solidFill>
                <a:latin typeface="Consolas"/>
              </a:rPr>
              <a:t>}</a:t>
            </a:r>
          </a:p>
          <a:p>
            <a:pPr>
              <a:spcBef>
                <a:spcPts val="0"/>
              </a:spcBef>
              <a:spcAft>
                <a:spcPts val="0"/>
              </a:spcAft>
            </a:pPr>
            <a:endParaRPr sz="1200" dirty="0">
              <a:solidFill>
                <a:srgbClr val="CBD2E0"/>
              </a:solidFill>
              <a:latin typeface="Consolas"/>
            </a:endParaRPr>
          </a:p>
          <a:p>
            <a:pPr>
              <a:spcBef>
                <a:spcPts val="0"/>
              </a:spcBef>
              <a:spcAft>
                <a:spcPts val="0"/>
              </a:spcAft>
            </a:pPr>
            <a:r>
              <a:rPr sz="1200" dirty="0">
                <a:solidFill>
                  <a:srgbClr val="CBD2E0"/>
                </a:solidFill>
                <a:latin typeface="Consolas"/>
              </a:rPr>
              <a:t>// Tiempo = </a:t>
            </a:r>
            <a:r>
              <a:rPr sz="1200" dirty="0" err="1">
                <a:solidFill>
                  <a:srgbClr val="CBD2E0"/>
                </a:solidFill>
                <a:latin typeface="Consolas"/>
              </a:rPr>
              <a:t>máximo</a:t>
            </a:r>
            <a:r>
              <a:rPr sz="1200" dirty="0">
                <a:solidFill>
                  <a:srgbClr val="CBD2E0"/>
                </a:solidFill>
                <a:latin typeface="Consolas"/>
              </a:rPr>
              <a:t> entre </a:t>
            </a:r>
            <a:r>
              <a:rPr sz="1200" dirty="0" err="1">
                <a:solidFill>
                  <a:srgbClr val="CBD2E0"/>
                </a:solidFill>
                <a:latin typeface="Consolas"/>
              </a:rPr>
              <a:t>todos</a:t>
            </a:r>
            <a:r>
              <a:rPr sz="1200" dirty="0">
                <a:solidFill>
                  <a:srgbClr val="CBD2E0"/>
                </a:solidFill>
                <a:latin typeface="Consolas"/>
              </a:rPr>
              <a:t> </a:t>
            </a:r>
            <a:r>
              <a:rPr sz="1200" dirty="0" err="1">
                <a:solidFill>
                  <a:srgbClr val="CBD2E0"/>
                </a:solidFill>
                <a:latin typeface="Consolas"/>
              </a:rPr>
              <a:t>los</a:t>
            </a:r>
            <a:r>
              <a:rPr sz="1200" dirty="0">
                <a:solidFill>
                  <a:srgbClr val="CBD2E0"/>
                </a:solidFill>
                <a:latin typeface="Consolas"/>
              </a:rPr>
              <a:t> </a:t>
            </a:r>
            <a:r>
              <a:rPr sz="1200" dirty="0" err="1">
                <a:solidFill>
                  <a:srgbClr val="CBD2E0"/>
                </a:solidFill>
                <a:latin typeface="Consolas"/>
              </a:rPr>
              <a:t>procesos</a:t>
            </a:r>
            <a:endParaRPr sz="1200" dirty="0">
              <a:solidFill>
                <a:srgbClr val="CBD2E0"/>
              </a:solidFill>
              <a:latin typeface="Consolas"/>
            </a:endParaRPr>
          </a:p>
          <a:p>
            <a:pPr>
              <a:spcBef>
                <a:spcPts val="0"/>
              </a:spcBef>
              <a:spcAft>
                <a:spcPts val="0"/>
              </a:spcAft>
            </a:pPr>
            <a:r>
              <a:rPr sz="1200" dirty="0" err="1">
                <a:solidFill>
                  <a:srgbClr val="CBD2E0"/>
                </a:solidFill>
                <a:latin typeface="Consolas"/>
              </a:rPr>
              <a:t>MPI_Reduce</a:t>
            </a:r>
            <a:r>
              <a:rPr sz="1200" dirty="0">
                <a:solidFill>
                  <a:srgbClr val="CBD2E0"/>
                </a:solidFill>
                <a:latin typeface="Consolas"/>
              </a:rPr>
              <a:t>(&amp;tiempoLocal,&amp;tiempoMaximo,1,</a:t>
            </a:r>
          </a:p>
          <a:p>
            <a:pPr>
              <a:spcBef>
                <a:spcPts val="0"/>
              </a:spcBef>
              <a:spcAft>
                <a:spcPts val="0"/>
              </a:spcAft>
            </a:pPr>
            <a:r>
              <a:rPr sz="1200" dirty="0">
                <a:solidFill>
                  <a:srgbClr val="CBD2E0"/>
                </a:solidFill>
                <a:latin typeface="Consolas"/>
              </a:rPr>
              <a:t>           MPI_DOUBLE,MPI_MAX,0,MPI_COMM_WORLD);</a:t>
            </a:r>
          </a:p>
          <a:p>
            <a:pPr>
              <a:spcBef>
                <a:spcPts val="0"/>
              </a:spcBef>
              <a:spcAft>
                <a:spcPts val="0"/>
              </a:spcAft>
            </a:pPr>
            <a:r>
              <a:rPr sz="1200" dirty="0">
                <a:solidFill>
                  <a:srgbClr val="CBD2E0"/>
                </a:solidFill>
                <a:latin typeface="Consolas"/>
              </a:rPr>
              <a:t>// </a:t>
            </a:r>
            <a:r>
              <a:rPr sz="1200" dirty="0" err="1">
                <a:solidFill>
                  <a:srgbClr val="CBD2E0"/>
                </a:solidFill>
                <a:latin typeface="Consolas"/>
              </a:rPr>
              <a:t>Células</a:t>
            </a:r>
            <a:r>
              <a:rPr sz="1200" dirty="0">
                <a:solidFill>
                  <a:srgbClr val="CBD2E0"/>
                </a:solidFill>
                <a:latin typeface="Consolas"/>
              </a:rPr>
              <a:t> = </a:t>
            </a:r>
            <a:r>
              <a:rPr sz="1200" dirty="0" err="1">
                <a:solidFill>
                  <a:srgbClr val="CBD2E0"/>
                </a:solidFill>
                <a:latin typeface="Consolas"/>
              </a:rPr>
              <a:t>suma</a:t>
            </a:r>
            <a:r>
              <a:rPr sz="1200" dirty="0">
                <a:solidFill>
                  <a:srgbClr val="CBD2E0"/>
                </a:solidFill>
                <a:latin typeface="Consolas"/>
              </a:rPr>
              <a:t> global</a:t>
            </a:r>
          </a:p>
          <a:p>
            <a:pPr>
              <a:spcBef>
                <a:spcPts val="0"/>
              </a:spcBef>
              <a:spcAft>
                <a:spcPts val="0"/>
              </a:spcAft>
            </a:pPr>
            <a:r>
              <a:rPr sz="1200" dirty="0" err="1">
                <a:solidFill>
                  <a:srgbClr val="CBD2E0"/>
                </a:solidFill>
                <a:latin typeface="Consolas"/>
              </a:rPr>
              <a:t>MPI_Reduce</a:t>
            </a:r>
            <a:r>
              <a:rPr sz="1200" dirty="0">
                <a:solidFill>
                  <a:srgbClr val="CBD2E0"/>
                </a:solidFill>
                <a:latin typeface="Consolas"/>
              </a:rPr>
              <a:t>(&amp;vivasLocales,&amp;vivasTotales,1,</a:t>
            </a:r>
          </a:p>
          <a:p>
            <a:pPr>
              <a:spcBef>
                <a:spcPts val="0"/>
              </a:spcBef>
              <a:spcAft>
                <a:spcPts val="0"/>
              </a:spcAft>
            </a:pPr>
            <a:r>
              <a:rPr sz="1200" dirty="0">
                <a:solidFill>
                  <a:srgbClr val="CBD2E0"/>
                </a:solidFill>
                <a:latin typeface="Consolas"/>
              </a:rPr>
              <a:t>           MPI_INT,MPI_SUM,0,MPI_COMM_WORLD);</a:t>
            </a:r>
          </a:p>
        </p:txBody>
      </p:sp>
      <p:sp>
        <p:nvSpPr>
          <p:cNvPr id="9" name="Rectangle 8"/>
          <p:cNvSpPr/>
          <p:nvPr/>
        </p:nvSpPr>
        <p:spPr>
          <a:xfrm>
            <a:off x="6126480" y="1170432"/>
            <a:ext cx="5669280" cy="27432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172200" y="1146119"/>
            <a:ext cx="5486400" cy="307777"/>
          </a:xfrm>
          <a:prstGeom prst="rect">
            <a:avLst/>
          </a:prstGeom>
          <a:noFill/>
        </p:spPr>
        <p:txBody>
          <a:bodyPr wrap="square">
            <a:spAutoFit/>
          </a:bodyPr>
          <a:lstStyle/>
          <a:p>
            <a:pPr algn="l"/>
            <a:r>
              <a:rPr sz="1400" b="1" i="0" dirty="0" err="1">
                <a:solidFill>
                  <a:srgbClr val="FFFFFF"/>
                </a:solidFill>
                <a:latin typeface="Calibri"/>
              </a:rPr>
              <a:t>Distribución</a:t>
            </a:r>
            <a:r>
              <a:rPr sz="1400" b="1" i="0" dirty="0">
                <a:solidFill>
                  <a:srgbClr val="FFFFFF"/>
                </a:solidFill>
                <a:latin typeface="Calibri"/>
              </a:rPr>
              <a:t> </a:t>
            </a:r>
            <a:r>
              <a:rPr sz="1400" b="1" i="0" dirty="0" err="1">
                <a:solidFill>
                  <a:srgbClr val="FFFFFF"/>
                </a:solidFill>
                <a:latin typeface="Calibri"/>
              </a:rPr>
              <a:t>por</a:t>
            </a:r>
            <a:r>
              <a:rPr sz="1400" b="1" i="0" dirty="0">
                <a:solidFill>
                  <a:srgbClr val="FFFFFF"/>
                </a:solidFill>
                <a:latin typeface="Calibri"/>
              </a:rPr>
              <a:t> </a:t>
            </a:r>
            <a:r>
              <a:rPr sz="1400" b="1" i="0" dirty="0" err="1">
                <a:solidFill>
                  <a:srgbClr val="FFFFFF"/>
                </a:solidFill>
                <a:latin typeface="Calibri"/>
              </a:rPr>
              <a:t>procesos</a:t>
            </a:r>
            <a:r>
              <a:rPr sz="1400" b="1" i="0" dirty="0">
                <a:solidFill>
                  <a:srgbClr val="FFFFFF"/>
                </a:solidFill>
                <a:latin typeface="Calibri"/>
              </a:rPr>
              <a:t> y </a:t>
            </a:r>
            <a:r>
              <a:rPr sz="1400" b="1" i="0" dirty="0" err="1">
                <a:solidFill>
                  <a:srgbClr val="FFFFFF"/>
                </a:solidFill>
                <a:latin typeface="Calibri"/>
              </a:rPr>
              <a:t>filas</a:t>
            </a:r>
            <a:r>
              <a:rPr sz="1400" b="1" i="0" dirty="0">
                <a:solidFill>
                  <a:srgbClr val="FFFFFF"/>
                </a:solidFill>
                <a:latin typeface="Calibri"/>
              </a:rPr>
              <a:t> </a:t>
            </a:r>
            <a:r>
              <a:rPr sz="1400" b="1" i="0" dirty="0" err="1">
                <a:solidFill>
                  <a:srgbClr val="FFFFFF"/>
                </a:solidFill>
                <a:latin typeface="Calibri"/>
              </a:rPr>
              <a:t>fantasma</a:t>
            </a:r>
            <a:endParaRPr sz="1400" b="1" i="0" dirty="0">
              <a:solidFill>
                <a:srgbClr val="FFFFFF"/>
              </a:solidFill>
              <a:latin typeface="Calibri"/>
            </a:endParaRPr>
          </a:p>
        </p:txBody>
      </p:sp>
      <p:sp>
        <p:nvSpPr>
          <p:cNvPr id="11" name="Rectangle 10"/>
          <p:cNvSpPr/>
          <p:nvPr/>
        </p:nvSpPr>
        <p:spPr>
          <a:xfrm>
            <a:off x="6126480" y="1444752"/>
            <a:ext cx="5669280" cy="4160520"/>
          </a:xfrm>
          <a:prstGeom prst="rect">
            <a:avLst/>
          </a:prstGeom>
          <a:solidFill>
            <a:srgbClr val="F2F2F2"/>
          </a:solidFill>
          <a:ln w="6350">
            <a:solidFill>
              <a:srgbClr val="D6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17920" y="1517904"/>
            <a:ext cx="5486400" cy="307777"/>
          </a:xfrm>
          <a:prstGeom prst="rect">
            <a:avLst/>
          </a:prstGeom>
          <a:noFill/>
        </p:spPr>
        <p:txBody>
          <a:bodyPr wrap="square">
            <a:spAutoFit/>
          </a:bodyPr>
          <a:lstStyle/>
          <a:p>
            <a:pPr algn="l"/>
            <a:r>
              <a:rPr sz="1400" b="1" i="0" dirty="0" err="1">
                <a:solidFill>
                  <a:srgbClr val="1F3564"/>
                </a:solidFill>
                <a:latin typeface="Calibri"/>
              </a:rPr>
              <a:t>Reparto</a:t>
            </a:r>
            <a:r>
              <a:rPr sz="1400" b="1" i="0" dirty="0">
                <a:solidFill>
                  <a:srgbClr val="1F3564"/>
                </a:solidFill>
                <a:latin typeface="Calibri"/>
              </a:rPr>
              <a:t> de </a:t>
            </a:r>
            <a:r>
              <a:rPr sz="1400" b="1" i="0" dirty="0" err="1">
                <a:solidFill>
                  <a:srgbClr val="1F3564"/>
                </a:solidFill>
                <a:latin typeface="Calibri"/>
              </a:rPr>
              <a:t>filas</a:t>
            </a:r>
            <a:r>
              <a:rPr sz="1400" b="1" i="0" dirty="0">
                <a:solidFill>
                  <a:srgbClr val="1F3564"/>
                </a:solidFill>
                <a:latin typeface="Calibri"/>
              </a:rPr>
              <a:t> entre </a:t>
            </a:r>
            <a:r>
              <a:rPr sz="1400" b="1" i="0" dirty="0" err="1">
                <a:solidFill>
                  <a:srgbClr val="1F3564"/>
                </a:solidFill>
                <a:latin typeface="Calibri"/>
              </a:rPr>
              <a:t>procesos</a:t>
            </a:r>
            <a:r>
              <a:rPr sz="1400" b="1" i="0" dirty="0">
                <a:solidFill>
                  <a:srgbClr val="1F3564"/>
                </a:solidFill>
                <a:latin typeface="Calibri"/>
              </a:rPr>
              <a:t> MPI:</a:t>
            </a:r>
          </a:p>
        </p:txBody>
      </p:sp>
      <p:sp>
        <p:nvSpPr>
          <p:cNvPr id="13" name="TextBox 12"/>
          <p:cNvSpPr txBox="1"/>
          <p:nvPr/>
        </p:nvSpPr>
        <p:spPr>
          <a:xfrm>
            <a:off x="6126480" y="1773936"/>
            <a:ext cx="5669280" cy="1169551"/>
          </a:xfrm>
          <a:prstGeom prst="rect">
            <a:avLst/>
          </a:prstGeom>
          <a:noFill/>
        </p:spPr>
        <p:txBody>
          <a:bodyPr wrap="square">
            <a:spAutoFit/>
          </a:bodyPr>
          <a:lstStyle/>
          <a:p>
            <a:pPr>
              <a:spcBef>
                <a:spcPts val="300"/>
              </a:spcBef>
            </a:pPr>
            <a:r>
              <a:rPr sz="1300" dirty="0">
                <a:solidFill>
                  <a:srgbClr val="000000"/>
                </a:solidFill>
                <a:latin typeface="Calibri"/>
              </a:rPr>
              <a:t>•</a:t>
            </a:r>
            <a:r>
              <a:rPr sz="1100" dirty="0">
                <a:solidFill>
                  <a:srgbClr val="000000"/>
                </a:solidFill>
                <a:latin typeface="Calibri"/>
              </a:rPr>
              <a:t> </a:t>
            </a:r>
            <a:r>
              <a:rPr sz="1300" dirty="0" err="1">
                <a:solidFill>
                  <a:srgbClr val="000000"/>
                </a:solidFill>
                <a:latin typeface="Calibri"/>
              </a:rPr>
              <a:t>Proceso</a:t>
            </a:r>
            <a:r>
              <a:rPr sz="1300" dirty="0">
                <a:solidFill>
                  <a:srgbClr val="000000"/>
                </a:solidFill>
                <a:latin typeface="Calibri"/>
              </a:rPr>
              <a:t> p </a:t>
            </a:r>
            <a:r>
              <a:rPr sz="1300" dirty="0" err="1">
                <a:solidFill>
                  <a:srgbClr val="000000"/>
                </a:solidFill>
                <a:latin typeface="Calibri"/>
              </a:rPr>
              <a:t>gestiona</a:t>
            </a:r>
            <a:r>
              <a:rPr sz="1300" dirty="0">
                <a:solidFill>
                  <a:srgbClr val="000000"/>
                </a:solidFill>
                <a:latin typeface="Calibri"/>
              </a:rPr>
              <a:t> ~998/P </a:t>
            </a:r>
            <a:r>
              <a:rPr sz="1300" dirty="0" err="1">
                <a:solidFill>
                  <a:srgbClr val="000000"/>
                </a:solidFill>
                <a:latin typeface="Calibri"/>
              </a:rPr>
              <a:t>filas</a:t>
            </a:r>
            <a:r>
              <a:rPr sz="1300" dirty="0">
                <a:solidFill>
                  <a:srgbClr val="000000"/>
                </a:solidFill>
                <a:latin typeface="Calibri"/>
              </a:rPr>
              <a:t> del grid + 2 </a:t>
            </a:r>
            <a:r>
              <a:rPr sz="1300" dirty="0" err="1">
                <a:solidFill>
                  <a:srgbClr val="000000"/>
                </a:solidFill>
                <a:latin typeface="Calibri"/>
              </a:rPr>
              <a:t>filas</a:t>
            </a:r>
            <a:r>
              <a:rPr sz="1300" dirty="0">
                <a:solidFill>
                  <a:srgbClr val="000000"/>
                </a:solidFill>
                <a:latin typeface="Calibri"/>
              </a:rPr>
              <a:t> </a:t>
            </a:r>
            <a:r>
              <a:rPr sz="1300" dirty="0" err="1">
                <a:solidFill>
                  <a:srgbClr val="000000"/>
                </a:solidFill>
                <a:latin typeface="Calibri"/>
              </a:rPr>
              <a:t>fantasma</a:t>
            </a:r>
            <a:r>
              <a:rPr sz="1300" dirty="0">
                <a:solidFill>
                  <a:srgbClr val="000000"/>
                </a:solidFill>
                <a:latin typeface="Calibri"/>
              </a:rPr>
              <a:t> (ghost rows)</a:t>
            </a:r>
            <a:r>
              <a:rPr lang="es-ES" sz="1300" dirty="0">
                <a:solidFill>
                  <a:srgbClr val="000000"/>
                </a:solidFill>
                <a:latin typeface="Calibri"/>
              </a:rPr>
              <a:t>.</a:t>
            </a:r>
            <a:endParaRPr sz="1300" dirty="0">
              <a:solidFill>
                <a:srgbClr val="000000"/>
              </a:solidFill>
              <a:latin typeface="Calibri"/>
            </a:endParaRPr>
          </a:p>
          <a:p>
            <a:pPr>
              <a:spcBef>
                <a:spcPts val="300"/>
              </a:spcBef>
            </a:pPr>
            <a:r>
              <a:rPr sz="1300" dirty="0">
                <a:solidFill>
                  <a:srgbClr val="000000"/>
                </a:solidFill>
                <a:latin typeface="Calibri"/>
              </a:rPr>
              <a:t>• Antes de </a:t>
            </a:r>
            <a:r>
              <a:rPr sz="1300" dirty="0" err="1">
                <a:solidFill>
                  <a:srgbClr val="000000"/>
                </a:solidFill>
                <a:latin typeface="Calibri"/>
              </a:rPr>
              <a:t>cada</a:t>
            </a:r>
            <a:r>
              <a:rPr sz="1300" dirty="0">
                <a:solidFill>
                  <a:srgbClr val="000000"/>
                </a:solidFill>
                <a:latin typeface="Calibri"/>
              </a:rPr>
              <a:t> </a:t>
            </a:r>
            <a:r>
              <a:rPr sz="1300" dirty="0" err="1">
                <a:solidFill>
                  <a:srgbClr val="000000"/>
                </a:solidFill>
                <a:latin typeface="Calibri"/>
              </a:rPr>
              <a:t>generación</a:t>
            </a:r>
            <a:r>
              <a:rPr sz="1300" dirty="0">
                <a:solidFill>
                  <a:srgbClr val="000000"/>
                </a:solidFill>
                <a:latin typeface="Calibri"/>
              </a:rPr>
              <a:t>: </a:t>
            </a:r>
            <a:r>
              <a:rPr sz="1300" dirty="0" err="1">
                <a:solidFill>
                  <a:srgbClr val="000000"/>
                </a:solidFill>
                <a:latin typeface="Calibri"/>
              </a:rPr>
              <a:t>MPI_Sendrecv</a:t>
            </a:r>
            <a:r>
              <a:rPr sz="1300" dirty="0">
                <a:solidFill>
                  <a:srgbClr val="000000"/>
                </a:solidFill>
                <a:latin typeface="Calibri"/>
              </a:rPr>
              <a:t> </a:t>
            </a:r>
            <a:r>
              <a:rPr sz="1300" dirty="0" err="1">
                <a:solidFill>
                  <a:srgbClr val="000000"/>
                </a:solidFill>
                <a:latin typeface="Calibri"/>
              </a:rPr>
              <a:t>intercambia</a:t>
            </a:r>
            <a:r>
              <a:rPr sz="1300" dirty="0">
                <a:solidFill>
                  <a:srgbClr val="000000"/>
                </a:solidFill>
                <a:latin typeface="Calibri"/>
              </a:rPr>
              <a:t> la fila de </a:t>
            </a:r>
            <a:r>
              <a:rPr sz="1300" dirty="0" err="1">
                <a:solidFill>
                  <a:srgbClr val="000000"/>
                </a:solidFill>
                <a:latin typeface="Calibri"/>
              </a:rPr>
              <a:t>borde</a:t>
            </a:r>
            <a:r>
              <a:rPr sz="1300" dirty="0">
                <a:solidFill>
                  <a:srgbClr val="000000"/>
                </a:solidFill>
                <a:latin typeface="Calibri"/>
              </a:rPr>
              <a:t> con </a:t>
            </a:r>
            <a:r>
              <a:rPr sz="1300" dirty="0" err="1">
                <a:solidFill>
                  <a:srgbClr val="000000"/>
                </a:solidFill>
                <a:latin typeface="Calibri"/>
              </a:rPr>
              <a:t>el</a:t>
            </a:r>
            <a:r>
              <a:rPr sz="1300" dirty="0">
                <a:solidFill>
                  <a:srgbClr val="000000"/>
                </a:solidFill>
                <a:latin typeface="Calibri"/>
              </a:rPr>
              <a:t> </a:t>
            </a:r>
            <a:r>
              <a:rPr sz="1300" dirty="0" err="1">
                <a:solidFill>
                  <a:srgbClr val="000000"/>
                </a:solidFill>
                <a:latin typeface="Calibri"/>
              </a:rPr>
              <a:t>proceso</a:t>
            </a:r>
            <a:r>
              <a:rPr sz="1300" dirty="0">
                <a:solidFill>
                  <a:srgbClr val="000000"/>
                </a:solidFill>
                <a:latin typeface="Calibri"/>
              </a:rPr>
              <a:t> </a:t>
            </a:r>
            <a:r>
              <a:rPr sz="1300" dirty="0" err="1">
                <a:solidFill>
                  <a:srgbClr val="000000"/>
                </a:solidFill>
                <a:latin typeface="Calibri"/>
              </a:rPr>
              <a:t>vecino</a:t>
            </a:r>
            <a:r>
              <a:rPr lang="es-ES" sz="1300" dirty="0">
                <a:solidFill>
                  <a:srgbClr val="000000"/>
                </a:solidFill>
                <a:latin typeface="Calibri"/>
              </a:rPr>
              <a:t>.</a:t>
            </a:r>
            <a:endParaRPr sz="1300" dirty="0">
              <a:solidFill>
                <a:srgbClr val="000000"/>
              </a:solidFill>
              <a:latin typeface="Calibri"/>
            </a:endParaRPr>
          </a:p>
          <a:p>
            <a:pPr>
              <a:spcBef>
                <a:spcPts val="300"/>
              </a:spcBef>
            </a:pPr>
            <a:r>
              <a:rPr sz="1300" dirty="0">
                <a:solidFill>
                  <a:srgbClr val="000000"/>
                </a:solidFill>
                <a:latin typeface="Calibri"/>
              </a:rPr>
              <a:t>• Ghost rows </a:t>
            </a:r>
            <a:r>
              <a:rPr sz="1300" dirty="0" err="1">
                <a:solidFill>
                  <a:srgbClr val="000000"/>
                </a:solidFill>
                <a:latin typeface="Calibri"/>
              </a:rPr>
              <a:t>permiten</a:t>
            </a:r>
            <a:r>
              <a:rPr sz="1300" dirty="0">
                <a:solidFill>
                  <a:srgbClr val="000000"/>
                </a:solidFill>
                <a:latin typeface="Calibri"/>
              </a:rPr>
              <a:t> </a:t>
            </a:r>
            <a:r>
              <a:rPr sz="1300" dirty="0" err="1">
                <a:solidFill>
                  <a:srgbClr val="000000"/>
                </a:solidFill>
                <a:latin typeface="Calibri"/>
              </a:rPr>
              <a:t>calcular</a:t>
            </a:r>
            <a:r>
              <a:rPr sz="1300" dirty="0">
                <a:solidFill>
                  <a:srgbClr val="000000"/>
                </a:solidFill>
                <a:latin typeface="Calibri"/>
              </a:rPr>
              <a:t> las </a:t>
            </a:r>
            <a:r>
              <a:rPr sz="1300" dirty="0" err="1">
                <a:solidFill>
                  <a:srgbClr val="000000"/>
                </a:solidFill>
                <a:latin typeface="Calibri"/>
              </a:rPr>
              <a:t>celdas</a:t>
            </a:r>
            <a:r>
              <a:rPr sz="1300" dirty="0">
                <a:solidFill>
                  <a:srgbClr val="000000"/>
                </a:solidFill>
                <a:latin typeface="Calibri"/>
              </a:rPr>
              <a:t> del </a:t>
            </a:r>
            <a:r>
              <a:rPr sz="1300" dirty="0" err="1">
                <a:solidFill>
                  <a:srgbClr val="000000"/>
                </a:solidFill>
                <a:latin typeface="Calibri"/>
              </a:rPr>
              <a:t>borde</a:t>
            </a:r>
            <a:r>
              <a:rPr sz="1300" dirty="0">
                <a:solidFill>
                  <a:srgbClr val="000000"/>
                </a:solidFill>
                <a:latin typeface="Calibri"/>
              </a:rPr>
              <a:t> del </a:t>
            </a:r>
            <a:r>
              <a:rPr sz="1300" dirty="0" err="1">
                <a:solidFill>
                  <a:srgbClr val="000000"/>
                </a:solidFill>
                <a:latin typeface="Calibri"/>
              </a:rPr>
              <a:t>bloque</a:t>
            </a:r>
            <a:r>
              <a:rPr sz="1300" dirty="0">
                <a:solidFill>
                  <a:srgbClr val="000000"/>
                </a:solidFill>
                <a:latin typeface="Calibri"/>
              </a:rPr>
              <a:t> sin </a:t>
            </a:r>
            <a:r>
              <a:rPr sz="1300" dirty="0" err="1">
                <a:solidFill>
                  <a:srgbClr val="000000"/>
                </a:solidFill>
                <a:latin typeface="Calibri"/>
              </a:rPr>
              <a:t>comunicación</a:t>
            </a:r>
            <a:r>
              <a:rPr sz="1300" dirty="0">
                <a:solidFill>
                  <a:srgbClr val="000000"/>
                </a:solidFill>
                <a:latin typeface="Calibri"/>
              </a:rPr>
              <a:t> </a:t>
            </a:r>
            <a:r>
              <a:rPr sz="1300" dirty="0" err="1">
                <a:solidFill>
                  <a:srgbClr val="000000"/>
                </a:solidFill>
                <a:latin typeface="Calibri"/>
              </a:rPr>
              <a:t>adicional</a:t>
            </a:r>
            <a:r>
              <a:rPr lang="es-ES" sz="1300" dirty="0">
                <a:solidFill>
                  <a:srgbClr val="000000"/>
                </a:solidFill>
                <a:latin typeface="Calibri"/>
              </a:rPr>
              <a:t>.</a:t>
            </a:r>
            <a:endParaRPr sz="1300" dirty="0">
              <a:solidFill>
                <a:srgbClr val="000000"/>
              </a:solidFill>
              <a:latin typeface="Calibri"/>
            </a:endParaRPr>
          </a:p>
        </p:txBody>
      </p:sp>
      <p:sp>
        <p:nvSpPr>
          <p:cNvPr id="14" name="TextBox 13"/>
          <p:cNvSpPr txBox="1"/>
          <p:nvPr/>
        </p:nvSpPr>
        <p:spPr>
          <a:xfrm>
            <a:off x="6217920" y="3027451"/>
            <a:ext cx="5486400" cy="307777"/>
          </a:xfrm>
          <a:prstGeom prst="rect">
            <a:avLst/>
          </a:prstGeom>
          <a:noFill/>
        </p:spPr>
        <p:txBody>
          <a:bodyPr wrap="square">
            <a:spAutoFit/>
          </a:bodyPr>
          <a:lstStyle/>
          <a:p>
            <a:pPr algn="l"/>
            <a:r>
              <a:rPr sz="1400" b="1" i="0" dirty="0" err="1">
                <a:solidFill>
                  <a:srgbClr val="008240"/>
                </a:solidFill>
                <a:latin typeface="Calibri"/>
              </a:rPr>
              <a:t>MPI_Sendrecv</a:t>
            </a:r>
            <a:r>
              <a:rPr sz="1400" b="1" i="0" dirty="0">
                <a:solidFill>
                  <a:srgbClr val="008240"/>
                </a:solidFill>
                <a:latin typeface="Calibri"/>
              </a:rPr>
              <a:t> vs. Send + </a:t>
            </a:r>
            <a:r>
              <a:rPr sz="1400" b="1" i="0" dirty="0" err="1">
                <a:solidFill>
                  <a:srgbClr val="008240"/>
                </a:solidFill>
                <a:latin typeface="Calibri"/>
              </a:rPr>
              <a:t>Recv</a:t>
            </a:r>
            <a:r>
              <a:rPr sz="1400" b="1" i="0" dirty="0">
                <a:solidFill>
                  <a:srgbClr val="008240"/>
                </a:solidFill>
                <a:latin typeface="Calibri"/>
              </a:rPr>
              <a:t> </a:t>
            </a:r>
            <a:r>
              <a:rPr sz="1400" b="1" i="0" dirty="0" err="1">
                <a:solidFill>
                  <a:srgbClr val="008240"/>
                </a:solidFill>
                <a:latin typeface="Calibri"/>
              </a:rPr>
              <a:t>por</a:t>
            </a:r>
            <a:r>
              <a:rPr sz="1400" b="1" i="0" dirty="0">
                <a:solidFill>
                  <a:srgbClr val="008240"/>
                </a:solidFill>
                <a:latin typeface="Calibri"/>
              </a:rPr>
              <a:t> </a:t>
            </a:r>
            <a:r>
              <a:rPr sz="1400" b="1" i="0" dirty="0" err="1">
                <a:solidFill>
                  <a:srgbClr val="008240"/>
                </a:solidFill>
                <a:latin typeface="Calibri"/>
              </a:rPr>
              <a:t>separado</a:t>
            </a:r>
            <a:r>
              <a:rPr sz="1400" b="1" i="0" dirty="0">
                <a:solidFill>
                  <a:srgbClr val="008240"/>
                </a:solidFill>
                <a:latin typeface="Calibri"/>
              </a:rPr>
              <a:t>:</a:t>
            </a:r>
          </a:p>
        </p:txBody>
      </p:sp>
      <p:sp>
        <p:nvSpPr>
          <p:cNvPr id="15" name="TextBox 14"/>
          <p:cNvSpPr txBox="1"/>
          <p:nvPr/>
        </p:nvSpPr>
        <p:spPr>
          <a:xfrm>
            <a:off x="6126480" y="3270433"/>
            <a:ext cx="5669280" cy="530915"/>
          </a:xfrm>
          <a:prstGeom prst="rect">
            <a:avLst/>
          </a:prstGeom>
          <a:noFill/>
        </p:spPr>
        <p:txBody>
          <a:bodyPr wrap="square">
            <a:spAutoFit/>
          </a:bodyPr>
          <a:lstStyle/>
          <a:p>
            <a:pPr>
              <a:spcBef>
                <a:spcPts val="300"/>
              </a:spcBef>
            </a:pPr>
            <a:r>
              <a:rPr sz="1100" dirty="0">
                <a:solidFill>
                  <a:srgbClr val="000000"/>
                </a:solidFill>
                <a:latin typeface="Calibri"/>
              </a:rPr>
              <a:t>• </a:t>
            </a:r>
            <a:r>
              <a:rPr sz="1300" dirty="0" err="1">
                <a:solidFill>
                  <a:srgbClr val="000000"/>
                </a:solidFill>
                <a:latin typeface="Calibri"/>
              </a:rPr>
              <a:t>Sendrecv</a:t>
            </a:r>
            <a:r>
              <a:rPr sz="1300" dirty="0">
                <a:solidFill>
                  <a:srgbClr val="000000"/>
                </a:solidFill>
                <a:latin typeface="Calibri"/>
              </a:rPr>
              <a:t> es </a:t>
            </a:r>
            <a:r>
              <a:rPr sz="1300" dirty="0" err="1">
                <a:solidFill>
                  <a:srgbClr val="000000"/>
                </a:solidFill>
                <a:latin typeface="Calibri"/>
              </a:rPr>
              <a:t>atómico</a:t>
            </a:r>
            <a:r>
              <a:rPr sz="1300" dirty="0">
                <a:solidFill>
                  <a:srgbClr val="000000"/>
                </a:solidFill>
                <a:latin typeface="Calibri"/>
              </a:rPr>
              <a:t>: </a:t>
            </a:r>
            <a:r>
              <a:rPr sz="1300" dirty="0" err="1">
                <a:solidFill>
                  <a:srgbClr val="000000"/>
                </a:solidFill>
                <a:latin typeface="Calibri"/>
              </a:rPr>
              <a:t>imposible</a:t>
            </a:r>
            <a:r>
              <a:rPr sz="1300" dirty="0">
                <a:solidFill>
                  <a:srgbClr val="000000"/>
                </a:solidFill>
                <a:latin typeface="Calibri"/>
              </a:rPr>
              <a:t> deadlock entre </a:t>
            </a:r>
            <a:r>
              <a:rPr sz="1300" dirty="0" err="1">
                <a:solidFill>
                  <a:srgbClr val="000000"/>
                </a:solidFill>
                <a:latin typeface="Calibri"/>
              </a:rPr>
              <a:t>procesos</a:t>
            </a:r>
            <a:r>
              <a:rPr sz="1300" dirty="0">
                <a:solidFill>
                  <a:srgbClr val="000000"/>
                </a:solidFill>
                <a:latin typeface="Calibri"/>
              </a:rPr>
              <a:t> </a:t>
            </a:r>
            <a:r>
              <a:rPr sz="1300" dirty="0" err="1">
                <a:solidFill>
                  <a:srgbClr val="000000"/>
                </a:solidFill>
                <a:latin typeface="Calibri"/>
              </a:rPr>
              <a:t>vecinos</a:t>
            </a:r>
            <a:r>
              <a:rPr lang="es-ES" sz="1300" dirty="0">
                <a:solidFill>
                  <a:srgbClr val="000000"/>
                </a:solidFill>
                <a:latin typeface="Calibri"/>
              </a:rPr>
              <a:t>.</a:t>
            </a:r>
            <a:endParaRPr sz="1300" dirty="0">
              <a:solidFill>
                <a:srgbClr val="000000"/>
              </a:solidFill>
              <a:latin typeface="Calibri"/>
            </a:endParaRPr>
          </a:p>
          <a:p>
            <a:pPr>
              <a:spcBef>
                <a:spcPts val="300"/>
              </a:spcBef>
            </a:pPr>
            <a:r>
              <a:rPr sz="1300" dirty="0">
                <a:solidFill>
                  <a:srgbClr val="000000"/>
                </a:solidFill>
                <a:latin typeface="Calibri"/>
              </a:rPr>
              <a:t>• Send + </a:t>
            </a:r>
            <a:r>
              <a:rPr sz="1300" dirty="0" err="1">
                <a:solidFill>
                  <a:srgbClr val="000000"/>
                </a:solidFill>
                <a:latin typeface="Calibri"/>
              </a:rPr>
              <a:t>Recv</a:t>
            </a:r>
            <a:r>
              <a:rPr sz="1300" dirty="0">
                <a:solidFill>
                  <a:srgbClr val="000000"/>
                </a:solidFill>
                <a:latin typeface="Calibri"/>
              </a:rPr>
              <a:t> </a:t>
            </a:r>
            <a:r>
              <a:rPr sz="1300" dirty="0" err="1">
                <a:solidFill>
                  <a:srgbClr val="000000"/>
                </a:solidFill>
                <a:latin typeface="Calibri"/>
              </a:rPr>
              <a:t>separados</a:t>
            </a:r>
            <a:r>
              <a:rPr sz="1300" dirty="0">
                <a:solidFill>
                  <a:srgbClr val="000000"/>
                </a:solidFill>
                <a:latin typeface="Calibri"/>
              </a:rPr>
              <a:t> </a:t>
            </a:r>
            <a:r>
              <a:rPr sz="1300" dirty="0" err="1">
                <a:solidFill>
                  <a:srgbClr val="000000"/>
                </a:solidFill>
                <a:latin typeface="Calibri"/>
              </a:rPr>
              <a:t>pueden</a:t>
            </a:r>
            <a:r>
              <a:rPr sz="1300" dirty="0">
                <a:solidFill>
                  <a:srgbClr val="000000"/>
                </a:solidFill>
                <a:latin typeface="Calibri"/>
              </a:rPr>
              <a:t> </a:t>
            </a:r>
            <a:r>
              <a:rPr sz="1300" dirty="0" err="1">
                <a:solidFill>
                  <a:srgbClr val="000000"/>
                </a:solidFill>
                <a:latin typeface="Calibri"/>
              </a:rPr>
              <a:t>bloquearse</a:t>
            </a:r>
            <a:r>
              <a:rPr sz="1300" dirty="0">
                <a:solidFill>
                  <a:srgbClr val="000000"/>
                </a:solidFill>
                <a:latin typeface="Calibri"/>
              </a:rPr>
              <a:t> </a:t>
            </a:r>
            <a:r>
              <a:rPr sz="1300" dirty="0" err="1">
                <a:solidFill>
                  <a:srgbClr val="000000"/>
                </a:solidFill>
                <a:latin typeface="Calibri"/>
              </a:rPr>
              <a:t>mutuamente</a:t>
            </a:r>
            <a:r>
              <a:rPr sz="1300" dirty="0">
                <a:solidFill>
                  <a:srgbClr val="000000"/>
                </a:solidFill>
                <a:latin typeface="Calibri"/>
              </a:rPr>
              <a:t> </a:t>
            </a:r>
            <a:r>
              <a:rPr sz="1300" dirty="0" err="1">
                <a:solidFill>
                  <a:srgbClr val="000000"/>
                </a:solidFill>
                <a:latin typeface="Calibri"/>
              </a:rPr>
              <a:t>si</a:t>
            </a:r>
            <a:r>
              <a:rPr sz="1300" dirty="0">
                <a:solidFill>
                  <a:srgbClr val="000000"/>
                </a:solidFill>
                <a:latin typeface="Calibri"/>
              </a:rPr>
              <a:t> </a:t>
            </a:r>
            <a:r>
              <a:rPr sz="1300" dirty="0" err="1">
                <a:solidFill>
                  <a:srgbClr val="000000"/>
                </a:solidFill>
                <a:latin typeface="Calibri"/>
              </a:rPr>
              <a:t>los</a:t>
            </a:r>
            <a:r>
              <a:rPr sz="1300" dirty="0">
                <a:solidFill>
                  <a:srgbClr val="000000"/>
                </a:solidFill>
                <a:latin typeface="Calibri"/>
              </a:rPr>
              <a:t> buffers se </a:t>
            </a:r>
            <a:r>
              <a:rPr sz="1300" dirty="0" err="1">
                <a:solidFill>
                  <a:srgbClr val="000000"/>
                </a:solidFill>
                <a:latin typeface="Calibri"/>
              </a:rPr>
              <a:t>llenan</a:t>
            </a:r>
            <a:r>
              <a:rPr lang="es-ES" sz="1300" dirty="0">
                <a:solidFill>
                  <a:srgbClr val="000000"/>
                </a:solidFill>
                <a:latin typeface="Calibri"/>
              </a:rPr>
              <a:t>.</a:t>
            </a:r>
            <a:endParaRPr sz="1300" dirty="0">
              <a:solidFill>
                <a:srgbClr val="000000"/>
              </a:solidFill>
              <a:latin typeface="Calibri"/>
            </a:endParaRPr>
          </a:p>
        </p:txBody>
      </p:sp>
      <p:sp>
        <p:nvSpPr>
          <p:cNvPr id="16" name="TextBox 15"/>
          <p:cNvSpPr txBox="1"/>
          <p:nvPr/>
        </p:nvSpPr>
        <p:spPr>
          <a:xfrm>
            <a:off x="6217920" y="3968496"/>
            <a:ext cx="5486400" cy="307777"/>
          </a:xfrm>
          <a:prstGeom prst="rect">
            <a:avLst/>
          </a:prstGeom>
          <a:noFill/>
        </p:spPr>
        <p:txBody>
          <a:bodyPr wrap="square">
            <a:spAutoFit/>
          </a:bodyPr>
          <a:lstStyle/>
          <a:p>
            <a:pPr algn="l"/>
            <a:r>
              <a:rPr sz="1400" b="1" i="0" dirty="0" err="1">
                <a:solidFill>
                  <a:srgbClr val="1F3564"/>
                </a:solidFill>
                <a:latin typeface="Calibri"/>
              </a:rPr>
              <a:t>MPI_Reduce</a:t>
            </a:r>
            <a:r>
              <a:rPr sz="1400" b="1" i="0" dirty="0">
                <a:solidFill>
                  <a:srgbClr val="1F3564"/>
                </a:solidFill>
                <a:latin typeface="Calibri"/>
              </a:rPr>
              <a:t>(MPI_MAX) para </a:t>
            </a:r>
            <a:r>
              <a:rPr sz="1400" b="1" i="0" dirty="0" err="1">
                <a:solidFill>
                  <a:srgbClr val="1F3564"/>
                </a:solidFill>
                <a:latin typeface="Calibri"/>
              </a:rPr>
              <a:t>el</a:t>
            </a:r>
            <a:r>
              <a:rPr sz="1400" b="1" i="0" dirty="0">
                <a:solidFill>
                  <a:srgbClr val="1F3564"/>
                </a:solidFill>
                <a:latin typeface="Calibri"/>
              </a:rPr>
              <a:t> </a:t>
            </a:r>
            <a:r>
              <a:rPr sz="1400" b="1" i="0" dirty="0" err="1">
                <a:solidFill>
                  <a:srgbClr val="1F3564"/>
                </a:solidFill>
                <a:latin typeface="Calibri"/>
              </a:rPr>
              <a:t>tiempo</a:t>
            </a:r>
            <a:r>
              <a:rPr sz="1400" b="1" i="0" dirty="0">
                <a:solidFill>
                  <a:srgbClr val="1F3564"/>
                </a:solidFill>
                <a:latin typeface="Calibri"/>
              </a:rPr>
              <a:t> total:</a:t>
            </a:r>
          </a:p>
        </p:txBody>
      </p:sp>
      <p:sp>
        <p:nvSpPr>
          <p:cNvPr id="17" name="TextBox 16"/>
          <p:cNvSpPr txBox="1"/>
          <p:nvPr/>
        </p:nvSpPr>
        <p:spPr>
          <a:xfrm>
            <a:off x="6126480" y="4224528"/>
            <a:ext cx="5669280" cy="530915"/>
          </a:xfrm>
          <a:prstGeom prst="rect">
            <a:avLst/>
          </a:prstGeom>
          <a:noFill/>
        </p:spPr>
        <p:txBody>
          <a:bodyPr wrap="square">
            <a:spAutoFit/>
          </a:bodyPr>
          <a:lstStyle/>
          <a:p>
            <a:pPr>
              <a:spcBef>
                <a:spcPts val="300"/>
              </a:spcBef>
            </a:pPr>
            <a:r>
              <a:rPr sz="1300" dirty="0">
                <a:solidFill>
                  <a:srgbClr val="000000"/>
                </a:solidFill>
                <a:latin typeface="Calibri"/>
              </a:rPr>
              <a:t>• El </a:t>
            </a:r>
            <a:r>
              <a:rPr sz="1300" dirty="0" err="1">
                <a:solidFill>
                  <a:srgbClr val="000000"/>
                </a:solidFill>
                <a:latin typeface="Calibri"/>
              </a:rPr>
              <a:t>tiempo</a:t>
            </a:r>
            <a:r>
              <a:rPr sz="1300" dirty="0">
                <a:solidFill>
                  <a:srgbClr val="000000"/>
                </a:solidFill>
                <a:latin typeface="Calibri"/>
              </a:rPr>
              <a:t> </a:t>
            </a:r>
            <a:r>
              <a:rPr sz="1300" dirty="0" err="1">
                <a:solidFill>
                  <a:srgbClr val="000000"/>
                </a:solidFill>
                <a:latin typeface="Calibri"/>
              </a:rPr>
              <a:t>medido</a:t>
            </a:r>
            <a:r>
              <a:rPr sz="1300" dirty="0">
                <a:solidFill>
                  <a:srgbClr val="000000"/>
                </a:solidFill>
                <a:latin typeface="Calibri"/>
              </a:rPr>
              <a:t> = </a:t>
            </a:r>
            <a:r>
              <a:rPr sz="1300" dirty="0" err="1">
                <a:solidFill>
                  <a:srgbClr val="000000"/>
                </a:solidFill>
                <a:latin typeface="Calibri"/>
              </a:rPr>
              <a:t>el</a:t>
            </a:r>
            <a:r>
              <a:rPr sz="1300" dirty="0">
                <a:solidFill>
                  <a:srgbClr val="000000"/>
                </a:solidFill>
                <a:latin typeface="Calibri"/>
              </a:rPr>
              <a:t> </a:t>
            </a:r>
            <a:r>
              <a:rPr sz="1300" dirty="0" err="1">
                <a:solidFill>
                  <a:srgbClr val="000000"/>
                </a:solidFill>
                <a:latin typeface="Calibri"/>
              </a:rPr>
              <a:t>proceso</a:t>
            </a:r>
            <a:r>
              <a:rPr sz="1300" dirty="0">
                <a:solidFill>
                  <a:srgbClr val="000000"/>
                </a:solidFill>
                <a:latin typeface="Calibri"/>
              </a:rPr>
              <a:t> </a:t>
            </a:r>
            <a:r>
              <a:rPr sz="1300" dirty="0" err="1">
                <a:solidFill>
                  <a:srgbClr val="000000"/>
                </a:solidFill>
                <a:latin typeface="Calibri"/>
              </a:rPr>
              <a:t>más</a:t>
            </a:r>
            <a:r>
              <a:rPr sz="1300" dirty="0">
                <a:solidFill>
                  <a:srgbClr val="000000"/>
                </a:solidFill>
                <a:latin typeface="Calibri"/>
              </a:rPr>
              <a:t> lento (</a:t>
            </a:r>
            <a:r>
              <a:rPr sz="1300" dirty="0" err="1">
                <a:solidFill>
                  <a:srgbClr val="000000"/>
                </a:solidFill>
                <a:latin typeface="Calibri"/>
              </a:rPr>
              <a:t>cuello</a:t>
            </a:r>
            <a:r>
              <a:rPr sz="1300" dirty="0">
                <a:solidFill>
                  <a:srgbClr val="000000"/>
                </a:solidFill>
                <a:latin typeface="Calibri"/>
              </a:rPr>
              <a:t> de </a:t>
            </a:r>
            <a:r>
              <a:rPr sz="1300" dirty="0" err="1">
                <a:solidFill>
                  <a:srgbClr val="000000"/>
                </a:solidFill>
                <a:latin typeface="Calibri"/>
              </a:rPr>
              <a:t>botella</a:t>
            </a:r>
            <a:r>
              <a:rPr sz="1300" dirty="0">
                <a:solidFill>
                  <a:srgbClr val="000000"/>
                </a:solidFill>
                <a:latin typeface="Calibri"/>
              </a:rPr>
              <a:t> real)</a:t>
            </a:r>
            <a:r>
              <a:rPr lang="es-ES" sz="1300" dirty="0">
                <a:solidFill>
                  <a:srgbClr val="000000"/>
                </a:solidFill>
                <a:latin typeface="Calibri"/>
              </a:rPr>
              <a:t>.</a:t>
            </a:r>
            <a:endParaRPr sz="1300" dirty="0">
              <a:solidFill>
                <a:srgbClr val="000000"/>
              </a:solidFill>
              <a:latin typeface="Calibri"/>
            </a:endParaRPr>
          </a:p>
          <a:p>
            <a:pPr>
              <a:spcBef>
                <a:spcPts val="300"/>
              </a:spcBef>
            </a:pPr>
            <a:r>
              <a:rPr sz="1300" dirty="0">
                <a:solidFill>
                  <a:srgbClr val="000000"/>
                </a:solidFill>
                <a:latin typeface="Calibri"/>
              </a:rPr>
              <a:t>• </a:t>
            </a:r>
            <a:r>
              <a:rPr sz="1300" dirty="0" err="1">
                <a:solidFill>
                  <a:srgbClr val="000000"/>
                </a:solidFill>
                <a:latin typeface="Calibri"/>
              </a:rPr>
              <a:t>Medir</a:t>
            </a:r>
            <a:r>
              <a:rPr sz="1300" dirty="0">
                <a:solidFill>
                  <a:srgbClr val="000000"/>
                </a:solidFill>
                <a:latin typeface="Calibri"/>
              </a:rPr>
              <a:t> solo rank 0 </a:t>
            </a:r>
            <a:r>
              <a:rPr sz="1300" dirty="0" err="1">
                <a:solidFill>
                  <a:srgbClr val="000000"/>
                </a:solidFill>
                <a:latin typeface="Calibri"/>
              </a:rPr>
              <a:t>daría</a:t>
            </a:r>
            <a:r>
              <a:rPr sz="1300" dirty="0">
                <a:solidFill>
                  <a:srgbClr val="000000"/>
                </a:solidFill>
                <a:latin typeface="Calibri"/>
              </a:rPr>
              <a:t> un valor </a:t>
            </a:r>
            <a:r>
              <a:rPr sz="1300" dirty="0" err="1">
                <a:solidFill>
                  <a:srgbClr val="000000"/>
                </a:solidFill>
                <a:latin typeface="Calibri"/>
              </a:rPr>
              <a:t>artificialmente</a:t>
            </a:r>
            <a:r>
              <a:rPr sz="1300" dirty="0">
                <a:solidFill>
                  <a:srgbClr val="000000"/>
                </a:solidFill>
                <a:latin typeface="Calibri"/>
              </a:rPr>
              <a:t> </a:t>
            </a:r>
            <a:r>
              <a:rPr sz="1300" dirty="0" err="1">
                <a:solidFill>
                  <a:srgbClr val="000000"/>
                </a:solidFill>
                <a:latin typeface="Calibri"/>
              </a:rPr>
              <a:t>optimista</a:t>
            </a:r>
            <a:endParaRPr sz="1300" dirty="0">
              <a:solidFill>
                <a:srgbClr val="000000"/>
              </a:solidFill>
              <a:latin typeface="Calibri"/>
            </a:endParaRPr>
          </a:p>
        </p:txBody>
      </p:sp>
      <p:sp>
        <p:nvSpPr>
          <p:cNvPr id="18" name="Rectangle 17"/>
          <p:cNvSpPr/>
          <p:nvPr/>
        </p:nvSpPr>
        <p:spPr>
          <a:xfrm>
            <a:off x="6126480" y="5029200"/>
            <a:ext cx="5669280" cy="347472"/>
          </a:xfrm>
          <a:prstGeom prst="rect">
            <a:avLst/>
          </a:prstGeom>
          <a:solidFill>
            <a:srgbClr val="1F3564"/>
          </a:solidFill>
          <a:ln w="12700">
            <a:solidFill>
              <a:srgbClr val="70B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63640" y="5084064"/>
            <a:ext cx="5394960" cy="292388"/>
          </a:xfrm>
          <a:prstGeom prst="rect">
            <a:avLst/>
          </a:prstGeom>
          <a:noFill/>
        </p:spPr>
        <p:txBody>
          <a:bodyPr wrap="square">
            <a:spAutoFit/>
          </a:bodyPr>
          <a:lstStyle/>
          <a:p>
            <a:pPr algn="ctr"/>
            <a:r>
              <a:rPr sz="1300" b="0" i="0" dirty="0" err="1">
                <a:solidFill>
                  <a:srgbClr val="FFFFFF"/>
                </a:solidFill>
                <a:latin typeface="Calibri"/>
              </a:rPr>
              <a:t>Escalable</a:t>
            </a:r>
            <a:r>
              <a:rPr sz="1300" b="0" i="0" dirty="0">
                <a:solidFill>
                  <a:srgbClr val="FFFFFF"/>
                </a:solidFill>
                <a:latin typeface="Calibri"/>
              </a:rPr>
              <a:t> a </a:t>
            </a:r>
            <a:r>
              <a:rPr sz="1300" b="0" i="0" dirty="0" err="1">
                <a:solidFill>
                  <a:srgbClr val="FFFFFF"/>
                </a:solidFill>
                <a:latin typeface="Calibri"/>
              </a:rPr>
              <a:t>múltiples</a:t>
            </a:r>
            <a:r>
              <a:rPr sz="1300" b="0" i="0" dirty="0">
                <a:solidFill>
                  <a:srgbClr val="FFFFFF"/>
                </a:solidFill>
                <a:latin typeface="Calibri"/>
              </a:rPr>
              <a:t> </a:t>
            </a:r>
            <a:r>
              <a:rPr sz="1300" b="0" i="0" dirty="0" err="1">
                <a:solidFill>
                  <a:srgbClr val="FFFFFF"/>
                </a:solidFill>
                <a:latin typeface="Calibri"/>
              </a:rPr>
              <a:t>nodos</a:t>
            </a:r>
            <a:r>
              <a:rPr sz="1300" b="0" i="0" dirty="0">
                <a:solidFill>
                  <a:srgbClr val="FFFFFF"/>
                </a:solidFill>
                <a:latin typeface="Calibri"/>
              </a:rPr>
              <a:t> </a:t>
            </a:r>
            <a:r>
              <a:rPr sz="1300" b="0" i="0" dirty="0" err="1">
                <a:solidFill>
                  <a:srgbClr val="FFFFFF"/>
                </a:solidFill>
                <a:latin typeface="Calibri"/>
              </a:rPr>
              <a:t>físicos</a:t>
            </a:r>
            <a:r>
              <a:rPr sz="1300" b="0" i="0" dirty="0">
                <a:solidFill>
                  <a:srgbClr val="FFFFFF"/>
                </a:solidFill>
                <a:latin typeface="Calibri"/>
              </a:rPr>
              <a:t>, a </a:t>
            </a:r>
            <a:r>
              <a:rPr sz="1300" b="0" i="0" dirty="0" err="1">
                <a:solidFill>
                  <a:srgbClr val="FFFFFF"/>
                </a:solidFill>
                <a:latin typeface="Calibri"/>
              </a:rPr>
              <a:t>diferencia</a:t>
            </a:r>
            <a:r>
              <a:rPr sz="1300" b="0" i="0" dirty="0">
                <a:solidFill>
                  <a:srgbClr val="FFFFFF"/>
                </a:solidFill>
                <a:latin typeface="Calibri"/>
              </a:rPr>
              <a:t> de OpenMP</a:t>
            </a:r>
          </a:p>
        </p:txBody>
      </p:sp>
      <p:sp>
        <p:nvSpPr>
          <p:cNvPr id="20" name="Rectangle 19"/>
          <p:cNvSpPr/>
          <p:nvPr/>
        </p:nvSpPr>
        <p:spPr>
          <a:xfrm>
            <a:off x="365760" y="5669280"/>
            <a:ext cx="5577840" cy="219456"/>
          </a:xfrm>
          <a:prstGeom prst="rect">
            <a:avLst/>
          </a:prstGeom>
          <a:solidFill>
            <a:srgbClr val="008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5623560"/>
            <a:ext cx="5394960" cy="307777"/>
          </a:xfrm>
          <a:prstGeom prst="rect">
            <a:avLst/>
          </a:prstGeom>
          <a:noFill/>
        </p:spPr>
        <p:txBody>
          <a:bodyPr wrap="square">
            <a:spAutoFit/>
          </a:bodyPr>
          <a:lstStyle/>
          <a:p>
            <a:pPr algn="l"/>
            <a:r>
              <a:rPr sz="1400" b="1" i="0" dirty="0">
                <a:solidFill>
                  <a:srgbClr val="FFFFFF"/>
                </a:solidFill>
                <a:latin typeface="Calibri"/>
              </a:rPr>
              <a:t>✔  </a:t>
            </a:r>
            <a:r>
              <a:rPr sz="1400" b="1" i="0" dirty="0" err="1">
                <a:solidFill>
                  <a:srgbClr val="FFFFFF"/>
                </a:solidFill>
                <a:latin typeface="Calibri"/>
              </a:rPr>
              <a:t>Ventajas</a:t>
            </a:r>
            <a:r>
              <a:rPr sz="1400" b="1" i="0" dirty="0">
                <a:solidFill>
                  <a:srgbClr val="FFFFFF"/>
                </a:solidFill>
                <a:latin typeface="Calibri"/>
              </a:rPr>
              <a:t> clave de V4</a:t>
            </a:r>
          </a:p>
        </p:txBody>
      </p:sp>
      <p:sp>
        <p:nvSpPr>
          <p:cNvPr id="22" name="TextBox 21"/>
          <p:cNvSpPr txBox="1"/>
          <p:nvPr/>
        </p:nvSpPr>
        <p:spPr>
          <a:xfrm>
            <a:off x="365760" y="5916168"/>
            <a:ext cx="5577840" cy="530915"/>
          </a:xfrm>
          <a:prstGeom prst="rect">
            <a:avLst/>
          </a:prstGeom>
          <a:noFill/>
        </p:spPr>
        <p:txBody>
          <a:bodyPr wrap="square">
            <a:spAutoFit/>
          </a:bodyPr>
          <a:lstStyle/>
          <a:p>
            <a:pPr>
              <a:spcBef>
                <a:spcPts val="300"/>
              </a:spcBef>
            </a:pPr>
            <a:r>
              <a:rPr sz="1300" dirty="0">
                <a:solidFill>
                  <a:srgbClr val="000000"/>
                </a:solidFill>
                <a:latin typeface="Calibri"/>
              </a:rPr>
              <a:t>• </a:t>
            </a:r>
            <a:r>
              <a:rPr sz="1300" dirty="0" err="1">
                <a:solidFill>
                  <a:srgbClr val="000000"/>
                </a:solidFill>
                <a:latin typeface="Calibri"/>
              </a:rPr>
              <a:t>MPI_Sendrecv</a:t>
            </a:r>
            <a:r>
              <a:rPr sz="1300" dirty="0">
                <a:solidFill>
                  <a:srgbClr val="000000"/>
                </a:solidFill>
                <a:latin typeface="Calibri"/>
              </a:rPr>
              <a:t>: </a:t>
            </a:r>
            <a:r>
              <a:rPr sz="1300" dirty="0" err="1">
                <a:solidFill>
                  <a:srgbClr val="000000"/>
                </a:solidFill>
                <a:latin typeface="Calibri"/>
              </a:rPr>
              <a:t>comunicación</a:t>
            </a:r>
            <a:r>
              <a:rPr sz="1300" dirty="0">
                <a:solidFill>
                  <a:srgbClr val="000000"/>
                </a:solidFill>
                <a:latin typeface="Calibri"/>
              </a:rPr>
              <a:t> </a:t>
            </a:r>
            <a:r>
              <a:rPr sz="1300" dirty="0" err="1">
                <a:solidFill>
                  <a:srgbClr val="000000"/>
                </a:solidFill>
                <a:latin typeface="Calibri"/>
              </a:rPr>
              <a:t>atómica</a:t>
            </a:r>
            <a:r>
              <a:rPr sz="1300" dirty="0">
                <a:solidFill>
                  <a:srgbClr val="000000"/>
                </a:solidFill>
                <a:latin typeface="Calibri"/>
              </a:rPr>
              <a:t>, </a:t>
            </a:r>
            <a:r>
              <a:rPr sz="1300" dirty="0" err="1">
                <a:solidFill>
                  <a:srgbClr val="000000"/>
                </a:solidFill>
                <a:latin typeface="Calibri"/>
              </a:rPr>
              <a:t>imposible</a:t>
            </a:r>
            <a:r>
              <a:rPr sz="1300" dirty="0">
                <a:solidFill>
                  <a:srgbClr val="000000"/>
                </a:solidFill>
                <a:latin typeface="Calibri"/>
              </a:rPr>
              <a:t> deadlock </a:t>
            </a:r>
            <a:r>
              <a:rPr sz="1300" dirty="0" err="1">
                <a:solidFill>
                  <a:srgbClr val="000000"/>
                </a:solidFill>
                <a:latin typeface="Calibri"/>
              </a:rPr>
              <a:t>por</a:t>
            </a:r>
            <a:r>
              <a:rPr sz="1300" dirty="0">
                <a:solidFill>
                  <a:srgbClr val="000000"/>
                </a:solidFill>
                <a:latin typeface="Calibri"/>
              </a:rPr>
              <a:t> </a:t>
            </a:r>
            <a:r>
              <a:rPr sz="1300" dirty="0" err="1">
                <a:solidFill>
                  <a:srgbClr val="000000"/>
                </a:solidFill>
                <a:latin typeface="Calibri"/>
              </a:rPr>
              <a:t>diseño</a:t>
            </a:r>
            <a:endParaRPr sz="1300" dirty="0">
              <a:solidFill>
                <a:srgbClr val="000000"/>
              </a:solidFill>
              <a:latin typeface="Calibri"/>
            </a:endParaRPr>
          </a:p>
          <a:p>
            <a:pPr>
              <a:spcBef>
                <a:spcPts val="300"/>
              </a:spcBef>
            </a:pPr>
            <a:r>
              <a:rPr sz="1300" dirty="0">
                <a:solidFill>
                  <a:srgbClr val="000000"/>
                </a:solidFill>
                <a:latin typeface="Calibri"/>
              </a:rPr>
              <a:t>• </a:t>
            </a:r>
            <a:r>
              <a:rPr sz="1300" dirty="0" err="1">
                <a:solidFill>
                  <a:srgbClr val="000000"/>
                </a:solidFill>
                <a:latin typeface="Calibri"/>
              </a:rPr>
              <a:t>MPI_Reduce</a:t>
            </a:r>
            <a:r>
              <a:rPr sz="1300" dirty="0">
                <a:solidFill>
                  <a:srgbClr val="000000"/>
                </a:solidFill>
                <a:latin typeface="Calibri"/>
              </a:rPr>
              <a:t> MAX: </a:t>
            </a:r>
            <a:r>
              <a:rPr sz="1300" dirty="0" err="1">
                <a:solidFill>
                  <a:srgbClr val="000000"/>
                </a:solidFill>
                <a:latin typeface="Calibri"/>
              </a:rPr>
              <a:t>métrica</a:t>
            </a:r>
            <a:r>
              <a:rPr sz="1300" dirty="0">
                <a:solidFill>
                  <a:srgbClr val="000000"/>
                </a:solidFill>
                <a:latin typeface="Calibri"/>
              </a:rPr>
              <a:t> de </a:t>
            </a:r>
            <a:r>
              <a:rPr sz="1300" dirty="0" err="1">
                <a:solidFill>
                  <a:srgbClr val="000000"/>
                </a:solidFill>
                <a:latin typeface="Calibri"/>
              </a:rPr>
              <a:t>tiempo</a:t>
            </a:r>
            <a:r>
              <a:rPr sz="1300" dirty="0">
                <a:solidFill>
                  <a:srgbClr val="000000"/>
                </a:solidFill>
                <a:latin typeface="Calibri"/>
              </a:rPr>
              <a:t> </a:t>
            </a:r>
            <a:r>
              <a:rPr sz="1300" dirty="0" err="1">
                <a:solidFill>
                  <a:srgbClr val="000000"/>
                </a:solidFill>
                <a:latin typeface="Calibri"/>
              </a:rPr>
              <a:t>correcta</a:t>
            </a:r>
            <a:r>
              <a:rPr sz="1300" dirty="0">
                <a:solidFill>
                  <a:srgbClr val="000000"/>
                </a:solidFill>
                <a:latin typeface="Calibri"/>
              </a:rPr>
              <a:t> para un </a:t>
            </a:r>
            <a:r>
              <a:rPr sz="1300" dirty="0" err="1">
                <a:solidFill>
                  <a:srgbClr val="000000"/>
                </a:solidFill>
                <a:latin typeface="Calibri"/>
              </a:rPr>
              <a:t>sistema</a:t>
            </a:r>
            <a:r>
              <a:rPr sz="1300" dirty="0">
                <a:solidFill>
                  <a:srgbClr val="000000"/>
                </a:solidFill>
                <a:latin typeface="Calibri"/>
              </a:rPr>
              <a:t> </a:t>
            </a:r>
            <a:r>
              <a:rPr sz="1300" dirty="0" err="1">
                <a:solidFill>
                  <a:srgbClr val="000000"/>
                </a:solidFill>
                <a:latin typeface="Calibri"/>
              </a:rPr>
              <a:t>distribuido</a:t>
            </a:r>
            <a:endParaRPr sz="1300" dirty="0">
              <a:solidFill>
                <a:srgbClr val="000000"/>
              </a:solidFill>
              <a:latin typeface="Calibri"/>
            </a:endParaRPr>
          </a:p>
        </p:txBody>
      </p:sp>
      <p:sp>
        <p:nvSpPr>
          <p:cNvPr id="23" name="Rectangle 22"/>
          <p:cNvSpPr/>
          <p:nvPr/>
        </p:nvSpPr>
        <p:spPr>
          <a:xfrm>
            <a:off x="6126480" y="5669280"/>
            <a:ext cx="5669280" cy="219456"/>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17920" y="5623560"/>
            <a:ext cx="5486400" cy="307777"/>
          </a:xfrm>
          <a:prstGeom prst="rect">
            <a:avLst/>
          </a:prstGeom>
          <a:noFill/>
        </p:spPr>
        <p:txBody>
          <a:bodyPr wrap="square">
            <a:spAutoFit/>
          </a:bodyPr>
          <a:lstStyle/>
          <a:p>
            <a:pPr algn="l"/>
            <a:r>
              <a:rPr sz="1400" b="1" i="0" dirty="0">
                <a:solidFill>
                  <a:srgbClr val="FFFFFF"/>
                </a:solidFill>
                <a:latin typeface="Calibri"/>
              </a:rPr>
              <a:t>Overhead de </a:t>
            </a:r>
            <a:r>
              <a:rPr sz="1400" b="1" i="0" dirty="0" err="1">
                <a:solidFill>
                  <a:srgbClr val="FFFFFF"/>
                </a:solidFill>
                <a:latin typeface="Calibri"/>
              </a:rPr>
              <a:t>comunicación</a:t>
            </a:r>
            <a:r>
              <a:rPr sz="1400" b="1" i="0" dirty="0">
                <a:solidFill>
                  <a:srgbClr val="FFFFFF"/>
                </a:solidFill>
                <a:latin typeface="Calibri"/>
              </a:rPr>
              <a:t> </a:t>
            </a:r>
            <a:r>
              <a:rPr sz="1400" b="1" i="0" dirty="0" err="1">
                <a:solidFill>
                  <a:srgbClr val="FFFFFF"/>
                </a:solidFill>
                <a:latin typeface="Calibri"/>
              </a:rPr>
              <a:t>en</a:t>
            </a:r>
            <a:r>
              <a:rPr sz="1400" b="1" i="0" dirty="0">
                <a:solidFill>
                  <a:srgbClr val="FFFFFF"/>
                </a:solidFill>
                <a:latin typeface="Calibri"/>
              </a:rPr>
              <a:t> MPI</a:t>
            </a:r>
          </a:p>
        </p:txBody>
      </p:sp>
      <p:sp>
        <p:nvSpPr>
          <p:cNvPr id="25" name="TextBox 24"/>
          <p:cNvSpPr txBox="1"/>
          <p:nvPr/>
        </p:nvSpPr>
        <p:spPr>
          <a:xfrm>
            <a:off x="6126480" y="5916168"/>
            <a:ext cx="5669280" cy="530915"/>
          </a:xfrm>
          <a:prstGeom prst="rect">
            <a:avLst/>
          </a:prstGeom>
          <a:noFill/>
        </p:spPr>
        <p:txBody>
          <a:bodyPr wrap="square">
            <a:spAutoFit/>
          </a:bodyPr>
          <a:lstStyle/>
          <a:p>
            <a:pPr>
              <a:spcBef>
                <a:spcPts val="300"/>
              </a:spcBef>
            </a:pPr>
            <a:r>
              <a:rPr sz="1300" dirty="0">
                <a:solidFill>
                  <a:srgbClr val="000000"/>
                </a:solidFill>
                <a:latin typeface="Calibri"/>
              </a:rPr>
              <a:t>• </a:t>
            </a:r>
            <a:r>
              <a:rPr sz="1300" dirty="0" err="1">
                <a:solidFill>
                  <a:srgbClr val="000000"/>
                </a:solidFill>
                <a:latin typeface="Calibri"/>
              </a:rPr>
              <a:t>Sendrecv</a:t>
            </a:r>
            <a:r>
              <a:rPr sz="1300" dirty="0">
                <a:solidFill>
                  <a:srgbClr val="000000"/>
                </a:solidFill>
                <a:latin typeface="Calibri"/>
              </a:rPr>
              <a:t> </a:t>
            </a:r>
            <a:r>
              <a:rPr sz="1300" dirty="0" err="1">
                <a:solidFill>
                  <a:srgbClr val="000000"/>
                </a:solidFill>
                <a:latin typeface="Calibri"/>
              </a:rPr>
              <a:t>bloquea</a:t>
            </a:r>
            <a:r>
              <a:rPr sz="1300" dirty="0">
                <a:solidFill>
                  <a:srgbClr val="000000"/>
                </a:solidFill>
                <a:latin typeface="Calibri"/>
              </a:rPr>
              <a:t> hasta </a:t>
            </a:r>
            <a:r>
              <a:rPr sz="1300" dirty="0" err="1">
                <a:solidFill>
                  <a:srgbClr val="000000"/>
                </a:solidFill>
                <a:latin typeface="Calibri"/>
              </a:rPr>
              <a:t>recibir</a:t>
            </a:r>
            <a:r>
              <a:rPr sz="1300" dirty="0">
                <a:solidFill>
                  <a:srgbClr val="000000"/>
                </a:solidFill>
                <a:latin typeface="Calibri"/>
              </a:rPr>
              <a:t> la fila del </a:t>
            </a:r>
            <a:r>
              <a:rPr sz="1300" dirty="0" err="1">
                <a:solidFill>
                  <a:srgbClr val="000000"/>
                </a:solidFill>
                <a:latin typeface="Calibri"/>
              </a:rPr>
              <a:t>vecino</a:t>
            </a:r>
            <a:r>
              <a:rPr sz="1300" dirty="0">
                <a:solidFill>
                  <a:srgbClr val="000000"/>
                </a:solidFill>
                <a:latin typeface="Calibri"/>
              </a:rPr>
              <a:t> → </a:t>
            </a:r>
            <a:r>
              <a:rPr sz="1300" dirty="0" err="1">
                <a:solidFill>
                  <a:srgbClr val="000000"/>
                </a:solidFill>
                <a:latin typeface="Calibri"/>
              </a:rPr>
              <a:t>latencia</a:t>
            </a:r>
            <a:r>
              <a:rPr sz="1300" dirty="0">
                <a:solidFill>
                  <a:srgbClr val="000000"/>
                </a:solidFill>
                <a:latin typeface="Calibri"/>
              </a:rPr>
              <a:t> de red/IPC</a:t>
            </a:r>
          </a:p>
          <a:p>
            <a:pPr>
              <a:spcBef>
                <a:spcPts val="300"/>
              </a:spcBef>
            </a:pPr>
            <a:r>
              <a:rPr sz="1300" dirty="0">
                <a:solidFill>
                  <a:srgbClr val="000000"/>
                </a:solidFill>
                <a:latin typeface="Calibri"/>
              </a:rPr>
              <a:t>• Con 8 </a:t>
            </a:r>
            <a:r>
              <a:rPr sz="1300" dirty="0" err="1">
                <a:solidFill>
                  <a:srgbClr val="000000"/>
                </a:solidFill>
                <a:latin typeface="Calibri"/>
              </a:rPr>
              <a:t>procesos</a:t>
            </a:r>
            <a:r>
              <a:rPr sz="1300" dirty="0">
                <a:solidFill>
                  <a:srgbClr val="000000"/>
                </a:solidFill>
                <a:latin typeface="Calibri"/>
              </a:rPr>
              <a:t> locales </a:t>
            </a:r>
            <a:r>
              <a:rPr sz="1300" dirty="0" err="1">
                <a:solidFill>
                  <a:srgbClr val="000000"/>
                </a:solidFill>
                <a:latin typeface="Calibri"/>
              </a:rPr>
              <a:t>el</a:t>
            </a:r>
            <a:r>
              <a:rPr sz="1300" dirty="0">
                <a:solidFill>
                  <a:srgbClr val="000000"/>
                </a:solidFill>
                <a:latin typeface="Calibri"/>
              </a:rPr>
              <a:t> overhead es bajo; </a:t>
            </a:r>
            <a:r>
              <a:rPr sz="1300" dirty="0" err="1">
                <a:solidFill>
                  <a:srgbClr val="000000"/>
                </a:solidFill>
                <a:latin typeface="Calibri"/>
              </a:rPr>
              <a:t>en</a:t>
            </a:r>
            <a:r>
              <a:rPr sz="1300" dirty="0">
                <a:solidFill>
                  <a:srgbClr val="000000"/>
                </a:solidFill>
                <a:latin typeface="Calibri"/>
              </a:rPr>
              <a:t> </a:t>
            </a:r>
            <a:r>
              <a:rPr sz="1300" dirty="0" err="1">
                <a:solidFill>
                  <a:srgbClr val="000000"/>
                </a:solidFill>
                <a:latin typeface="Calibri"/>
              </a:rPr>
              <a:t>clúster</a:t>
            </a:r>
            <a:r>
              <a:rPr sz="1300" dirty="0">
                <a:solidFill>
                  <a:srgbClr val="000000"/>
                </a:solidFill>
                <a:latin typeface="Calibri"/>
              </a:rPr>
              <a:t> </a:t>
            </a:r>
            <a:r>
              <a:rPr sz="1300" dirty="0" err="1">
                <a:solidFill>
                  <a:srgbClr val="000000"/>
                </a:solidFill>
                <a:latin typeface="Calibri"/>
              </a:rPr>
              <a:t>aumenta</a:t>
            </a:r>
            <a:r>
              <a:rPr sz="1300" dirty="0">
                <a:solidFill>
                  <a:srgbClr val="000000"/>
                </a:solidFill>
                <a:latin typeface="Calibri"/>
              </a:rPr>
              <a:t> </a:t>
            </a:r>
            <a:r>
              <a:rPr sz="1300" dirty="0" err="1">
                <a:solidFill>
                  <a:srgbClr val="000000"/>
                </a:solidFill>
                <a:latin typeface="Calibri"/>
              </a:rPr>
              <a:t>según</a:t>
            </a:r>
            <a:r>
              <a:rPr sz="1300" dirty="0">
                <a:solidFill>
                  <a:srgbClr val="000000"/>
                </a:solidFill>
                <a:latin typeface="Calibri"/>
              </a:rPr>
              <a:t> la red</a:t>
            </a:r>
          </a:p>
        </p:txBody>
      </p:sp>
      <p:sp>
        <p:nvSpPr>
          <p:cNvPr id="26" name="Rectangle 25">
            <a:hlinkClick r:id="rId3"/>
          </p:cNvPr>
          <p:cNvSpPr/>
          <p:nvPr/>
        </p:nvSpPr>
        <p:spPr>
          <a:xfrm>
            <a:off x="3291840" y="6474515"/>
            <a:ext cx="5577840" cy="292608"/>
          </a:xfrm>
          <a:prstGeom prst="rect">
            <a:avLst/>
          </a:prstGeom>
          <a:solidFill>
            <a:srgbClr val="2E74B5"/>
          </a:solidFill>
          <a:ln w="6350">
            <a:solidFill>
              <a:srgbClr val="1F3564"/>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dirty="0">
                <a:solidFill>
                  <a:srgbClr val="FFFFFF"/>
                </a:solidFill>
                <a:latin typeface="Calibri"/>
              </a:rPr>
              <a:t>Ver V4_mpi.cpp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7899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12880" cy="658368"/>
          </a:xfrm>
          <a:prstGeom prst="rect">
            <a:avLst/>
          </a:prstGeom>
          <a:noFill/>
        </p:spPr>
        <p:txBody>
          <a:bodyPr wrap="square">
            <a:spAutoFit/>
          </a:bodyPr>
          <a:lstStyle/>
          <a:p>
            <a:pPr algn="l"/>
            <a:r>
              <a:rPr sz="2600" b="1" i="0">
                <a:solidFill>
                  <a:srgbClr val="FFFFFF"/>
                </a:solidFill>
                <a:latin typeface="Calibri"/>
              </a:rPr>
              <a:t>V5 — MPI + OpenMP: Técnicas Combinadas</a:t>
            </a:r>
          </a:p>
        </p:txBody>
      </p:sp>
      <p:sp>
        <p:nvSpPr>
          <p:cNvPr id="4" name="TextBox 3"/>
          <p:cNvSpPr txBox="1"/>
          <p:nvPr/>
        </p:nvSpPr>
        <p:spPr>
          <a:xfrm>
            <a:off x="274320" y="713232"/>
            <a:ext cx="11612880" cy="329184"/>
          </a:xfrm>
          <a:prstGeom prst="rect">
            <a:avLst/>
          </a:prstGeom>
          <a:noFill/>
        </p:spPr>
        <p:txBody>
          <a:bodyPr wrap="square">
            <a:spAutoFit/>
          </a:bodyPr>
          <a:lstStyle/>
          <a:p>
            <a:pPr algn="l"/>
            <a:r>
              <a:rPr sz="1200" b="0" i="0">
                <a:solidFill>
                  <a:srgbClr val="D6E4F7"/>
                </a:solidFill>
                <a:latin typeface="Calibri"/>
              </a:rPr>
              <a:t>Código C++ implementado vs. ensamblador generado por el compilador (-O2 -fopenmp)</a:t>
            </a:r>
          </a:p>
        </p:txBody>
      </p:sp>
      <p:sp>
        <p:nvSpPr>
          <p:cNvPr id="5" name="Rectangle 4"/>
          <p:cNvSpPr/>
          <p:nvPr/>
        </p:nvSpPr>
        <p:spPr>
          <a:xfrm>
            <a:off x="365760" y="1170432"/>
            <a:ext cx="5577840" cy="256032"/>
          </a:xfrm>
          <a:prstGeom prst="rect">
            <a:avLst/>
          </a:prstGeom>
          <a:solidFill>
            <a:srgbClr val="008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20624" y="1144559"/>
            <a:ext cx="5431536" cy="307777"/>
          </a:xfrm>
          <a:prstGeom prst="rect">
            <a:avLst/>
          </a:prstGeom>
          <a:noFill/>
        </p:spPr>
        <p:txBody>
          <a:bodyPr wrap="square">
            <a:spAutoFit/>
          </a:bodyPr>
          <a:lstStyle/>
          <a:p>
            <a:pPr algn="l"/>
            <a:r>
              <a:rPr sz="1400" b="1" i="0" dirty="0">
                <a:solidFill>
                  <a:srgbClr val="FFFFFF"/>
                </a:solidFill>
                <a:latin typeface="Calibri"/>
              </a:rPr>
              <a:t>✔  Código </a:t>
            </a:r>
            <a:r>
              <a:rPr sz="1400" b="1" i="0" dirty="0" err="1">
                <a:solidFill>
                  <a:srgbClr val="FFFFFF"/>
                </a:solidFill>
                <a:latin typeface="Calibri"/>
              </a:rPr>
              <a:t>Implementado</a:t>
            </a:r>
            <a:r>
              <a:rPr sz="1400" b="1" i="0" dirty="0">
                <a:solidFill>
                  <a:srgbClr val="FFFFFF"/>
                </a:solidFill>
                <a:latin typeface="Calibri"/>
              </a:rPr>
              <a:t> (C++)</a:t>
            </a:r>
          </a:p>
        </p:txBody>
      </p:sp>
      <p:sp>
        <p:nvSpPr>
          <p:cNvPr id="7" name="Rectangle 6"/>
          <p:cNvSpPr/>
          <p:nvPr/>
        </p:nvSpPr>
        <p:spPr>
          <a:xfrm>
            <a:off x="365760" y="1444752"/>
            <a:ext cx="5577840" cy="4297680"/>
          </a:xfrm>
          <a:prstGeom prst="rect">
            <a:avLst/>
          </a:prstGeom>
          <a:solidFill>
            <a:srgbClr val="1E1E2E"/>
          </a:solidFill>
          <a:ln w="9525">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517904"/>
            <a:ext cx="4354077" cy="4162678"/>
          </a:xfrm>
          <a:prstGeom prst="rect">
            <a:avLst/>
          </a:prstGeom>
          <a:noFill/>
        </p:spPr>
        <p:txBody>
          <a:bodyPr wrap="none">
            <a:spAutoFit/>
          </a:bodyPr>
          <a:lstStyle/>
          <a:p>
            <a:pPr>
              <a:spcBef>
                <a:spcPts val="0"/>
              </a:spcBef>
              <a:spcAft>
                <a:spcPts val="0"/>
              </a:spcAft>
            </a:pPr>
            <a:r>
              <a:rPr sz="1150" dirty="0">
                <a:solidFill>
                  <a:srgbClr val="CBD2E0"/>
                </a:solidFill>
                <a:latin typeface="Consolas"/>
              </a:rPr>
              <a:t>// 2 </a:t>
            </a:r>
            <a:r>
              <a:rPr sz="1150" dirty="0" err="1">
                <a:solidFill>
                  <a:srgbClr val="CBD2E0"/>
                </a:solidFill>
                <a:latin typeface="Consolas"/>
              </a:rPr>
              <a:t>hilos</a:t>
            </a:r>
            <a:r>
              <a:rPr sz="1150" dirty="0">
                <a:solidFill>
                  <a:srgbClr val="CBD2E0"/>
                </a:solidFill>
                <a:latin typeface="Consolas"/>
              </a:rPr>
              <a:t> OMP </a:t>
            </a:r>
            <a:r>
              <a:rPr sz="1150" dirty="0" err="1">
                <a:solidFill>
                  <a:srgbClr val="CBD2E0"/>
                </a:solidFill>
                <a:latin typeface="Consolas"/>
              </a:rPr>
              <a:t>por</a:t>
            </a:r>
            <a:r>
              <a:rPr sz="1150" dirty="0">
                <a:solidFill>
                  <a:srgbClr val="CBD2E0"/>
                </a:solidFill>
                <a:latin typeface="Consolas"/>
              </a:rPr>
              <a:t> </a:t>
            </a:r>
            <a:r>
              <a:rPr sz="1150" dirty="0" err="1">
                <a:solidFill>
                  <a:srgbClr val="CBD2E0"/>
                </a:solidFill>
                <a:latin typeface="Consolas"/>
              </a:rPr>
              <a:t>proceso</a:t>
            </a:r>
            <a:r>
              <a:rPr sz="1150" dirty="0">
                <a:solidFill>
                  <a:srgbClr val="CBD2E0"/>
                </a:solidFill>
                <a:latin typeface="Consolas"/>
              </a:rPr>
              <a:t> MPI (</a:t>
            </a:r>
            <a:r>
              <a:rPr sz="1150" dirty="0" err="1">
                <a:solidFill>
                  <a:srgbClr val="CBD2E0"/>
                </a:solidFill>
                <a:latin typeface="Consolas"/>
              </a:rPr>
              <a:t>ajustado</a:t>
            </a:r>
            <a:r>
              <a:rPr sz="1150" dirty="0">
                <a:solidFill>
                  <a:srgbClr val="CBD2E0"/>
                </a:solidFill>
                <a:latin typeface="Consolas"/>
              </a:rPr>
              <a:t> al HW)</a:t>
            </a:r>
          </a:p>
          <a:p>
            <a:pPr>
              <a:spcBef>
                <a:spcPts val="0"/>
              </a:spcBef>
              <a:spcAft>
                <a:spcPts val="0"/>
              </a:spcAft>
            </a:pPr>
            <a:r>
              <a:rPr sz="1150" dirty="0">
                <a:solidFill>
                  <a:srgbClr val="CBD2E0"/>
                </a:solidFill>
                <a:latin typeface="Consolas"/>
              </a:rPr>
              <a:t>const int THREADS_POR_PROCESO = 2;</a:t>
            </a:r>
          </a:p>
          <a:p>
            <a:pPr>
              <a:spcBef>
                <a:spcPts val="0"/>
              </a:spcBef>
              <a:spcAft>
                <a:spcPts val="0"/>
              </a:spcAft>
            </a:pPr>
            <a:r>
              <a:rPr sz="1150" dirty="0" err="1">
                <a:solidFill>
                  <a:srgbClr val="CBD2E0"/>
                </a:solidFill>
                <a:latin typeface="Consolas"/>
              </a:rPr>
              <a:t>omp_set_num_threads</a:t>
            </a:r>
            <a:r>
              <a:rPr sz="1150" dirty="0">
                <a:solidFill>
                  <a:srgbClr val="CBD2E0"/>
                </a:solidFill>
                <a:latin typeface="Consolas"/>
              </a:rPr>
              <a:t>(THREADS_POR_PROCESO);</a:t>
            </a:r>
          </a:p>
          <a:p>
            <a:pPr>
              <a:spcBef>
                <a:spcPts val="0"/>
              </a:spcBef>
              <a:spcAft>
                <a:spcPts val="0"/>
              </a:spcAft>
            </a:pPr>
            <a:endParaRPr sz="1150" dirty="0">
              <a:solidFill>
                <a:srgbClr val="CBD2E0"/>
              </a:solidFill>
              <a:latin typeface="Consolas"/>
            </a:endParaRPr>
          </a:p>
          <a:p>
            <a:pPr>
              <a:spcBef>
                <a:spcPts val="0"/>
              </a:spcBef>
              <a:spcAft>
                <a:spcPts val="0"/>
              </a:spcAft>
            </a:pPr>
            <a:r>
              <a:rPr sz="1150" dirty="0">
                <a:solidFill>
                  <a:srgbClr val="CBD2E0"/>
                </a:solidFill>
                <a:latin typeface="Consolas"/>
              </a:rPr>
              <a:t>// MPI </a:t>
            </a:r>
            <a:r>
              <a:rPr sz="1150" dirty="0" err="1">
                <a:solidFill>
                  <a:srgbClr val="CBD2E0"/>
                </a:solidFill>
                <a:latin typeface="Consolas"/>
              </a:rPr>
              <a:t>distribuye</a:t>
            </a:r>
            <a:r>
              <a:rPr sz="1150" dirty="0">
                <a:solidFill>
                  <a:srgbClr val="CBD2E0"/>
                </a:solidFill>
                <a:latin typeface="Consolas"/>
              </a:rPr>
              <a:t> </a:t>
            </a:r>
            <a:r>
              <a:rPr sz="1150" dirty="0" err="1">
                <a:solidFill>
                  <a:srgbClr val="CBD2E0"/>
                </a:solidFill>
                <a:latin typeface="Consolas"/>
              </a:rPr>
              <a:t>bloques</a:t>
            </a:r>
            <a:r>
              <a:rPr sz="1150" dirty="0">
                <a:solidFill>
                  <a:srgbClr val="CBD2E0"/>
                </a:solidFill>
                <a:latin typeface="Consolas"/>
              </a:rPr>
              <a:t> de </a:t>
            </a:r>
            <a:r>
              <a:rPr sz="1150" dirty="0" err="1">
                <a:solidFill>
                  <a:srgbClr val="CBD2E0"/>
                </a:solidFill>
                <a:latin typeface="Consolas"/>
              </a:rPr>
              <a:t>filas</a:t>
            </a:r>
            <a:r>
              <a:rPr sz="1150" dirty="0">
                <a:solidFill>
                  <a:srgbClr val="CBD2E0"/>
                </a:solidFill>
                <a:latin typeface="Consolas"/>
              </a:rPr>
              <a:t> entre </a:t>
            </a:r>
            <a:r>
              <a:rPr sz="1150" dirty="0" err="1">
                <a:solidFill>
                  <a:srgbClr val="CBD2E0"/>
                </a:solidFill>
                <a:latin typeface="Consolas"/>
              </a:rPr>
              <a:t>procesos</a:t>
            </a:r>
            <a:endParaRPr sz="1150" dirty="0">
              <a:solidFill>
                <a:srgbClr val="CBD2E0"/>
              </a:solidFill>
              <a:latin typeface="Consolas"/>
            </a:endParaRPr>
          </a:p>
          <a:p>
            <a:pPr>
              <a:spcBef>
                <a:spcPts val="0"/>
              </a:spcBef>
              <a:spcAft>
                <a:spcPts val="0"/>
              </a:spcAft>
            </a:pPr>
            <a:r>
              <a:rPr sz="1150" dirty="0">
                <a:solidFill>
                  <a:srgbClr val="CBD2E0"/>
                </a:solidFill>
                <a:latin typeface="Consolas"/>
              </a:rPr>
              <a:t>// OMP </a:t>
            </a:r>
            <a:r>
              <a:rPr sz="1150" dirty="0" err="1">
                <a:solidFill>
                  <a:srgbClr val="CBD2E0"/>
                </a:solidFill>
                <a:latin typeface="Consolas"/>
              </a:rPr>
              <a:t>paraleliza</a:t>
            </a:r>
            <a:r>
              <a:rPr sz="1150" dirty="0">
                <a:solidFill>
                  <a:srgbClr val="CBD2E0"/>
                </a:solidFill>
                <a:latin typeface="Consolas"/>
              </a:rPr>
              <a:t> </a:t>
            </a:r>
            <a:r>
              <a:rPr sz="1150" dirty="0" err="1">
                <a:solidFill>
                  <a:srgbClr val="CBD2E0"/>
                </a:solidFill>
                <a:latin typeface="Consolas"/>
              </a:rPr>
              <a:t>el</a:t>
            </a:r>
            <a:r>
              <a:rPr sz="1150" dirty="0">
                <a:solidFill>
                  <a:srgbClr val="CBD2E0"/>
                </a:solidFill>
                <a:latin typeface="Consolas"/>
              </a:rPr>
              <a:t> </a:t>
            </a:r>
            <a:r>
              <a:rPr sz="1150" dirty="0" err="1">
                <a:solidFill>
                  <a:srgbClr val="CBD2E0"/>
                </a:solidFill>
                <a:latin typeface="Consolas"/>
              </a:rPr>
              <a:t>cálculo</a:t>
            </a:r>
            <a:r>
              <a:rPr sz="1150" dirty="0">
                <a:solidFill>
                  <a:srgbClr val="CBD2E0"/>
                </a:solidFill>
                <a:latin typeface="Consolas"/>
              </a:rPr>
              <a:t> </a:t>
            </a:r>
            <a:r>
              <a:rPr sz="1150" dirty="0" err="1">
                <a:solidFill>
                  <a:srgbClr val="CBD2E0"/>
                </a:solidFill>
                <a:latin typeface="Consolas"/>
              </a:rPr>
              <a:t>dentro</a:t>
            </a:r>
            <a:r>
              <a:rPr sz="1150" dirty="0">
                <a:solidFill>
                  <a:srgbClr val="CBD2E0"/>
                </a:solidFill>
                <a:latin typeface="Consolas"/>
              </a:rPr>
              <a:t> de </a:t>
            </a:r>
            <a:r>
              <a:rPr sz="1150" dirty="0" err="1">
                <a:solidFill>
                  <a:srgbClr val="CBD2E0"/>
                </a:solidFill>
                <a:latin typeface="Consolas"/>
              </a:rPr>
              <a:t>cada</a:t>
            </a:r>
            <a:r>
              <a:rPr sz="1150" dirty="0">
                <a:solidFill>
                  <a:srgbClr val="CBD2E0"/>
                </a:solidFill>
                <a:latin typeface="Consolas"/>
              </a:rPr>
              <a:t> </a:t>
            </a:r>
            <a:r>
              <a:rPr sz="1150" dirty="0" err="1">
                <a:solidFill>
                  <a:srgbClr val="CBD2E0"/>
                </a:solidFill>
                <a:latin typeface="Consolas"/>
              </a:rPr>
              <a:t>proceso</a:t>
            </a:r>
            <a:endParaRPr sz="1150" dirty="0">
              <a:solidFill>
                <a:srgbClr val="CBD2E0"/>
              </a:solidFill>
              <a:latin typeface="Consolas"/>
            </a:endParaRPr>
          </a:p>
          <a:p>
            <a:pPr>
              <a:spcBef>
                <a:spcPts val="0"/>
              </a:spcBef>
              <a:spcAft>
                <a:spcPts val="0"/>
              </a:spcAft>
            </a:pPr>
            <a:endParaRPr sz="1150" dirty="0">
              <a:solidFill>
                <a:srgbClr val="CBD2E0"/>
              </a:solidFill>
              <a:latin typeface="Consolas"/>
            </a:endParaRPr>
          </a:p>
          <a:p>
            <a:pPr>
              <a:spcBef>
                <a:spcPts val="0"/>
              </a:spcBef>
              <a:spcAft>
                <a:spcPts val="0"/>
              </a:spcAft>
            </a:pPr>
            <a:r>
              <a:rPr sz="1150" dirty="0">
                <a:solidFill>
                  <a:srgbClr val="CBD2E0"/>
                </a:solidFill>
                <a:latin typeface="Consolas"/>
              </a:rPr>
              <a:t>#pragma </a:t>
            </a:r>
            <a:r>
              <a:rPr sz="1150" dirty="0" err="1">
                <a:solidFill>
                  <a:srgbClr val="CBD2E0"/>
                </a:solidFill>
                <a:latin typeface="Consolas"/>
              </a:rPr>
              <a:t>omp</a:t>
            </a:r>
            <a:r>
              <a:rPr sz="1150" dirty="0">
                <a:solidFill>
                  <a:srgbClr val="CBD2E0"/>
                </a:solidFill>
                <a:latin typeface="Consolas"/>
              </a:rPr>
              <a:t> parallel for schedule(static)</a:t>
            </a:r>
          </a:p>
          <a:p>
            <a:pPr>
              <a:spcBef>
                <a:spcPts val="0"/>
              </a:spcBef>
              <a:spcAft>
                <a:spcPts val="0"/>
              </a:spcAft>
            </a:pPr>
            <a:r>
              <a:rPr sz="1150" dirty="0">
                <a:solidFill>
                  <a:srgbClr val="CBD2E0"/>
                </a:solidFill>
                <a:latin typeface="Consolas"/>
              </a:rPr>
              <a:t>for (int </a:t>
            </a:r>
            <a:r>
              <a:rPr sz="1150" dirty="0" err="1">
                <a:solidFill>
                  <a:srgbClr val="CBD2E0"/>
                </a:solidFill>
                <a:latin typeface="Consolas"/>
              </a:rPr>
              <a:t>i</a:t>
            </a:r>
            <a:r>
              <a:rPr sz="1150" dirty="0">
                <a:solidFill>
                  <a:srgbClr val="CBD2E0"/>
                </a:solidFill>
                <a:latin typeface="Consolas"/>
              </a:rPr>
              <a:t>=</a:t>
            </a:r>
            <a:r>
              <a:rPr sz="1150" dirty="0" err="1">
                <a:solidFill>
                  <a:srgbClr val="CBD2E0"/>
                </a:solidFill>
                <a:latin typeface="Consolas"/>
              </a:rPr>
              <a:t>primeraFila</a:t>
            </a:r>
            <a:r>
              <a:rPr sz="1150" dirty="0">
                <a:solidFill>
                  <a:srgbClr val="CBD2E0"/>
                </a:solidFill>
                <a:latin typeface="Consolas"/>
              </a:rPr>
              <a:t>; </a:t>
            </a:r>
            <a:r>
              <a:rPr sz="1150" dirty="0" err="1">
                <a:solidFill>
                  <a:srgbClr val="CBD2E0"/>
                </a:solidFill>
                <a:latin typeface="Consolas"/>
              </a:rPr>
              <a:t>i</a:t>
            </a:r>
            <a:r>
              <a:rPr sz="1150" dirty="0">
                <a:solidFill>
                  <a:srgbClr val="CBD2E0"/>
                </a:solidFill>
                <a:latin typeface="Consolas"/>
              </a:rPr>
              <a:t>&lt;=</a:t>
            </a:r>
            <a:r>
              <a:rPr sz="1150" dirty="0" err="1">
                <a:solidFill>
                  <a:srgbClr val="CBD2E0"/>
                </a:solidFill>
                <a:latin typeface="Consolas"/>
              </a:rPr>
              <a:t>ultimaFila</a:t>
            </a:r>
            <a:r>
              <a:rPr sz="1150" dirty="0">
                <a:solidFill>
                  <a:srgbClr val="CBD2E0"/>
                </a:solidFill>
                <a:latin typeface="Consolas"/>
              </a:rPr>
              <a:t>; ++</a:t>
            </a:r>
            <a:r>
              <a:rPr sz="1150" dirty="0" err="1">
                <a:solidFill>
                  <a:srgbClr val="CBD2E0"/>
                </a:solidFill>
                <a:latin typeface="Consolas"/>
              </a:rPr>
              <a:t>i</a:t>
            </a:r>
            <a:r>
              <a:rPr sz="1150" dirty="0">
                <a:solidFill>
                  <a:srgbClr val="CBD2E0"/>
                </a:solidFill>
                <a:latin typeface="Consolas"/>
              </a:rPr>
              <a:t>) {</a:t>
            </a:r>
          </a:p>
          <a:p>
            <a:pPr>
              <a:spcBef>
                <a:spcPts val="0"/>
              </a:spcBef>
              <a:spcAft>
                <a:spcPts val="0"/>
              </a:spcAft>
            </a:pPr>
            <a:r>
              <a:rPr sz="1150" dirty="0">
                <a:solidFill>
                  <a:srgbClr val="CBD2E0"/>
                </a:solidFill>
                <a:latin typeface="Consolas"/>
              </a:rPr>
              <a:t>    // Cada </a:t>
            </a:r>
            <a:r>
              <a:rPr sz="1150" dirty="0" err="1">
                <a:solidFill>
                  <a:srgbClr val="CBD2E0"/>
                </a:solidFill>
                <a:latin typeface="Consolas"/>
              </a:rPr>
              <a:t>hilo</a:t>
            </a:r>
            <a:r>
              <a:rPr sz="1150" dirty="0">
                <a:solidFill>
                  <a:srgbClr val="CBD2E0"/>
                </a:solidFill>
                <a:latin typeface="Consolas"/>
              </a:rPr>
              <a:t> </a:t>
            </a:r>
            <a:r>
              <a:rPr sz="1150" dirty="0" err="1">
                <a:solidFill>
                  <a:srgbClr val="CBD2E0"/>
                </a:solidFill>
                <a:latin typeface="Consolas"/>
              </a:rPr>
              <a:t>calcula</a:t>
            </a:r>
            <a:r>
              <a:rPr sz="1150" dirty="0">
                <a:solidFill>
                  <a:srgbClr val="CBD2E0"/>
                </a:solidFill>
                <a:latin typeface="Consolas"/>
              </a:rPr>
              <a:t> un </a:t>
            </a:r>
            <a:r>
              <a:rPr sz="1150" dirty="0" err="1">
                <a:solidFill>
                  <a:srgbClr val="CBD2E0"/>
                </a:solidFill>
                <a:latin typeface="Consolas"/>
              </a:rPr>
              <a:t>subconjunto</a:t>
            </a:r>
            <a:r>
              <a:rPr sz="1150" dirty="0">
                <a:solidFill>
                  <a:srgbClr val="CBD2E0"/>
                </a:solidFill>
                <a:latin typeface="Consolas"/>
              </a:rPr>
              <a:t> de </a:t>
            </a:r>
            <a:r>
              <a:rPr sz="1150" dirty="0" err="1">
                <a:solidFill>
                  <a:srgbClr val="CBD2E0"/>
                </a:solidFill>
                <a:latin typeface="Consolas"/>
              </a:rPr>
              <a:t>filas</a:t>
            </a:r>
            <a:endParaRPr sz="1150" dirty="0">
              <a:solidFill>
                <a:srgbClr val="CBD2E0"/>
              </a:solidFill>
              <a:latin typeface="Consolas"/>
            </a:endParaRPr>
          </a:p>
          <a:p>
            <a:pPr>
              <a:spcBef>
                <a:spcPts val="0"/>
              </a:spcBef>
              <a:spcAft>
                <a:spcPts val="0"/>
              </a:spcAft>
            </a:pPr>
            <a:r>
              <a:rPr sz="1150" dirty="0">
                <a:solidFill>
                  <a:srgbClr val="CBD2E0"/>
                </a:solidFill>
                <a:latin typeface="Consolas"/>
              </a:rPr>
              <a:t>    // de la </a:t>
            </a:r>
            <a:r>
              <a:rPr sz="1150" dirty="0" err="1">
                <a:solidFill>
                  <a:srgbClr val="CBD2E0"/>
                </a:solidFill>
                <a:latin typeface="Consolas"/>
              </a:rPr>
              <a:t>porción</a:t>
            </a:r>
            <a:r>
              <a:rPr sz="1150" dirty="0">
                <a:solidFill>
                  <a:srgbClr val="CBD2E0"/>
                </a:solidFill>
                <a:latin typeface="Consolas"/>
              </a:rPr>
              <a:t> local del </a:t>
            </a:r>
            <a:r>
              <a:rPr sz="1150" dirty="0" err="1">
                <a:solidFill>
                  <a:srgbClr val="CBD2E0"/>
                </a:solidFill>
                <a:latin typeface="Consolas"/>
              </a:rPr>
              <a:t>proceso</a:t>
            </a:r>
            <a:r>
              <a:rPr sz="1150" dirty="0">
                <a:solidFill>
                  <a:srgbClr val="CBD2E0"/>
                </a:solidFill>
                <a:latin typeface="Consolas"/>
              </a:rPr>
              <a:t> MPI</a:t>
            </a:r>
          </a:p>
          <a:p>
            <a:pPr>
              <a:spcBef>
                <a:spcPts val="0"/>
              </a:spcBef>
              <a:spcAft>
                <a:spcPts val="0"/>
              </a:spcAft>
            </a:pPr>
            <a:r>
              <a:rPr sz="1150" dirty="0">
                <a:solidFill>
                  <a:srgbClr val="CBD2E0"/>
                </a:solidFill>
                <a:latin typeface="Consolas"/>
              </a:rPr>
              <a:t>}</a:t>
            </a:r>
          </a:p>
          <a:p>
            <a:pPr>
              <a:spcBef>
                <a:spcPts val="0"/>
              </a:spcBef>
              <a:spcAft>
                <a:spcPts val="0"/>
              </a:spcAft>
            </a:pPr>
            <a:endParaRPr sz="1150" dirty="0">
              <a:solidFill>
                <a:srgbClr val="CBD2E0"/>
              </a:solidFill>
              <a:latin typeface="Consolas"/>
            </a:endParaRPr>
          </a:p>
          <a:p>
            <a:pPr>
              <a:spcBef>
                <a:spcPts val="0"/>
              </a:spcBef>
              <a:spcAft>
                <a:spcPts val="0"/>
              </a:spcAft>
            </a:pPr>
            <a:r>
              <a:rPr sz="1150" dirty="0">
                <a:solidFill>
                  <a:srgbClr val="CBD2E0"/>
                </a:solidFill>
                <a:latin typeface="Consolas"/>
              </a:rPr>
              <a:t>// </a:t>
            </a:r>
            <a:r>
              <a:rPr sz="1150" dirty="0" err="1">
                <a:solidFill>
                  <a:srgbClr val="CBD2E0"/>
                </a:solidFill>
                <a:latin typeface="Consolas"/>
              </a:rPr>
              <a:t>Conteo</a:t>
            </a:r>
            <a:r>
              <a:rPr sz="1150" dirty="0">
                <a:solidFill>
                  <a:srgbClr val="CBD2E0"/>
                </a:solidFill>
                <a:latin typeface="Consolas"/>
              </a:rPr>
              <a:t> local también </a:t>
            </a:r>
            <a:r>
              <a:rPr sz="1150" dirty="0" err="1">
                <a:solidFill>
                  <a:srgbClr val="CBD2E0"/>
                </a:solidFill>
                <a:latin typeface="Consolas"/>
              </a:rPr>
              <a:t>paralelo</a:t>
            </a:r>
            <a:endParaRPr sz="1150" dirty="0">
              <a:solidFill>
                <a:srgbClr val="CBD2E0"/>
              </a:solidFill>
              <a:latin typeface="Consolas"/>
            </a:endParaRPr>
          </a:p>
          <a:p>
            <a:pPr>
              <a:spcBef>
                <a:spcPts val="0"/>
              </a:spcBef>
              <a:spcAft>
                <a:spcPts val="0"/>
              </a:spcAft>
            </a:pPr>
            <a:r>
              <a:rPr sz="1150" dirty="0">
                <a:solidFill>
                  <a:srgbClr val="CBD2E0"/>
                </a:solidFill>
                <a:latin typeface="Consolas"/>
              </a:rPr>
              <a:t>#pragma </a:t>
            </a:r>
            <a:r>
              <a:rPr sz="1150" dirty="0" err="1">
                <a:solidFill>
                  <a:srgbClr val="CBD2E0"/>
                </a:solidFill>
                <a:latin typeface="Consolas"/>
              </a:rPr>
              <a:t>omp</a:t>
            </a:r>
            <a:r>
              <a:rPr sz="1150" dirty="0">
                <a:solidFill>
                  <a:srgbClr val="CBD2E0"/>
                </a:solidFill>
                <a:latin typeface="Consolas"/>
              </a:rPr>
              <a:t> parallel for reduction(+:total) \</a:t>
            </a:r>
          </a:p>
          <a:p>
            <a:pPr>
              <a:spcBef>
                <a:spcPts val="0"/>
              </a:spcBef>
              <a:spcAft>
                <a:spcPts val="0"/>
              </a:spcAft>
            </a:pPr>
            <a:r>
              <a:rPr sz="1150" dirty="0">
                <a:solidFill>
                  <a:srgbClr val="CBD2E0"/>
                </a:solidFill>
                <a:latin typeface="Consolas"/>
              </a:rPr>
              <a:t>        schedule(static)</a:t>
            </a:r>
          </a:p>
          <a:p>
            <a:pPr>
              <a:spcBef>
                <a:spcPts val="0"/>
              </a:spcBef>
              <a:spcAft>
                <a:spcPts val="0"/>
              </a:spcAft>
            </a:pPr>
            <a:r>
              <a:rPr sz="1150" dirty="0">
                <a:solidFill>
                  <a:srgbClr val="CBD2E0"/>
                </a:solidFill>
                <a:latin typeface="Consolas"/>
              </a:rPr>
              <a:t>for (int </a:t>
            </a:r>
            <a:r>
              <a:rPr sz="1150" dirty="0" err="1">
                <a:solidFill>
                  <a:srgbClr val="CBD2E0"/>
                </a:solidFill>
                <a:latin typeface="Consolas"/>
              </a:rPr>
              <a:t>i</a:t>
            </a:r>
            <a:r>
              <a:rPr sz="1150" dirty="0">
                <a:solidFill>
                  <a:srgbClr val="CBD2E0"/>
                </a:solidFill>
                <a:latin typeface="Consolas"/>
              </a:rPr>
              <a:t> = 1; </a:t>
            </a:r>
            <a:r>
              <a:rPr sz="1150" dirty="0" err="1">
                <a:solidFill>
                  <a:srgbClr val="CBD2E0"/>
                </a:solidFill>
                <a:latin typeface="Consolas"/>
              </a:rPr>
              <a:t>i</a:t>
            </a:r>
            <a:r>
              <a:rPr sz="1150" dirty="0">
                <a:solidFill>
                  <a:srgbClr val="CBD2E0"/>
                </a:solidFill>
                <a:latin typeface="Consolas"/>
              </a:rPr>
              <a:t> &lt;= </a:t>
            </a:r>
            <a:r>
              <a:rPr sz="1150" dirty="0" err="1">
                <a:solidFill>
                  <a:srgbClr val="CBD2E0"/>
                </a:solidFill>
                <a:latin typeface="Consolas"/>
              </a:rPr>
              <a:t>filasLocales</a:t>
            </a:r>
            <a:r>
              <a:rPr sz="1150" dirty="0">
                <a:solidFill>
                  <a:srgbClr val="CBD2E0"/>
                </a:solidFill>
                <a:latin typeface="Consolas"/>
              </a:rPr>
              <a:t>; ++</a:t>
            </a:r>
            <a:r>
              <a:rPr sz="1150" dirty="0" err="1">
                <a:solidFill>
                  <a:srgbClr val="CBD2E0"/>
                </a:solidFill>
                <a:latin typeface="Consolas"/>
              </a:rPr>
              <a:t>i</a:t>
            </a:r>
            <a:r>
              <a:rPr sz="1150" dirty="0">
                <a:solidFill>
                  <a:srgbClr val="CBD2E0"/>
                </a:solidFill>
                <a:latin typeface="Consolas"/>
              </a:rPr>
              <a:t>) {</a:t>
            </a:r>
          </a:p>
          <a:p>
            <a:pPr>
              <a:spcBef>
                <a:spcPts val="0"/>
              </a:spcBef>
              <a:spcAft>
                <a:spcPts val="0"/>
              </a:spcAft>
            </a:pPr>
            <a:r>
              <a:rPr sz="1150" dirty="0">
                <a:solidFill>
                  <a:srgbClr val="CBD2E0"/>
                </a:solidFill>
                <a:latin typeface="Consolas"/>
              </a:rPr>
              <a:t>    int </a:t>
            </a:r>
            <a:r>
              <a:rPr sz="1150" dirty="0" err="1">
                <a:solidFill>
                  <a:srgbClr val="CBD2E0"/>
                </a:solidFill>
                <a:latin typeface="Consolas"/>
              </a:rPr>
              <a:t>sumaFila</a:t>
            </a:r>
            <a:r>
              <a:rPr sz="1150" dirty="0">
                <a:solidFill>
                  <a:srgbClr val="CBD2E0"/>
                </a:solidFill>
                <a:latin typeface="Consolas"/>
              </a:rPr>
              <a:t> = 0;</a:t>
            </a:r>
          </a:p>
          <a:p>
            <a:pPr>
              <a:spcBef>
                <a:spcPts val="0"/>
              </a:spcBef>
              <a:spcAft>
                <a:spcPts val="0"/>
              </a:spcAft>
            </a:pPr>
            <a:r>
              <a:rPr sz="1150" dirty="0">
                <a:solidFill>
                  <a:srgbClr val="CBD2E0"/>
                </a:solidFill>
                <a:latin typeface="Consolas"/>
              </a:rPr>
              <a:t>    for (int j = 0; j &lt; N; ++j)</a:t>
            </a:r>
          </a:p>
          <a:p>
            <a:pPr>
              <a:spcBef>
                <a:spcPts val="0"/>
              </a:spcBef>
              <a:spcAft>
                <a:spcPts val="0"/>
              </a:spcAft>
            </a:pPr>
            <a:r>
              <a:rPr sz="1150" dirty="0">
                <a:solidFill>
                  <a:srgbClr val="CBD2E0"/>
                </a:solidFill>
                <a:latin typeface="Consolas"/>
              </a:rPr>
              <a:t>        </a:t>
            </a:r>
            <a:r>
              <a:rPr sz="1150" dirty="0" err="1">
                <a:solidFill>
                  <a:srgbClr val="CBD2E0"/>
                </a:solidFill>
                <a:latin typeface="Consolas"/>
              </a:rPr>
              <a:t>sumaFila</a:t>
            </a:r>
            <a:r>
              <a:rPr sz="1150" dirty="0">
                <a:solidFill>
                  <a:srgbClr val="CBD2E0"/>
                </a:solidFill>
                <a:latin typeface="Consolas"/>
              </a:rPr>
              <a:t> += </a:t>
            </a:r>
            <a:r>
              <a:rPr sz="1150" dirty="0" err="1">
                <a:solidFill>
                  <a:srgbClr val="CBD2E0"/>
                </a:solidFill>
                <a:latin typeface="Consolas"/>
              </a:rPr>
              <a:t>gridLocal</a:t>
            </a:r>
            <a:r>
              <a:rPr sz="1150" dirty="0">
                <a:solidFill>
                  <a:srgbClr val="CBD2E0"/>
                </a:solidFill>
                <a:latin typeface="Consolas"/>
              </a:rPr>
              <a:t>[</a:t>
            </a:r>
            <a:r>
              <a:rPr sz="1150" dirty="0" err="1">
                <a:solidFill>
                  <a:srgbClr val="CBD2E0"/>
                </a:solidFill>
                <a:latin typeface="Consolas"/>
              </a:rPr>
              <a:t>idx</a:t>
            </a:r>
            <a:r>
              <a:rPr sz="1150" dirty="0">
                <a:solidFill>
                  <a:srgbClr val="CBD2E0"/>
                </a:solidFill>
                <a:latin typeface="Consolas"/>
              </a:rPr>
              <a:t>(</a:t>
            </a:r>
            <a:r>
              <a:rPr sz="1150" dirty="0" err="1">
                <a:solidFill>
                  <a:srgbClr val="CBD2E0"/>
                </a:solidFill>
                <a:latin typeface="Consolas"/>
              </a:rPr>
              <a:t>i,j</a:t>
            </a:r>
            <a:r>
              <a:rPr sz="1150" dirty="0">
                <a:solidFill>
                  <a:srgbClr val="CBD2E0"/>
                </a:solidFill>
                <a:latin typeface="Consolas"/>
              </a:rPr>
              <a:t>)];</a:t>
            </a:r>
          </a:p>
          <a:p>
            <a:pPr>
              <a:spcBef>
                <a:spcPts val="0"/>
              </a:spcBef>
              <a:spcAft>
                <a:spcPts val="0"/>
              </a:spcAft>
            </a:pPr>
            <a:r>
              <a:rPr sz="1150" dirty="0">
                <a:solidFill>
                  <a:srgbClr val="CBD2E0"/>
                </a:solidFill>
                <a:latin typeface="Consolas"/>
              </a:rPr>
              <a:t>    total += </a:t>
            </a:r>
            <a:r>
              <a:rPr sz="1150" dirty="0" err="1">
                <a:solidFill>
                  <a:srgbClr val="CBD2E0"/>
                </a:solidFill>
                <a:latin typeface="Consolas"/>
              </a:rPr>
              <a:t>sumaFila</a:t>
            </a:r>
            <a:r>
              <a:rPr sz="1150" dirty="0">
                <a:solidFill>
                  <a:srgbClr val="CBD2E0"/>
                </a:solidFill>
                <a:latin typeface="Consolas"/>
              </a:rPr>
              <a:t>;</a:t>
            </a:r>
          </a:p>
          <a:p>
            <a:pPr>
              <a:spcBef>
                <a:spcPts val="0"/>
              </a:spcBef>
              <a:spcAft>
                <a:spcPts val="0"/>
              </a:spcAft>
            </a:pPr>
            <a:r>
              <a:rPr sz="1150" dirty="0">
                <a:solidFill>
                  <a:srgbClr val="CBD2E0"/>
                </a:solidFill>
                <a:latin typeface="Consolas"/>
              </a:rPr>
              <a:t>}</a:t>
            </a:r>
          </a:p>
          <a:p>
            <a:pPr>
              <a:spcBef>
                <a:spcPts val="0"/>
              </a:spcBef>
              <a:spcAft>
                <a:spcPts val="0"/>
              </a:spcAft>
            </a:pPr>
            <a:r>
              <a:rPr sz="1150" dirty="0">
                <a:solidFill>
                  <a:srgbClr val="CBD2E0"/>
                </a:solidFill>
                <a:latin typeface="Consolas"/>
              </a:rPr>
              <a:t>// Luego: </a:t>
            </a:r>
            <a:r>
              <a:rPr sz="1150" dirty="0" err="1">
                <a:solidFill>
                  <a:srgbClr val="CBD2E0"/>
                </a:solidFill>
                <a:latin typeface="Consolas"/>
              </a:rPr>
              <a:t>MPI_Reduce</a:t>
            </a:r>
            <a:r>
              <a:rPr sz="1150" dirty="0">
                <a:solidFill>
                  <a:srgbClr val="CBD2E0"/>
                </a:solidFill>
                <a:latin typeface="Consolas"/>
              </a:rPr>
              <a:t> para </a:t>
            </a:r>
            <a:r>
              <a:rPr sz="1150" dirty="0" err="1">
                <a:solidFill>
                  <a:srgbClr val="CBD2E0"/>
                </a:solidFill>
                <a:latin typeface="Consolas"/>
              </a:rPr>
              <a:t>suma</a:t>
            </a:r>
            <a:r>
              <a:rPr sz="1150" dirty="0">
                <a:solidFill>
                  <a:srgbClr val="CBD2E0"/>
                </a:solidFill>
                <a:latin typeface="Consolas"/>
              </a:rPr>
              <a:t> global</a:t>
            </a:r>
          </a:p>
        </p:txBody>
      </p:sp>
      <p:sp>
        <p:nvSpPr>
          <p:cNvPr id="9" name="Rectangle 8"/>
          <p:cNvSpPr/>
          <p:nvPr/>
        </p:nvSpPr>
        <p:spPr>
          <a:xfrm>
            <a:off x="6126480" y="1170432"/>
            <a:ext cx="5669280" cy="27432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7920" y="1153703"/>
            <a:ext cx="5486400" cy="307777"/>
          </a:xfrm>
          <a:prstGeom prst="rect">
            <a:avLst/>
          </a:prstGeom>
          <a:noFill/>
        </p:spPr>
        <p:txBody>
          <a:bodyPr wrap="square">
            <a:spAutoFit/>
          </a:bodyPr>
          <a:lstStyle/>
          <a:p>
            <a:pPr algn="l"/>
            <a:r>
              <a:rPr sz="1400" b="1" i="0" dirty="0" err="1">
                <a:solidFill>
                  <a:srgbClr val="FFFFFF"/>
                </a:solidFill>
                <a:latin typeface="Calibri"/>
              </a:rPr>
              <a:t>Jerarquía</a:t>
            </a:r>
            <a:r>
              <a:rPr sz="1400" b="1" i="0" dirty="0">
                <a:solidFill>
                  <a:srgbClr val="FFFFFF"/>
                </a:solidFill>
                <a:latin typeface="Calibri"/>
              </a:rPr>
              <a:t> de </a:t>
            </a:r>
            <a:r>
              <a:rPr sz="1400" b="1" i="0" dirty="0" err="1">
                <a:solidFill>
                  <a:srgbClr val="FFFFFF"/>
                </a:solidFill>
                <a:latin typeface="Calibri"/>
              </a:rPr>
              <a:t>paralelismo</a:t>
            </a:r>
            <a:r>
              <a:rPr sz="1400" b="1" i="0" dirty="0">
                <a:solidFill>
                  <a:srgbClr val="FFFFFF"/>
                </a:solidFill>
                <a:latin typeface="Calibri"/>
              </a:rPr>
              <a:t>: MPI × OpenMP</a:t>
            </a:r>
          </a:p>
        </p:txBody>
      </p:sp>
      <p:sp>
        <p:nvSpPr>
          <p:cNvPr id="11" name="Rectangle 10"/>
          <p:cNvSpPr/>
          <p:nvPr/>
        </p:nvSpPr>
        <p:spPr>
          <a:xfrm>
            <a:off x="6126480" y="1444752"/>
            <a:ext cx="5669280" cy="4297680"/>
          </a:xfrm>
          <a:prstGeom prst="rect">
            <a:avLst/>
          </a:prstGeom>
          <a:solidFill>
            <a:srgbClr val="F2F2F2"/>
          </a:solidFill>
          <a:ln w="6350">
            <a:solidFill>
              <a:srgbClr val="D6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17920" y="1745792"/>
            <a:ext cx="5486400" cy="307777"/>
          </a:xfrm>
          <a:prstGeom prst="rect">
            <a:avLst/>
          </a:prstGeom>
          <a:noFill/>
        </p:spPr>
        <p:txBody>
          <a:bodyPr wrap="square">
            <a:spAutoFit/>
          </a:bodyPr>
          <a:lstStyle/>
          <a:p>
            <a:pPr algn="l"/>
            <a:r>
              <a:rPr sz="1400" b="1" i="0" dirty="0">
                <a:solidFill>
                  <a:srgbClr val="1F3564"/>
                </a:solidFill>
                <a:latin typeface="Calibri"/>
              </a:rPr>
              <a:t>Nivel 1 — MPI (entre </a:t>
            </a:r>
            <a:r>
              <a:rPr sz="1400" b="1" i="0" dirty="0" err="1">
                <a:solidFill>
                  <a:srgbClr val="1F3564"/>
                </a:solidFill>
                <a:latin typeface="Calibri"/>
              </a:rPr>
              <a:t>procesos</a:t>
            </a:r>
            <a:r>
              <a:rPr sz="1400" b="1" i="0" dirty="0">
                <a:solidFill>
                  <a:srgbClr val="1F3564"/>
                </a:solidFill>
                <a:latin typeface="Calibri"/>
              </a:rPr>
              <a:t>):</a:t>
            </a:r>
          </a:p>
        </p:txBody>
      </p:sp>
      <p:sp>
        <p:nvSpPr>
          <p:cNvPr id="13" name="TextBox 12"/>
          <p:cNvSpPr txBox="1"/>
          <p:nvPr/>
        </p:nvSpPr>
        <p:spPr>
          <a:xfrm>
            <a:off x="6126480" y="2039393"/>
            <a:ext cx="5669280" cy="530915"/>
          </a:xfrm>
          <a:prstGeom prst="rect">
            <a:avLst/>
          </a:prstGeom>
          <a:noFill/>
        </p:spPr>
        <p:txBody>
          <a:bodyPr wrap="square">
            <a:spAutoFit/>
          </a:bodyPr>
          <a:lstStyle/>
          <a:p>
            <a:pPr>
              <a:spcBef>
                <a:spcPts val="300"/>
              </a:spcBef>
            </a:pPr>
            <a:r>
              <a:t>• MPI reparte bloques de filas entre procesos + 2 filas fantasma</a:t>
            </a:r>
            <a:endParaRPr sz="1300" dirty="0">
              <a:solidFill>
                <a:srgbClr val="000000"/>
              </a:solidFill>
              <a:latin typeface="Calibri"/>
            </a:endParaRPr>
          </a:p>
          <a:p>
            <a:pPr>
              <a:spcBef>
                <a:spcPts val="300"/>
              </a:spcBef>
            </a:pPr>
            <a:r>
              <a:rPr sz="1300" dirty="0">
                <a:solidFill>
                  <a:srgbClr val="000000"/>
                </a:solidFill>
                <a:latin typeface="Calibri"/>
              </a:rPr>
              <a:t>• </a:t>
            </a:r>
            <a:r>
              <a:rPr sz="1300" dirty="0" err="1">
                <a:solidFill>
                  <a:srgbClr val="000000"/>
                </a:solidFill>
                <a:latin typeface="Calibri"/>
              </a:rPr>
              <a:t>MPI_Sendrecv</a:t>
            </a:r>
            <a:r>
              <a:rPr sz="1300" dirty="0">
                <a:solidFill>
                  <a:srgbClr val="000000"/>
                </a:solidFill>
                <a:latin typeface="Calibri"/>
              </a:rPr>
              <a:t> </a:t>
            </a:r>
            <a:r>
              <a:rPr sz="1300" dirty="0" err="1">
                <a:solidFill>
                  <a:srgbClr val="000000"/>
                </a:solidFill>
                <a:latin typeface="Calibri"/>
              </a:rPr>
              <a:t>intercambia</a:t>
            </a:r>
            <a:r>
              <a:rPr sz="1300" dirty="0">
                <a:solidFill>
                  <a:srgbClr val="000000"/>
                </a:solidFill>
                <a:latin typeface="Calibri"/>
              </a:rPr>
              <a:t> </a:t>
            </a:r>
            <a:r>
              <a:rPr sz="1300" dirty="0" err="1">
                <a:solidFill>
                  <a:srgbClr val="000000"/>
                </a:solidFill>
                <a:latin typeface="Calibri"/>
              </a:rPr>
              <a:t>filas</a:t>
            </a:r>
            <a:r>
              <a:rPr sz="1300" dirty="0">
                <a:solidFill>
                  <a:srgbClr val="000000"/>
                </a:solidFill>
                <a:latin typeface="Calibri"/>
              </a:rPr>
              <a:t> de </a:t>
            </a:r>
            <a:r>
              <a:rPr sz="1300" dirty="0" err="1">
                <a:solidFill>
                  <a:srgbClr val="000000"/>
                </a:solidFill>
                <a:latin typeface="Calibri"/>
              </a:rPr>
              <a:t>borde</a:t>
            </a:r>
            <a:r>
              <a:rPr sz="1300" dirty="0">
                <a:solidFill>
                  <a:srgbClr val="000000"/>
                </a:solidFill>
                <a:latin typeface="Calibri"/>
              </a:rPr>
              <a:t> entre </a:t>
            </a:r>
            <a:r>
              <a:rPr sz="1300" dirty="0" err="1">
                <a:solidFill>
                  <a:srgbClr val="000000"/>
                </a:solidFill>
                <a:latin typeface="Calibri"/>
              </a:rPr>
              <a:t>procesos</a:t>
            </a:r>
            <a:r>
              <a:rPr sz="1300" dirty="0">
                <a:solidFill>
                  <a:srgbClr val="000000"/>
                </a:solidFill>
                <a:latin typeface="Calibri"/>
              </a:rPr>
              <a:t> </a:t>
            </a:r>
            <a:r>
              <a:rPr sz="1300" dirty="0" err="1">
                <a:solidFill>
                  <a:srgbClr val="000000"/>
                </a:solidFill>
                <a:latin typeface="Calibri"/>
              </a:rPr>
              <a:t>vecinos</a:t>
            </a:r>
            <a:endParaRPr sz="1300" dirty="0">
              <a:solidFill>
                <a:srgbClr val="000000"/>
              </a:solidFill>
              <a:latin typeface="Calibri"/>
            </a:endParaRPr>
          </a:p>
        </p:txBody>
      </p:sp>
      <p:sp>
        <p:nvSpPr>
          <p:cNvPr id="14" name="TextBox 13"/>
          <p:cNvSpPr txBox="1"/>
          <p:nvPr/>
        </p:nvSpPr>
        <p:spPr>
          <a:xfrm>
            <a:off x="6217920" y="2670462"/>
            <a:ext cx="5486400" cy="307777"/>
          </a:xfrm>
          <a:prstGeom prst="rect">
            <a:avLst/>
          </a:prstGeom>
          <a:noFill/>
        </p:spPr>
        <p:txBody>
          <a:bodyPr wrap="square">
            <a:spAutoFit/>
          </a:bodyPr>
          <a:lstStyle/>
          <a:p>
            <a:pPr algn="l"/>
            <a:r>
              <a:rPr sz="1400" b="1" i="0" dirty="0">
                <a:solidFill>
                  <a:srgbClr val="1F3564"/>
                </a:solidFill>
                <a:latin typeface="Calibri"/>
              </a:rPr>
              <a:t>Nivel 2 — OpenMP (</a:t>
            </a:r>
            <a:r>
              <a:rPr sz="1400" b="1" i="0" dirty="0" err="1">
                <a:solidFill>
                  <a:srgbClr val="1F3564"/>
                </a:solidFill>
                <a:latin typeface="Calibri"/>
              </a:rPr>
              <a:t>dentro</a:t>
            </a:r>
            <a:r>
              <a:rPr sz="1400" b="1" i="0" dirty="0">
                <a:solidFill>
                  <a:srgbClr val="1F3564"/>
                </a:solidFill>
                <a:latin typeface="Calibri"/>
              </a:rPr>
              <a:t> de </a:t>
            </a:r>
            <a:r>
              <a:rPr sz="1400" b="1" i="0" dirty="0" err="1">
                <a:solidFill>
                  <a:srgbClr val="1F3564"/>
                </a:solidFill>
                <a:latin typeface="Calibri"/>
              </a:rPr>
              <a:t>cada</a:t>
            </a:r>
            <a:r>
              <a:rPr sz="1400" b="1" i="0" dirty="0">
                <a:solidFill>
                  <a:srgbClr val="1F3564"/>
                </a:solidFill>
                <a:latin typeface="Calibri"/>
              </a:rPr>
              <a:t> </a:t>
            </a:r>
            <a:r>
              <a:rPr sz="1400" b="1" i="0" dirty="0" err="1">
                <a:solidFill>
                  <a:srgbClr val="1F3564"/>
                </a:solidFill>
                <a:latin typeface="Calibri"/>
              </a:rPr>
              <a:t>proceso</a:t>
            </a:r>
            <a:r>
              <a:rPr sz="1400" b="1" i="0" dirty="0">
                <a:solidFill>
                  <a:srgbClr val="1F3564"/>
                </a:solidFill>
                <a:latin typeface="Calibri"/>
              </a:rPr>
              <a:t>):</a:t>
            </a:r>
          </a:p>
        </p:txBody>
      </p:sp>
      <p:sp>
        <p:nvSpPr>
          <p:cNvPr id="15" name="TextBox 14"/>
          <p:cNvSpPr txBox="1"/>
          <p:nvPr/>
        </p:nvSpPr>
        <p:spPr>
          <a:xfrm>
            <a:off x="6126480" y="2978239"/>
            <a:ext cx="5669280" cy="730969"/>
          </a:xfrm>
          <a:prstGeom prst="rect">
            <a:avLst/>
          </a:prstGeom>
          <a:noFill/>
        </p:spPr>
        <p:txBody>
          <a:bodyPr wrap="square">
            <a:spAutoFit/>
          </a:bodyPr>
          <a:lstStyle/>
          <a:p>
            <a:pPr>
              <a:spcBef>
                <a:spcPts val="300"/>
              </a:spcBef>
            </a:pPr>
            <a:r>
              <a:t>• 2 hilos OMP/proceso → cada hilo calcula parte del bloque local</a:t>
            </a:r>
          </a:p>
          <a:p>
            <a:pPr>
              <a:spcBef>
                <a:spcPts val="300"/>
              </a:spcBef>
            </a:pPr>
            <a:r>
              <a:t>• THREADS_POR_PROCESO=2: configuración fija para comparar local y clúster</a:t>
            </a:r>
          </a:p>
        </p:txBody>
      </p:sp>
      <p:sp>
        <p:nvSpPr>
          <p:cNvPr id="16" name="TextBox 15"/>
          <p:cNvSpPr txBox="1"/>
          <p:nvPr/>
        </p:nvSpPr>
        <p:spPr>
          <a:xfrm>
            <a:off x="6217920" y="3781907"/>
            <a:ext cx="5486400" cy="307777"/>
          </a:xfrm>
          <a:prstGeom prst="rect">
            <a:avLst/>
          </a:prstGeom>
          <a:noFill/>
        </p:spPr>
        <p:txBody>
          <a:bodyPr wrap="square">
            <a:spAutoFit/>
          </a:bodyPr>
          <a:lstStyle/>
          <a:p>
            <a:pPr algn="l"/>
            <a:r>
              <a:t>Local: 8 proc. × 2 hilos = 16 unidades de ejecución</a:t>
            </a:r>
            <a:endParaRPr sz="1400" b="1" i="0" dirty="0">
              <a:solidFill>
                <a:srgbClr val="008240"/>
              </a:solidFill>
              <a:latin typeface="Calibri"/>
            </a:endParaRPr>
          </a:p>
        </p:txBody>
      </p:sp>
      <p:sp>
        <p:nvSpPr>
          <p:cNvPr id="17" name="TextBox 16"/>
          <p:cNvSpPr txBox="1"/>
          <p:nvPr/>
        </p:nvSpPr>
        <p:spPr>
          <a:xfrm>
            <a:off x="6126480" y="4106696"/>
            <a:ext cx="5669280" cy="1169551"/>
          </a:xfrm>
          <a:prstGeom prst="rect">
            <a:avLst/>
          </a:prstGeom>
          <a:noFill/>
        </p:spPr>
        <p:txBody>
          <a:bodyPr wrap="square">
            <a:spAutoFit/>
          </a:bodyPr>
          <a:lstStyle/>
          <a:p>
            <a:pPr>
              <a:spcBef>
                <a:spcPts val="300"/>
              </a:spcBef>
            </a:pPr>
            <a:r>
              <a:t>• Clúster: 4 proc. × 2 hilos = 8 unidades de ejecución</a:t>
            </a:r>
          </a:p>
          <a:p>
            <a:pPr>
              <a:spcBef>
                <a:spcPts val="300"/>
              </a:spcBef>
            </a:pPr>
            <a:r>
              <a:rPr sz="1300" dirty="0">
                <a:solidFill>
                  <a:srgbClr val="000000"/>
                </a:solidFill>
                <a:latin typeface="Calibri"/>
              </a:rPr>
              <a:t>• V5 local: 10.32× — </a:t>
            </a:r>
            <a:r>
              <a:rPr sz="1300" dirty="0" err="1">
                <a:solidFill>
                  <a:srgbClr val="000000"/>
                </a:solidFill>
                <a:latin typeface="Calibri"/>
              </a:rPr>
              <a:t>mejor</a:t>
            </a:r>
            <a:r>
              <a:rPr sz="1300" dirty="0">
                <a:solidFill>
                  <a:srgbClr val="000000"/>
                </a:solidFill>
                <a:latin typeface="Calibri"/>
              </a:rPr>
              <a:t> </a:t>
            </a:r>
            <a:r>
              <a:rPr sz="1300" dirty="0" err="1">
                <a:solidFill>
                  <a:srgbClr val="000000"/>
                </a:solidFill>
                <a:latin typeface="Calibri"/>
              </a:rPr>
              <a:t>resultado</a:t>
            </a:r>
            <a:r>
              <a:rPr sz="1300" dirty="0">
                <a:solidFill>
                  <a:srgbClr val="000000"/>
                </a:solidFill>
                <a:latin typeface="Calibri"/>
              </a:rPr>
              <a:t> CPU </a:t>
            </a:r>
            <a:r>
              <a:rPr sz="1300" dirty="0" err="1">
                <a:solidFill>
                  <a:srgbClr val="000000"/>
                </a:solidFill>
                <a:latin typeface="Calibri"/>
              </a:rPr>
              <a:t>por</a:t>
            </a:r>
            <a:r>
              <a:rPr sz="1300" dirty="0">
                <a:solidFill>
                  <a:srgbClr val="000000"/>
                </a:solidFill>
                <a:latin typeface="Calibri"/>
              </a:rPr>
              <a:t> </a:t>
            </a:r>
            <a:r>
              <a:rPr sz="1300" dirty="0" err="1">
                <a:solidFill>
                  <a:srgbClr val="000000"/>
                </a:solidFill>
                <a:latin typeface="Calibri"/>
              </a:rPr>
              <a:t>explotar</a:t>
            </a:r>
            <a:r>
              <a:rPr sz="1300" dirty="0">
                <a:solidFill>
                  <a:srgbClr val="000000"/>
                </a:solidFill>
                <a:latin typeface="Calibri"/>
              </a:rPr>
              <a:t> DLP + TLP </a:t>
            </a:r>
            <a:r>
              <a:rPr sz="1300" dirty="0" err="1">
                <a:solidFill>
                  <a:srgbClr val="000000"/>
                </a:solidFill>
                <a:latin typeface="Calibri"/>
              </a:rPr>
              <a:t>simultáneamente</a:t>
            </a:r>
            <a:endParaRPr sz="1300" dirty="0">
              <a:solidFill>
                <a:srgbClr val="000000"/>
              </a:solidFill>
              <a:latin typeface="Calibri"/>
            </a:endParaRPr>
          </a:p>
          <a:p>
            <a:pPr>
              <a:spcBef>
                <a:spcPts val="300"/>
              </a:spcBef>
            </a:pPr>
            <a:r>
              <a:rPr sz="1300" dirty="0">
                <a:solidFill>
                  <a:srgbClr val="000000"/>
                </a:solidFill>
                <a:latin typeface="Calibri"/>
              </a:rPr>
              <a:t>• V5 </a:t>
            </a:r>
            <a:r>
              <a:rPr sz="1300" dirty="0" err="1">
                <a:solidFill>
                  <a:srgbClr val="000000"/>
                </a:solidFill>
                <a:latin typeface="Calibri"/>
              </a:rPr>
              <a:t>clúster</a:t>
            </a:r>
            <a:r>
              <a:rPr sz="1300" dirty="0">
                <a:solidFill>
                  <a:srgbClr val="000000"/>
                </a:solidFill>
                <a:latin typeface="Calibri"/>
              </a:rPr>
              <a:t>: 0.48× — oversubscription </a:t>
            </a:r>
            <a:r>
              <a:rPr sz="1300" dirty="0" err="1">
                <a:solidFill>
                  <a:srgbClr val="000000"/>
                </a:solidFill>
                <a:latin typeface="Calibri"/>
              </a:rPr>
              <a:t>en</a:t>
            </a:r>
            <a:r>
              <a:rPr sz="1300" dirty="0">
                <a:solidFill>
                  <a:srgbClr val="000000"/>
                </a:solidFill>
                <a:latin typeface="Calibri"/>
              </a:rPr>
              <a:t> VMs </a:t>
            </a:r>
            <a:r>
              <a:rPr sz="1300" dirty="0" err="1">
                <a:solidFill>
                  <a:srgbClr val="000000"/>
                </a:solidFill>
                <a:latin typeface="Calibri"/>
              </a:rPr>
              <a:t>invierte</a:t>
            </a:r>
            <a:r>
              <a:rPr sz="1300" dirty="0">
                <a:solidFill>
                  <a:srgbClr val="000000"/>
                </a:solidFill>
                <a:latin typeface="Calibri"/>
              </a:rPr>
              <a:t> la </a:t>
            </a:r>
            <a:r>
              <a:rPr sz="1300" dirty="0" err="1">
                <a:solidFill>
                  <a:srgbClr val="000000"/>
                </a:solidFill>
                <a:latin typeface="Calibri"/>
              </a:rPr>
              <a:t>ganancia</a:t>
            </a:r>
            <a:r>
              <a:rPr sz="1300" dirty="0">
                <a:solidFill>
                  <a:srgbClr val="000000"/>
                </a:solidFill>
                <a:latin typeface="Calibri"/>
              </a:rPr>
              <a:t> (</a:t>
            </a:r>
            <a:r>
              <a:rPr sz="1300" dirty="0" err="1">
                <a:solidFill>
                  <a:srgbClr val="000000"/>
                </a:solidFill>
                <a:latin typeface="Calibri"/>
              </a:rPr>
              <a:t>ver</a:t>
            </a:r>
            <a:r>
              <a:rPr sz="1300" dirty="0">
                <a:solidFill>
                  <a:srgbClr val="000000"/>
                </a:solidFill>
                <a:latin typeface="Calibri"/>
              </a:rPr>
              <a:t> slide </a:t>
            </a:r>
            <a:r>
              <a:rPr sz="1300" dirty="0" err="1">
                <a:solidFill>
                  <a:srgbClr val="000000"/>
                </a:solidFill>
                <a:latin typeface="Calibri"/>
              </a:rPr>
              <a:t>resultados</a:t>
            </a:r>
            <a:r>
              <a:rPr sz="1300" dirty="0">
                <a:solidFill>
                  <a:srgbClr val="000000"/>
                </a:solidFill>
                <a:latin typeface="Calibri"/>
              </a:rPr>
              <a:t>)</a:t>
            </a:r>
          </a:p>
        </p:txBody>
      </p:sp>
      <p:sp>
        <p:nvSpPr>
          <p:cNvPr id="18" name="Rectangle 17"/>
          <p:cNvSpPr/>
          <p:nvPr/>
        </p:nvSpPr>
        <p:spPr>
          <a:xfrm>
            <a:off x="365760" y="5806440"/>
            <a:ext cx="5577840" cy="219456"/>
          </a:xfrm>
          <a:prstGeom prst="rect">
            <a:avLst/>
          </a:prstGeom>
          <a:solidFill>
            <a:srgbClr val="008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5760720"/>
            <a:ext cx="5394960" cy="307777"/>
          </a:xfrm>
          <a:prstGeom prst="rect">
            <a:avLst/>
          </a:prstGeom>
          <a:noFill/>
        </p:spPr>
        <p:txBody>
          <a:bodyPr wrap="square">
            <a:spAutoFit/>
          </a:bodyPr>
          <a:lstStyle/>
          <a:p>
            <a:pPr algn="l"/>
            <a:r>
              <a:rPr sz="1400" b="1" i="0" dirty="0">
                <a:solidFill>
                  <a:srgbClr val="FFFFFF"/>
                </a:solidFill>
                <a:latin typeface="Calibri"/>
              </a:rPr>
              <a:t>✔  </a:t>
            </a:r>
            <a:r>
              <a:rPr sz="1400" b="1" i="0" dirty="0" err="1">
                <a:solidFill>
                  <a:srgbClr val="FFFFFF"/>
                </a:solidFill>
                <a:latin typeface="Calibri"/>
              </a:rPr>
              <a:t>Ventajas</a:t>
            </a:r>
            <a:r>
              <a:rPr sz="1400" b="1" i="0" dirty="0">
                <a:solidFill>
                  <a:srgbClr val="FFFFFF"/>
                </a:solidFill>
                <a:latin typeface="Calibri"/>
              </a:rPr>
              <a:t> clave de V5</a:t>
            </a:r>
          </a:p>
        </p:txBody>
      </p:sp>
      <p:sp>
        <p:nvSpPr>
          <p:cNvPr id="20" name="TextBox 19"/>
          <p:cNvSpPr txBox="1"/>
          <p:nvPr/>
        </p:nvSpPr>
        <p:spPr>
          <a:xfrm>
            <a:off x="365760" y="6053328"/>
            <a:ext cx="5577840" cy="500137"/>
          </a:xfrm>
          <a:prstGeom prst="rect">
            <a:avLst/>
          </a:prstGeom>
          <a:noFill/>
        </p:spPr>
        <p:txBody>
          <a:bodyPr wrap="square">
            <a:spAutoFit/>
          </a:bodyPr>
          <a:lstStyle/>
          <a:p>
            <a:pPr>
              <a:spcBef>
                <a:spcPts val="300"/>
              </a:spcBef>
            </a:pPr>
            <a:r>
              <a:t>• 2 hilos por proceso: evita usar todos los hilos disponibles sin control</a:t>
            </a:r>
            <a:endParaRPr sz="1200" dirty="0">
              <a:solidFill>
                <a:srgbClr val="000000"/>
              </a:solidFill>
              <a:latin typeface="Calibri"/>
            </a:endParaRPr>
          </a:p>
          <a:p>
            <a:pPr>
              <a:spcBef>
                <a:spcPts val="300"/>
              </a:spcBef>
            </a:pPr>
            <a:r>
              <a:rPr sz="1200" dirty="0">
                <a:solidFill>
                  <a:srgbClr val="000000"/>
                </a:solidFill>
                <a:latin typeface="Calibri"/>
              </a:rPr>
              <a:t>• schedule(static) </a:t>
            </a:r>
            <a:r>
              <a:rPr sz="1200" dirty="0" err="1">
                <a:solidFill>
                  <a:srgbClr val="000000"/>
                </a:solidFill>
                <a:latin typeface="Calibri"/>
              </a:rPr>
              <a:t>en</a:t>
            </a:r>
            <a:r>
              <a:rPr sz="1200" dirty="0">
                <a:solidFill>
                  <a:srgbClr val="000000"/>
                </a:solidFill>
                <a:latin typeface="Calibri"/>
              </a:rPr>
              <a:t> OMP: sin overhead de </a:t>
            </a:r>
            <a:r>
              <a:rPr sz="1200" dirty="0" err="1">
                <a:solidFill>
                  <a:srgbClr val="000000"/>
                </a:solidFill>
                <a:latin typeface="Calibri"/>
              </a:rPr>
              <a:t>planificación</a:t>
            </a:r>
            <a:r>
              <a:rPr sz="1200" dirty="0">
                <a:solidFill>
                  <a:srgbClr val="000000"/>
                </a:solidFill>
                <a:latin typeface="Calibri"/>
              </a:rPr>
              <a:t> </a:t>
            </a:r>
            <a:r>
              <a:rPr sz="1200" dirty="0" err="1">
                <a:solidFill>
                  <a:srgbClr val="000000"/>
                </a:solidFill>
                <a:latin typeface="Calibri"/>
              </a:rPr>
              <a:t>dinámica</a:t>
            </a:r>
            <a:r>
              <a:rPr sz="1200" dirty="0">
                <a:solidFill>
                  <a:srgbClr val="000000"/>
                </a:solidFill>
                <a:latin typeface="Calibri"/>
              </a:rPr>
              <a:t> (carga </a:t>
            </a:r>
            <a:r>
              <a:rPr sz="1200" dirty="0" err="1">
                <a:solidFill>
                  <a:srgbClr val="000000"/>
                </a:solidFill>
                <a:latin typeface="Calibri"/>
              </a:rPr>
              <a:t>uniforme</a:t>
            </a:r>
            <a:r>
              <a:rPr sz="1200" dirty="0">
                <a:solidFill>
                  <a:srgbClr val="000000"/>
                </a:solidFill>
                <a:latin typeface="Calibri"/>
              </a:rPr>
              <a:t>)</a:t>
            </a:r>
          </a:p>
        </p:txBody>
      </p:sp>
      <p:sp>
        <p:nvSpPr>
          <p:cNvPr id="21" name="Rectangle 20"/>
          <p:cNvSpPr/>
          <p:nvPr/>
        </p:nvSpPr>
        <p:spPr>
          <a:xfrm>
            <a:off x="6126480" y="5806440"/>
            <a:ext cx="5669280" cy="219456"/>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17920" y="5751505"/>
            <a:ext cx="5486400" cy="307777"/>
          </a:xfrm>
          <a:prstGeom prst="rect">
            <a:avLst/>
          </a:prstGeom>
          <a:noFill/>
        </p:spPr>
        <p:txBody>
          <a:bodyPr wrap="square">
            <a:spAutoFit/>
          </a:bodyPr>
          <a:lstStyle/>
          <a:p>
            <a:pPr algn="l"/>
            <a:r>
              <a:rPr sz="1400" b="1" i="0" dirty="0" err="1">
                <a:solidFill>
                  <a:srgbClr val="FFFFFF"/>
                </a:solidFill>
                <a:latin typeface="Calibri"/>
              </a:rPr>
              <a:t>Condición</a:t>
            </a:r>
            <a:r>
              <a:rPr sz="1400" b="1" i="0" dirty="0">
                <a:solidFill>
                  <a:srgbClr val="FFFFFF"/>
                </a:solidFill>
                <a:latin typeface="Calibri"/>
              </a:rPr>
              <a:t> para </a:t>
            </a:r>
            <a:r>
              <a:rPr sz="1400" b="1" i="0" dirty="0" err="1">
                <a:solidFill>
                  <a:srgbClr val="FFFFFF"/>
                </a:solidFill>
                <a:latin typeface="Calibri"/>
              </a:rPr>
              <a:t>que</a:t>
            </a:r>
            <a:r>
              <a:rPr sz="1400" b="1" i="0" dirty="0">
                <a:solidFill>
                  <a:srgbClr val="FFFFFF"/>
                </a:solidFill>
                <a:latin typeface="Calibri"/>
              </a:rPr>
              <a:t> V5 </a:t>
            </a:r>
            <a:r>
              <a:rPr sz="1400" b="1" i="0" dirty="0" err="1">
                <a:solidFill>
                  <a:srgbClr val="FFFFFF"/>
                </a:solidFill>
                <a:latin typeface="Calibri"/>
              </a:rPr>
              <a:t>supere</a:t>
            </a:r>
            <a:r>
              <a:rPr sz="1400" b="1" i="0" dirty="0">
                <a:solidFill>
                  <a:srgbClr val="FFFFFF"/>
                </a:solidFill>
                <a:latin typeface="Calibri"/>
              </a:rPr>
              <a:t> a V4</a:t>
            </a:r>
          </a:p>
        </p:txBody>
      </p:sp>
      <p:sp>
        <p:nvSpPr>
          <p:cNvPr id="23" name="TextBox 22"/>
          <p:cNvSpPr txBox="1"/>
          <p:nvPr/>
        </p:nvSpPr>
        <p:spPr>
          <a:xfrm>
            <a:off x="6126480" y="6053328"/>
            <a:ext cx="5669280" cy="500137"/>
          </a:xfrm>
          <a:prstGeom prst="rect">
            <a:avLst/>
          </a:prstGeom>
          <a:noFill/>
        </p:spPr>
        <p:txBody>
          <a:bodyPr wrap="square">
            <a:spAutoFit/>
          </a:bodyPr>
          <a:lstStyle/>
          <a:p>
            <a:pPr>
              <a:spcBef>
                <a:spcPts val="300"/>
              </a:spcBef>
            </a:pPr>
            <a:r>
              <a:t>• En la plataforma local, V5 superó a V4; en el clúster virtualizado no</a:t>
            </a:r>
            <a:endParaRPr sz="1200" dirty="0">
              <a:solidFill>
                <a:srgbClr val="000000"/>
              </a:solidFill>
              <a:latin typeface="Calibri"/>
            </a:endParaRPr>
          </a:p>
          <a:p>
            <a:pPr>
              <a:spcBef>
                <a:spcPts val="300"/>
              </a:spcBef>
            </a:pPr>
            <a:r>
              <a:rPr sz="1200" dirty="0">
                <a:solidFill>
                  <a:srgbClr val="000000"/>
                </a:solidFill>
                <a:latin typeface="Calibri"/>
              </a:rPr>
              <a:t>• VMs con cores </a:t>
            </a:r>
            <a:r>
              <a:rPr sz="1200" dirty="0" err="1">
                <a:solidFill>
                  <a:srgbClr val="000000"/>
                </a:solidFill>
                <a:latin typeface="Calibri"/>
              </a:rPr>
              <a:t>virtualizados</a:t>
            </a:r>
            <a:r>
              <a:rPr sz="1200" dirty="0">
                <a:solidFill>
                  <a:srgbClr val="000000"/>
                </a:solidFill>
                <a:latin typeface="Calibri"/>
              </a:rPr>
              <a:t> </a:t>
            </a:r>
            <a:r>
              <a:rPr sz="1200" dirty="0" err="1">
                <a:solidFill>
                  <a:srgbClr val="000000"/>
                </a:solidFill>
                <a:latin typeface="Calibri"/>
              </a:rPr>
              <a:t>compartidos</a:t>
            </a:r>
            <a:r>
              <a:rPr sz="1200" dirty="0">
                <a:solidFill>
                  <a:srgbClr val="000000"/>
                </a:solidFill>
                <a:latin typeface="Calibri"/>
              </a:rPr>
              <a:t>: </a:t>
            </a:r>
            <a:r>
              <a:rPr sz="1200" dirty="0" err="1">
                <a:solidFill>
                  <a:srgbClr val="000000"/>
                </a:solidFill>
                <a:latin typeface="Calibri"/>
              </a:rPr>
              <a:t>el</a:t>
            </a:r>
            <a:r>
              <a:rPr sz="1200" dirty="0">
                <a:solidFill>
                  <a:srgbClr val="000000"/>
                </a:solidFill>
                <a:latin typeface="Calibri"/>
              </a:rPr>
              <a:t> scheduler </a:t>
            </a:r>
            <a:r>
              <a:rPr sz="1200" dirty="0" err="1">
                <a:solidFill>
                  <a:srgbClr val="000000"/>
                </a:solidFill>
                <a:latin typeface="Calibri"/>
              </a:rPr>
              <a:t>penaliza</a:t>
            </a:r>
            <a:r>
              <a:rPr sz="1200" dirty="0">
                <a:solidFill>
                  <a:srgbClr val="000000"/>
                </a:solidFill>
                <a:latin typeface="Calibri"/>
              </a:rPr>
              <a:t> </a:t>
            </a:r>
            <a:r>
              <a:rPr sz="1200" dirty="0" err="1">
                <a:solidFill>
                  <a:srgbClr val="000000"/>
                </a:solidFill>
                <a:latin typeface="Calibri"/>
              </a:rPr>
              <a:t>el</a:t>
            </a:r>
            <a:r>
              <a:rPr sz="1200" dirty="0">
                <a:solidFill>
                  <a:srgbClr val="000000"/>
                </a:solidFill>
                <a:latin typeface="Calibri"/>
              </a:rPr>
              <a:t> doble </a:t>
            </a:r>
            <a:r>
              <a:rPr sz="1200" dirty="0" err="1">
                <a:solidFill>
                  <a:srgbClr val="000000"/>
                </a:solidFill>
                <a:latin typeface="Calibri"/>
              </a:rPr>
              <a:t>nivel</a:t>
            </a:r>
            <a:endParaRPr sz="1200" dirty="0">
              <a:solidFill>
                <a:srgbClr val="000000"/>
              </a:solidFill>
              <a:latin typeface="Calibri"/>
            </a:endParaRPr>
          </a:p>
        </p:txBody>
      </p:sp>
      <p:sp>
        <p:nvSpPr>
          <p:cNvPr id="24" name="Rectangle 23">
            <a:hlinkClick r:id="rId3"/>
          </p:cNvPr>
          <p:cNvSpPr/>
          <p:nvPr/>
        </p:nvSpPr>
        <p:spPr>
          <a:xfrm>
            <a:off x="3273425" y="6584706"/>
            <a:ext cx="5577840" cy="231383"/>
          </a:xfrm>
          <a:prstGeom prst="rect">
            <a:avLst/>
          </a:prstGeom>
          <a:solidFill>
            <a:srgbClr val="2E74B5"/>
          </a:solidFill>
          <a:ln w="6350">
            <a:solidFill>
              <a:srgbClr val="1F3564"/>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dirty="0">
                <a:solidFill>
                  <a:srgbClr val="FFFFFF"/>
                </a:solidFill>
                <a:latin typeface="Calibri"/>
              </a:rPr>
              <a:t>Ver V5_hibrida_mpi_openmp.cpp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7899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12880" cy="658368"/>
          </a:xfrm>
          <a:prstGeom prst="rect">
            <a:avLst/>
          </a:prstGeom>
          <a:noFill/>
        </p:spPr>
        <p:txBody>
          <a:bodyPr wrap="square">
            <a:spAutoFit/>
          </a:bodyPr>
          <a:lstStyle/>
          <a:p>
            <a:pPr algn="l"/>
            <a:r>
              <a:rPr sz="2600" b="1" i="0">
                <a:solidFill>
                  <a:srgbClr val="FFFFFF"/>
                </a:solidFill>
                <a:latin typeface="Calibri"/>
              </a:rPr>
              <a:t>V6 — CUDA: Paralelismo Masivo GPU</a:t>
            </a:r>
          </a:p>
        </p:txBody>
      </p:sp>
      <p:sp>
        <p:nvSpPr>
          <p:cNvPr id="4" name="TextBox 3"/>
          <p:cNvSpPr txBox="1"/>
          <p:nvPr/>
        </p:nvSpPr>
        <p:spPr>
          <a:xfrm>
            <a:off x="274320" y="713232"/>
            <a:ext cx="11612880" cy="329184"/>
          </a:xfrm>
          <a:prstGeom prst="rect">
            <a:avLst/>
          </a:prstGeom>
          <a:noFill/>
        </p:spPr>
        <p:txBody>
          <a:bodyPr wrap="square">
            <a:spAutoFit/>
          </a:bodyPr>
          <a:lstStyle/>
          <a:p>
            <a:pPr algn="l"/>
            <a:r>
              <a:rPr sz="1200" b="0" i="0">
                <a:solidFill>
                  <a:srgbClr val="D6E4F7"/>
                </a:solidFill>
                <a:latin typeface="Calibri"/>
              </a:rPr>
              <a:t>Código CUDA implementado vs. PTX generado por nvcc -O2 (assembly de GPU)</a:t>
            </a:r>
          </a:p>
        </p:txBody>
      </p:sp>
      <p:sp>
        <p:nvSpPr>
          <p:cNvPr id="5" name="Rectangle 4"/>
          <p:cNvSpPr/>
          <p:nvPr/>
        </p:nvSpPr>
        <p:spPr>
          <a:xfrm>
            <a:off x="365760" y="1170432"/>
            <a:ext cx="5577840" cy="256032"/>
          </a:xfrm>
          <a:prstGeom prst="rect">
            <a:avLst/>
          </a:prstGeom>
          <a:solidFill>
            <a:srgbClr val="008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38912" y="1144559"/>
            <a:ext cx="5431536" cy="307777"/>
          </a:xfrm>
          <a:prstGeom prst="rect">
            <a:avLst/>
          </a:prstGeom>
          <a:noFill/>
        </p:spPr>
        <p:txBody>
          <a:bodyPr wrap="square">
            <a:spAutoFit/>
          </a:bodyPr>
          <a:lstStyle/>
          <a:p>
            <a:pPr algn="l"/>
            <a:r>
              <a:rPr sz="1400" b="1" i="0" dirty="0">
                <a:solidFill>
                  <a:srgbClr val="FFFFFF"/>
                </a:solidFill>
                <a:latin typeface="Calibri"/>
              </a:rPr>
              <a:t>✔  Código </a:t>
            </a:r>
            <a:r>
              <a:rPr sz="1400" b="1" i="0" dirty="0" err="1">
                <a:solidFill>
                  <a:srgbClr val="FFFFFF"/>
                </a:solidFill>
                <a:latin typeface="Calibri"/>
              </a:rPr>
              <a:t>Implementado</a:t>
            </a:r>
            <a:r>
              <a:rPr sz="1400" b="1" i="0" dirty="0">
                <a:solidFill>
                  <a:srgbClr val="FFFFFF"/>
                </a:solidFill>
                <a:latin typeface="Calibri"/>
              </a:rPr>
              <a:t> (CUDA C++)</a:t>
            </a:r>
          </a:p>
        </p:txBody>
      </p:sp>
      <p:sp>
        <p:nvSpPr>
          <p:cNvPr id="7" name="Rectangle 6"/>
          <p:cNvSpPr/>
          <p:nvPr/>
        </p:nvSpPr>
        <p:spPr>
          <a:xfrm>
            <a:off x="365760" y="1444752"/>
            <a:ext cx="5577840" cy="4343400"/>
          </a:xfrm>
          <a:prstGeom prst="rect">
            <a:avLst/>
          </a:prstGeom>
          <a:solidFill>
            <a:srgbClr val="1E1E2E"/>
          </a:solidFill>
          <a:ln w="9525">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517904"/>
            <a:ext cx="4166525" cy="4131900"/>
          </a:xfrm>
          <a:prstGeom prst="rect">
            <a:avLst/>
          </a:prstGeom>
          <a:noFill/>
        </p:spPr>
        <p:txBody>
          <a:bodyPr wrap="none">
            <a:spAutoFit/>
          </a:bodyPr>
          <a:lstStyle/>
          <a:p>
            <a:pPr>
              <a:spcBef>
                <a:spcPts val="0"/>
              </a:spcBef>
              <a:spcAft>
                <a:spcPts val="0"/>
              </a:spcAft>
            </a:pPr>
            <a:r>
              <a:rPr sz="1050" dirty="0">
                <a:solidFill>
                  <a:srgbClr val="CBD2E0"/>
                </a:solidFill>
                <a:latin typeface="Consolas"/>
              </a:rPr>
              <a:t>__global__ void </a:t>
            </a:r>
            <a:r>
              <a:rPr sz="1050" dirty="0" err="1">
                <a:solidFill>
                  <a:srgbClr val="CBD2E0"/>
                </a:solidFill>
                <a:latin typeface="Consolas"/>
              </a:rPr>
              <a:t>calcularSiguienteGeneracionCUDA</a:t>
            </a:r>
            <a:r>
              <a:rPr sz="1050" dirty="0">
                <a:solidFill>
                  <a:srgbClr val="CBD2E0"/>
                </a:solidFill>
                <a:latin typeface="Consolas"/>
              </a:rPr>
              <a:t>(</a:t>
            </a:r>
          </a:p>
          <a:p>
            <a:pPr>
              <a:spcBef>
                <a:spcPts val="0"/>
              </a:spcBef>
              <a:spcAft>
                <a:spcPts val="0"/>
              </a:spcAft>
            </a:pPr>
            <a:r>
              <a:rPr sz="1050" dirty="0">
                <a:solidFill>
                  <a:srgbClr val="CBD2E0"/>
                </a:solidFill>
                <a:latin typeface="Consolas"/>
              </a:rPr>
              <a:t>        const int* actual, int* </a:t>
            </a:r>
            <a:r>
              <a:rPr sz="1050" dirty="0" err="1">
                <a:solidFill>
                  <a:srgbClr val="CBD2E0"/>
                </a:solidFill>
                <a:latin typeface="Consolas"/>
              </a:rPr>
              <a:t>siguiente</a:t>
            </a:r>
            <a:r>
              <a:rPr sz="1050" dirty="0">
                <a:solidFill>
                  <a:srgbClr val="CBD2E0"/>
                </a:solidFill>
                <a:latin typeface="Consolas"/>
              </a:rPr>
              <a:t>) {</a:t>
            </a:r>
          </a:p>
          <a:p>
            <a:pPr>
              <a:spcBef>
                <a:spcPts val="0"/>
              </a:spcBef>
              <a:spcAft>
                <a:spcPts val="0"/>
              </a:spcAft>
            </a:pPr>
            <a:r>
              <a:rPr sz="1050" dirty="0">
                <a:solidFill>
                  <a:srgbClr val="CBD2E0"/>
                </a:solidFill>
                <a:latin typeface="Consolas"/>
              </a:rPr>
              <a:t>  int j = </a:t>
            </a:r>
            <a:r>
              <a:rPr sz="1050" dirty="0" err="1">
                <a:solidFill>
                  <a:srgbClr val="CBD2E0"/>
                </a:solidFill>
                <a:latin typeface="Consolas"/>
              </a:rPr>
              <a:t>blockIdx.x</a:t>
            </a:r>
            <a:r>
              <a:rPr sz="1050" dirty="0">
                <a:solidFill>
                  <a:srgbClr val="CBD2E0"/>
                </a:solidFill>
                <a:latin typeface="Consolas"/>
              </a:rPr>
              <a:t>*</a:t>
            </a:r>
            <a:r>
              <a:rPr sz="1050" dirty="0" err="1">
                <a:solidFill>
                  <a:srgbClr val="CBD2E0"/>
                </a:solidFill>
                <a:latin typeface="Consolas"/>
              </a:rPr>
              <a:t>blockDim.x</a:t>
            </a:r>
            <a:r>
              <a:rPr sz="1050" dirty="0">
                <a:solidFill>
                  <a:srgbClr val="CBD2E0"/>
                </a:solidFill>
                <a:latin typeface="Consolas"/>
              </a:rPr>
              <a:t> + </a:t>
            </a:r>
            <a:r>
              <a:rPr sz="1050" dirty="0" err="1">
                <a:solidFill>
                  <a:srgbClr val="CBD2E0"/>
                </a:solidFill>
                <a:latin typeface="Consolas"/>
              </a:rPr>
              <a:t>threadIdx.x</a:t>
            </a:r>
            <a:r>
              <a:rPr sz="1050" dirty="0">
                <a:solidFill>
                  <a:srgbClr val="CBD2E0"/>
                </a:solidFill>
                <a:latin typeface="Consolas"/>
              </a:rPr>
              <a:t>;</a:t>
            </a:r>
          </a:p>
          <a:p>
            <a:pPr>
              <a:spcBef>
                <a:spcPts val="0"/>
              </a:spcBef>
              <a:spcAft>
                <a:spcPts val="0"/>
              </a:spcAft>
            </a:pPr>
            <a:r>
              <a:rPr sz="1050" dirty="0">
                <a:solidFill>
                  <a:srgbClr val="CBD2E0"/>
                </a:solidFill>
                <a:latin typeface="Consolas"/>
              </a:rPr>
              <a:t>  int </a:t>
            </a:r>
            <a:r>
              <a:rPr sz="1050" dirty="0" err="1">
                <a:solidFill>
                  <a:srgbClr val="CBD2E0"/>
                </a:solidFill>
                <a:latin typeface="Consolas"/>
              </a:rPr>
              <a:t>i</a:t>
            </a:r>
            <a:r>
              <a:rPr sz="1050" dirty="0">
                <a:solidFill>
                  <a:srgbClr val="CBD2E0"/>
                </a:solidFill>
                <a:latin typeface="Consolas"/>
              </a:rPr>
              <a:t> = </a:t>
            </a:r>
            <a:r>
              <a:rPr sz="1050" dirty="0" err="1">
                <a:solidFill>
                  <a:srgbClr val="CBD2E0"/>
                </a:solidFill>
                <a:latin typeface="Consolas"/>
              </a:rPr>
              <a:t>blockIdx.y</a:t>
            </a:r>
            <a:r>
              <a:rPr sz="1050" dirty="0">
                <a:solidFill>
                  <a:srgbClr val="CBD2E0"/>
                </a:solidFill>
                <a:latin typeface="Consolas"/>
              </a:rPr>
              <a:t>*</a:t>
            </a:r>
            <a:r>
              <a:rPr sz="1050" dirty="0" err="1">
                <a:solidFill>
                  <a:srgbClr val="CBD2E0"/>
                </a:solidFill>
                <a:latin typeface="Consolas"/>
              </a:rPr>
              <a:t>blockDim.y</a:t>
            </a:r>
            <a:r>
              <a:rPr sz="1050" dirty="0">
                <a:solidFill>
                  <a:srgbClr val="CBD2E0"/>
                </a:solidFill>
                <a:latin typeface="Consolas"/>
              </a:rPr>
              <a:t> + </a:t>
            </a:r>
            <a:r>
              <a:rPr sz="1050" dirty="0" err="1">
                <a:solidFill>
                  <a:srgbClr val="CBD2E0"/>
                </a:solidFill>
                <a:latin typeface="Consolas"/>
              </a:rPr>
              <a:t>threadIdx.y</a:t>
            </a:r>
            <a:r>
              <a:rPr sz="1050" dirty="0">
                <a:solidFill>
                  <a:srgbClr val="CBD2E0"/>
                </a:solidFill>
                <a:latin typeface="Consolas"/>
              </a:rPr>
              <a:t>;</a:t>
            </a:r>
          </a:p>
          <a:p>
            <a:pPr>
              <a:spcBef>
                <a:spcPts val="0"/>
              </a:spcBef>
              <a:spcAft>
                <a:spcPts val="0"/>
              </a:spcAft>
            </a:pPr>
            <a:endParaRPr sz="1050" dirty="0">
              <a:solidFill>
                <a:srgbClr val="CBD2E0"/>
              </a:solidFill>
              <a:latin typeface="Consolas"/>
            </a:endParaRPr>
          </a:p>
          <a:p>
            <a:pPr>
              <a:spcBef>
                <a:spcPts val="0"/>
              </a:spcBef>
              <a:spcAft>
                <a:spcPts val="0"/>
              </a:spcAft>
            </a:pPr>
            <a:r>
              <a:rPr sz="1050" dirty="0">
                <a:solidFill>
                  <a:srgbClr val="CBD2E0"/>
                </a:solidFill>
                <a:latin typeface="Consolas"/>
              </a:rPr>
              <a:t>  if (</a:t>
            </a:r>
            <a:r>
              <a:rPr sz="1050" dirty="0" err="1">
                <a:solidFill>
                  <a:srgbClr val="CBD2E0"/>
                </a:solidFill>
                <a:latin typeface="Consolas"/>
              </a:rPr>
              <a:t>i</a:t>
            </a:r>
            <a:r>
              <a:rPr sz="1050" dirty="0">
                <a:solidFill>
                  <a:srgbClr val="CBD2E0"/>
                </a:solidFill>
                <a:latin typeface="Consolas"/>
              </a:rPr>
              <a:t> &gt;= N || j &gt;= N) return; // </a:t>
            </a:r>
            <a:r>
              <a:rPr sz="1050" dirty="0" err="1">
                <a:solidFill>
                  <a:srgbClr val="CBD2E0"/>
                </a:solidFill>
                <a:latin typeface="Consolas"/>
              </a:rPr>
              <a:t>guarda</a:t>
            </a:r>
            <a:r>
              <a:rPr sz="1050" dirty="0">
                <a:solidFill>
                  <a:srgbClr val="CBD2E0"/>
                </a:solidFill>
                <a:latin typeface="Consolas"/>
              </a:rPr>
              <a:t> </a:t>
            </a:r>
            <a:r>
              <a:rPr sz="1050" dirty="0" err="1">
                <a:solidFill>
                  <a:srgbClr val="CBD2E0"/>
                </a:solidFill>
                <a:latin typeface="Consolas"/>
              </a:rPr>
              <a:t>límites</a:t>
            </a:r>
            <a:endParaRPr sz="1050" dirty="0">
              <a:solidFill>
                <a:srgbClr val="CBD2E0"/>
              </a:solidFill>
              <a:latin typeface="Consolas"/>
            </a:endParaRPr>
          </a:p>
          <a:p>
            <a:pPr>
              <a:spcBef>
                <a:spcPts val="0"/>
              </a:spcBef>
              <a:spcAft>
                <a:spcPts val="0"/>
              </a:spcAft>
            </a:pPr>
            <a:endParaRPr sz="1050" dirty="0">
              <a:solidFill>
                <a:srgbClr val="CBD2E0"/>
              </a:solidFill>
              <a:latin typeface="Consolas"/>
            </a:endParaRPr>
          </a:p>
          <a:p>
            <a:pPr>
              <a:spcBef>
                <a:spcPts val="0"/>
              </a:spcBef>
              <a:spcAft>
                <a:spcPts val="0"/>
              </a:spcAft>
            </a:pPr>
            <a:r>
              <a:rPr sz="1050" dirty="0">
                <a:solidFill>
                  <a:srgbClr val="CBD2E0"/>
                </a:solidFill>
                <a:latin typeface="Consolas"/>
              </a:rPr>
              <a:t>  int pos = </a:t>
            </a:r>
            <a:r>
              <a:rPr sz="1050" dirty="0" err="1">
                <a:solidFill>
                  <a:srgbClr val="CBD2E0"/>
                </a:solidFill>
                <a:latin typeface="Consolas"/>
              </a:rPr>
              <a:t>i</a:t>
            </a:r>
            <a:r>
              <a:rPr sz="1050" dirty="0">
                <a:solidFill>
                  <a:srgbClr val="CBD2E0"/>
                </a:solidFill>
                <a:latin typeface="Consolas"/>
              </a:rPr>
              <a:t> * N + j;</a:t>
            </a:r>
          </a:p>
          <a:p>
            <a:pPr>
              <a:spcBef>
                <a:spcPts val="0"/>
              </a:spcBef>
              <a:spcAft>
                <a:spcPts val="0"/>
              </a:spcAft>
            </a:pPr>
            <a:r>
              <a:rPr sz="1050" dirty="0">
                <a:solidFill>
                  <a:srgbClr val="CBD2E0"/>
                </a:solidFill>
                <a:latin typeface="Consolas"/>
              </a:rPr>
              <a:t>  if (</a:t>
            </a:r>
            <a:r>
              <a:rPr sz="1050" dirty="0" err="1">
                <a:solidFill>
                  <a:srgbClr val="CBD2E0"/>
                </a:solidFill>
                <a:latin typeface="Consolas"/>
              </a:rPr>
              <a:t>i</a:t>
            </a:r>
            <a:r>
              <a:rPr sz="1050" dirty="0">
                <a:solidFill>
                  <a:srgbClr val="CBD2E0"/>
                </a:solidFill>
                <a:latin typeface="Consolas"/>
              </a:rPr>
              <a:t>==0||</a:t>
            </a:r>
            <a:r>
              <a:rPr sz="1050" dirty="0" err="1">
                <a:solidFill>
                  <a:srgbClr val="CBD2E0"/>
                </a:solidFill>
                <a:latin typeface="Consolas"/>
              </a:rPr>
              <a:t>i</a:t>
            </a:r>
            <a:r>
              <a:rPr sz="1050" dirty="0">
                <a:solidFill>
                  <a:srgbClr val="CBD2E0"/>
                </a:solidFill>
                <a:latin typeface="Consolas"/>
              </a:rPr>
              <a:t>==N-1||j==0||j==N-1)</a:t>
            </a:r>
          </a:p>
          <a:p>
            <a:pPr>
              <a:spcBef>
                <a:spcPts val="0"/>
              </a:spcBef>
              <a:spcAft>
                <a:spcPts val="0"/>
              </a:spcAft>
            </a:pPr>
            <a:r>
              <a:rPr sz="1050" dirty="0">
                <a:solidFill>
                  <a:srgbClr val="CBD2E0"/>
                </a:solidFill>
                <a:latin typeface="Consolas"/>
              </a:rPr>
              <a:t>    { </a:t>
            </a:r>
            <a:r>
              <a:rPr sz="1050" dirty="0" err="1">
                <a:solidFill>
                  <a:srgbClr val="CBD2E0"/>
                </a:solidFill>
                <a:latin typeface="Consolas"/>
              </a:rPr>
              <a:t>siguiente</a:t>
            </a:r>
            <a:r>
              <a:rPr sz="1050" dirty="0">
                <a:solidFill>
                  <a:srgbClr val="CBD2E0"/>
                </a:solidFill>
                <a:latin typeface="Consolas"/>
              </a:rPr>
              <a:t>[pos]=0; return; } // </a:t>
            </a:r>
            <a:r>
              <a:rPr sz="1050" dirty="0" err="1">
                <a:solidFill>
                  <a:srgbClr val="CBD2E0"/>
                </a:solidFill>
                <a:latin typeface="Consolas"/>
              </a:rPr>
              <a:t>bordes</a:t>
            </a:r>
            <a:r>
              <a:rPr sz="1050" dirty="0">
                <a:solidFill>
                  <a:srgbClr val="CBD2E0"/>
                </a:solidFill>
                <a:latin typeface="Consolas"/>
              </a:rPr>
              <a:t> </a:t>
            </a:r>
            <a:r>
              <a:rPr sz="1050" dirty="0" err="1">
                <a:solidFill>
                  <a:srgbClr val="CBD2E0"/>
                </a:solidFill>
                <a:latin typeface="Consolas"/>
              </a:rPr>
              <a:t>muertos</a:t>
            </a:r>
            <a:endParaRPr sz="1050" dirty="0">
              <a:solidFill>
                <a:srgbClr val="CBD2E0"/>
              </a:solidFill>
              <a:latin typeface="Consolas"/>
            </a:endParaRPr>
          </a:p>
          <a:p>
            <a:pPr>
              <a:spcBef>
                <a:spcPts val="0"/>
              </a:spcBef>
              <a:spcAft>
                <a:spcPts val="0"/>
              </a:spcAft>
            </a:pPr>
            <a:endParaRPr sz="1050" dirty="0">
              <a:solidFill>
                <a:srgbClr val="CBD2E0"/>
              </a:solidFill>
              <a:latin typeface="Consolas"/>
            </a:endParaRPr>
          </a:p>
          <a:p>
            <a:pPr>
              <a:spcBef>
                <a:spcPts val="0"/>
              </a:spcBef>
              <a:spcAft>
                <a:spcPts val="0"/>
              </a:spcAft>
            </a:pPr>
            <a:r>
              <a:rPr sz="1050" dirty="0">
                <a:solidFill>
                  <a:srgbClr val="CBD2E0"/>
                </a:solidFill>
                <a:latin typeface="Consolas"/>
              </a:rPr>
              <a:t>  int n =</a:t>
            </a:r>
          </a:p>
          <a:p>
            <a:pPr>
              <a:spcBef>
                <a:spcPts val="0"/>
              </a:spcBef>
              <a:spcAft>
                <a:spcPts val="0"/>
              </a:spcAft>
            </a:pPr>
            <a:r>
              <a:rPr sz="1050" dirty="0">
                <a:solidFill>
                  <a:srgbClr val="CBD2E0"/>
                </a:solidFill>
                <a:latin typeface="Consolas"/>
              </a:rPr>
              <a:t>    actual[(i-1)*N+(j-1)]+actual[(i-1)*</a:t>
            </a:r>
            <a:r>
              <a:rPr sz="1050" dirty="0" err="1">
                <a:solidFill>
                  <a:srgbClr val="CBD2E0"/>
                </a:solidFill>
                <a:latin typeface="Consolas"/>
              </a:rPr>
              <a:t>N+j</a:t>
            </a:r>
            <a:r>
              <a:rPr sz="1050" dirty="0">
                <a:solidFill>
                  <a:srgbClr val="CBD2E0"/>
                </a:solidFill>
                <a:latin typeface="Consolas"/>
              </a:rPr>
              <a:t>]+</a:t>
            </a:r>
          </a:p>
          <a:p>
            <a:pPr>
              <a:spcBef>
                <a:spcPts val="0"/>
              </a:spcBef>
              <a:spcAft>
                <a:spcPts val="0"/>
              </a:spcAft>
            </a:pPr>
            <a:r>
              <a:rPr sz="1050" dirty="0">
                <a:solidFill>
                  <a:srgbClr val="CBD2E0"/>
                </a:solidFill>
                <a:latin typeface="Consolas"/>
              </a:rPr>
              <a:t>    actual[(i-1)*N+(j+1)]+actual[</a:t>
            </a:r>
            <a:r>
              <a:rPr sz="1050" dirty="0" err="1">
                <a:solidFill>
                  <a:srgbClr val="CBD2E0"/>
                </a:solidFill>
                <a:latin typeface="Consolas"/>
              </a:rPr>
              <a:t>i</a:t>
            </a:r>
            <a:r>
              <a:rPr sz="1050" dirty="0">
                <a:solidFill>
                  <a:srgbClr val="CBD2E0"/>
                </a:solidFill>
                <a:latin typeface="Consolas"/>
              </a:rPr>
              <a:t>*N+(j-1)]+</a:t>
            </a:r>
          </a:p>
          <a:p>
            <a:pPr>
              <a:spcBef>
                <a:spcPts val="0"/>
              </a:spcBef>
              <a:spcAft>
                <a:spcPts val="0"/>
              </a:spcAft>
            </a:pPr>
            <a:r>
              <a:rPr sz="1050" dirty="0">
                <a:solidFill>
                  <a:srgbClr val="CBD2E0"/>
                </a:solidFill>
                <a:latin typeface="Consolas"/>
              </a:rPr>
              <a:t>    actual[</a:t>
            </a:r>
            <a:r>
              <a:rPr sz="1050" dirty="0" err="1">
                <a:solidFill>
                  <a:srgbClr val="CBD2E0"/>
                </a:solidFill>
                <a:latin typeface="Consolas"/>
              </a:rPr>
              <a:t>i</a:t>
            </a:r>
            <a:r>
              <a:rPr sz="1050" dirty="0">
                <a:solidFill>
                  <a:srgbClr val="CBD2E0"/>
                </a:solidFill>
                <a:latin typeface="Consolas"/>
              </a:rPr>
              <a:t>*N+(j+1)]+actual[(i+1)*N+(j-1)]+</a:t>
            </a:r>
          </a:p>
          <a:p>
            <a:pPr>
              <a:spcBef>
                <a:spcPts val="0"/>
              </a:spcBef>
              <a:spcAft>
                <a:spcPts val="0"/>
              </a:spcAft>
            </a:pPr>
            <a:r>
              <a:rPr sz="1050" dirty="0">
                <a:solidFill>
                  <a:srgbClr val="CBD2E0"/>
                </a:solidFill>
                <a:latin typeface="Consolas"/>
              </a:rPr>
              <a:t>    actual[(i+1)*</a:t>
            </a:r>
            <a:r>
              <a:rPr sz="1050" dirty="0" err="1">
                <a:solidFill>
                  <a:srgbClr val="CBD2E0"/>
                </a:solidFill>
                <a:latin typeface="Consolas"/>
              </a:rPr>
              <a:t>N+j</a:t>
            </a:r>
            <a:r>
              <a:rPr sz="1050" dirty="0">
                <a:solidFill>
                  <a:srgbClr val="CBD2E0"/>
                </a:solidFill>
                <a:latin typeface="Consolas"/>
              </a:rPr>
              <a:t>]+actual[(i+1)*N+(j+1)];</a:t>
            </a:r>
          </a:p>
          <a:p>
            <a:pPr>
              <a:spcBef>
                <a:spcPts val="0"/>
              </a:spcBef>
              <a:spcAft>
                <a:spcPts val="0"/>
              </a:spcAft>
            </a:pPr>
            <a:r>
              <a:rPr sz="1050" dirty="0">
                <a:solidFill>
                  <a:srgbClr val="CBD2E0"/>
                </a:solidFill>
                <a:latin typeface="Consolas"/>
              </a:rPr>
              <a:t>  int c = actual[pos];</a:t>
            </a:r>
          </a:p>
          <a:p>
            <a:pPr>
              <a:spcBef>
                <a:spcPts val="0"/>
              </a:spcBef>
              <a:spcAft>
                <a:spcPts val="0"/>
              </a:spcAft>
            </a:pPr>
            <a:r>
              <a:rPr sz="1050" dirty="0">
                <a:solidFill>
                  <a:srgbClr val="CBD2E0"/>
                </a:solidFill>
                <a:latin typeface="Consolas"/>
              </a:rPr>
              <a:t>  </a:t>
            </a:r>
            <a:r>
              <a:rPr sz="1050" dirty="0" err="1">
                <a:solidFill>
                  <a:srgbClr val="CBD2E0"/>
                </a:solidFill>
                <a:latin typeface="Consolas"/>
              </a:rPr>
              <a:t>siguiente</a:t>
            </a:r>
            <a:r>
              <a:rPr sz="1050" dirty="0">
                <a:solidFill>
                  <a:srgbClr val="CBD2E0"/>
                </a:solidFill>
                <a:latin typeface="Consolas"/>
              </a:rPr>
              <a:t>[pos]=(c&amp;&amp;(n==2||n==3))||(!c&amp;&amp;n==3)?1:0;</a:t>
            </a:r>
          </a:p>
          <a:p>
            <a:pPr>
              <a:spcBef>
                <a:spcPts val="0"/>
              </a:spcBef>
              <a:spcAft>
                <a:spcPts val="0"/>
              </a:spcAft>
            </a:pPr>
            <a:r>
              <a:rPr sz="1050" dirty="0">
                <a:solidFill>
                  <a:srgbClr val="CBD2E0"/>
                </a:solidFill>
                <a:latin typeface="Consolas"/>
              </a:rPr>
              <a:t>}</a:t>
            </a:r>
          </a:p>
          <a:p>
            <a:pPr>
              <a:spcBef>
                <a:spcPts val="0"/>
              </a:spcBef>
              <a:spcAft>
                <a:spcPts val="0"/>
              </a:spcAft>
            </a:pPr>
            <a:endParaRPr sz="1050" dirty="0">
              <a:solidFill>
                <a:srgbClr val="CBD2E0"/>
              </a:solidFill>
              <a:latin typeface="Consolas"/>
            </a:endParaRPr>
          </a:p>
          <a:p>
            <a:pPr>
              <a:spcBef>
                <a:spcPts val="0"/>
              </a:spcBef>
              <a:spcAft>
                <a:spcPts val="0"/>
              </a:spcAft>
            </a:pPr>
            <a:r>
              <a:rPr sz="1050" dirty="0">
                <a:solidFill>
                  <a:srgbClr val="CBD2E0"/>
                </a:solidFill>
                <a:latin typeface="Consolas"/>
              </a:rPr>
              <a:t>// </a:t>
            </a:r>
            <a:r>
              <a:rPr sz="1050" dirty="0" err="1">
                <a:solidFill>
                  <a:srgbClr val="CBD2E0"/>
                </a:solidFill>
                <a:latin typeface="Consolas"/>
              </a:rPr>
              <a:t>Lanzamiento</a:t>
            </a:r>
            <a:r>
              <a:rPr sz="1050" dirty="0">
                <a:solidFill>
                  <a:srgbClr val="CBD2E0"/>
                </a:solidFill>
                <a:latin typeface="Consolas"/>
              </a:rPr>
              <a:t> con </a:t>
            </a:r>
            <a:r>
              <a:rPr sz="1050" dirty="0" err="1">
                <a:solidFill>
                  <a:srgbClr val="CBD2E0"/>
                </a:solidFill>
                <a:latin typeface="Consolas"/>
              </a:rPr>
              <a:t>división</a:t>
            </a:r>
            <a:r>
              <a:rPr sz="1050" dirty="0">
                <a:solidFill>
                  <a:srgbClr val="CBD2E0"/>
                </a:solidFill>
                <a:latin typeface="Consolas"/>
              </a:rPr>
              <a:t> </a:t>
            </a:r>
            <a:r>
              <a:rPr sz="1050" dirty="0" err="1">
                <a:solidFill>
                  <a:srgbClr val="CBD2E0"/>
                </a:solidFill>
                <a:latin typeface="Consolas"/>
              </a:rPr>
              <a:t>techo</a:t>
            </a:r>
            <a:r>
              <a:rPr sz="1050" dirty="0">
                <a:solidFill>
                  <a:srgbClr val="CBD2E0"/>
                </a:solidFill>
                <a:latin typeface="Consolas"/>
              </a:rPr>
              <a:t> (ceiling)</a:t>
            </a:r>
          </a:p>
          <a:p>
            <a:pPr>
              <a:spcBef>
                <a:spcPts val="0"/>
              </a:spcBef>
              <a:spcAft>
                <a:spcPts val="0"/>
              </a:spcAft>
            </a:pPr>
            <a:r>
              <a:rPr sz="1050" dirty="0">
                <a:solidFill>
                  <a:srgbClr val="CBD2E0"/>
                </a:solidFill>
                <a:latin typeface="Consolas"/>
              </a:rPr>
              <a:t>dim3 </a:t>
            </a:r>
            <a:r>
              <a:rPr sz="1050" dirty="0" err="1">
                <a:solidFill>
                  <a:srgbClr val="CBD2E0"/>
                </a:solidFill>
                <a:latin typeface="Consolas"/>
              </a:rPr>
              <a:t>bloque</a:t>
            </a:r>
            <a:r>
              <a:rPr sz="1050" dirty="0">
                <a:solidFill>
                  <a:srgbClr val="CBD2E0"/>
                </a:solidFill>
                <a:latin typeface="Consolas"/>
              </a:rPr>
              <a:t>(16, 16);   // 256 </a:t>
            </a:r>
            <a:r>
              <a:rPr sz="1050" dirty="0" err="1">
                <a:solidFill>
                  <a:srgbClr val="CBD2E0"/>
                </a:solidFill>
                <a:latin typeface="Consolas"/>
              </a:rPr>
              <a:t>hilos</a:t>
            </a:r>
            <a:r>
              <a:rPr sz="1050" dirty="0">
                <a:solidFill>
                  <a:srgbClr val="CBD2E0"/>
                </a:solidFill>
                <a:latin typeface="Consolas"/>
              </a:rPr>
              <a:t>/</a:t>
            </a:r>
            <a:r>
              <a:rPr sz="1050" dirty="0" err="1">
                <a:solidFill>
                  <a:srgbClr val="CBD2E0"/>
                </a:solidFill>
                <a:latin typeface="Consolas"/>
              </a:rPr>
              <a:t>bloque</a:t>
            </a:r>
            <a:endParaRPr sz="1050" dirty="0">
              <a:solidFill>
                <a:srgbClr val="CBD2E0"/>
              </a:solidFill>
              <a:latin typeface="Consolas"/>
            </a:endParaRPr>
          </a:p>
          <a:p>
            <a:pPr>
              <a:spcBef>
                <a:spcPts val="0"/>
              </a:spcBef>
              <a:spcAft>
                <a:spcPts val="0"/>
              </a:spcAft>
            </a:pPr>
            <a:r>
              <a:rPr sz="1050" dirty="0">
                <a:solidFill>
                  <a:srgbClr val="CBD2E0"/>
                </a:solidFill>
                <a:latin typeface="Consolas"/>
              </a:rPr>
              <a:t>dim3 grid((N+15)/16, (N+15)/16);</a:t>
            </a:r>
          </a:p>
          <a:p>
            <a:pPr>
              <a:spcBef>
                <a:spcPts val="0"/>
              </a:spcBef>
              <a:spcAft>
                <a:spcPts val="0"/>
              </a:spcAft>
            </a:pPr>
            <a:r>
              <a:rPr sz="1050" dirty="0" err="1">
                <a:solidFill>
                  <a:srgbClr val="CBD2E0"/>
                </a:solidFill>
                <a:latin typeface="Consolas"/>
              </a:rPr>
              <a:t>calcularSiguienteGeneracionCUDA</a:t>
            </a:r>
            <a:r>
              <a:rPr sz="1050" dirty="0">
                <a:solidFill>
                  <a:srgbClr val="CBD2E0"/>
                </a:solidFill>
                <a:latin typeface="Consolas"/>
              </a:rPr>
              <a:t>&lt;&lt;&lt;</a:t>
            </a:r>
            <a:r>
              <a:rPr sz="1050" dirty="0" err="1">
                <a:solidFill>
                  <a:srgbClr val="CBD2E0"/>
                </a:solidFill>
                <a:latin typeface="Consolas"/>
              </a:rPr>
              <a:t>grid,bloque</a:t>
            </a:r>
            <a:r>
              <a:rPr sz="1050" dirty="0">
                <a:solidFill>
                  <a:srgbClr val="CBD2E0"/>
                </a:solidFill>
                <a:latin typeface="Consolas"/>
              </a:rPr>
              <a:t>&gt;&gt;&gt;(...);</a:t>
            </a:r>
          </a:p>
          <a:p>
            <a:pPr>
              <a:spcBef>
                <a:spcPts val="0"/>
              </a:spcBef>
              <a:spcAft>
                <a:spcPts val="0"/>
              </a:spcAft>
            </a:pPr>
            <a:r>
              <a:rPr sz="1050" dirty="0" err="1">
                <a:solidFill>
                  <a:srgbClr val="CBD2E0"/>
                </a:solidFill>
                <a:latin typeface="Consolas"/>
              </a:rPr>
              <a:t>comprobarCuda</a:t>
            </a:r>
            <a:r>
              <a:rPr sz="1050" dirty="0">
                <a:solidFill>
                  <a:srgbClr val="CBD2E0"/>
                </a:solidFill>
                <a:latin typeface="Consolas"/>
              </a:rPr>
              <a:t>(</a:t>
            </a:r>
            <a:r>
              <a:rPr sz="1050" dirty="0" err="1">
                <a:solidFill>
                  <a:srgbClr val="CBD2E0"/>
                </a:solidFill>
                <a:latin typeface="Consolas"/>
              </a:rPr>
              <a:t>cudaGetLastError</a:t>
            </a:r>
            <a:r>
              <a:rPr sz="1050" dirty="0">
                <a:solidFill>
                  <a:srgbClr val="CBD2E0"/>
                </a:solidFill>
                <a:latin typeface="Consolas"/>
              </a:rPr>
              <a:t>(), "kernel");</a:t>
            </a:r>
          </a:p>
        </p:txBody>
      </p:sp>
      <p:sp>
        <p:nvSpPr>
          <p:cNvPr id="9" name="Rectangle 8"/>
          <p:cNvSpPr/>
          <p:nvPr/>
        </p:nvSpPr>
        <p:spPr>
          <a:xfrm>
            <a:off x="6126480" y="1170432"/>
            <a:ext cx="5669280" cy="27432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7920" y="1145481"/>
            <a:ext cx="5486400" cy="307777"/>
          </a:xfrm>
          <a:prstGeom prst="rect">
            <a:avLst/>
          </a:prstGeom>
          <a:noFill/>
        </p:spPr>
        <p:txBody>
          <a:bodyPr wrap="square">
            <a:spAutoFit/>
          </a:bodyPr>
          <a:lstStyle/>
          <a:p>
            <a:pPr algn="l"/>
            <a:r>
              <a:rPr sz="1400" b="1" i="0" dirty="0" err="1">
                <a:solidFill>
                  <a:srgbClr val="FFFFFF"/>
                </a:solidFill>
                <a:latin typeface="Calibri"/>
              </a:rPr>
              <a:t>Mapeo</a:t>
            </a:r>
            <a:r>
              <a:rPr sz="1400" b="1" i="0" dirty="0">
                <a:solidFill>
                  <a:srgbClr val="FFFFFF"/>
                </a:solidFill>
                <a:latin typeface="Calibri"/>
              </a:rPr>
              <a:t> de </a:t>
            </a:r>
            <a:r>
              <a:rPr sz="1400" b="1" i="0" dirty="0" err="1">
                <a:solidFill>
                  <a:srgbClr val="FFFFFF"/>
                </a:solidFill>
                <a:latin typeface="Calibri"/>
              </a:rPr>
              <a:t>hilos</a:t>
            </a:r>
            <a:r>
              <a:rPr sz="1400" b="1" i="0" dirty="0">
                <a:solidFill>
                  <a:srgbClr val="FFFFFF"/>
                </a:solidFill>
                <a:latin typeface="Calibri"/>
              </a:rPr>
              <a:t> CUDA → </a:t>
            </a:r>
            <a:r>
              <a:rPr sz="1400" b="1" i="0" dirty="0" err="1">
                <a:solidFill>
                  <a:srgbClr val="FFFFFF"/>
                </a:solidFill>
                <a:latin typeface="Calibri"/>
              </a:rPr>
              <a:t>celdas</a:t>
            </a:r>
            <a:r>
              <a:rPr sz="1400" b="1" i="0" dirty="0">
                <a:solidFill>
                  <a:srgbClr val="FFFFFF"/>
                </a:solidFill>
                <a:latin typeface="Calibri"/>
              </a:rPr>
              <a:t> de la </a:t>
            </a:r>
            <a:r>
              <a:rPr sz="1400" b="1" i="0" dirty="0" err="1">
                <a:solidFill>
                  <a:srgbClr val="FFFFFF"/>
                </a:solidFill>
                <a:latin typeface="Calibri"/>
              </a:rPr>
              <a:t>matriz</a:t>
            </a:r>
            <a:endParaRPr sz="1400" b="1" i="0" dirty="0">
              <a:solidFill>
                <a:srgbClr val="FFFFFF"/>
              </a:solidFill>
              <a:latin typeface="Calibri"/>
            </a:endParaRPr>
          </a:p>
        </p:txBody>
      </p:sp>
      <p:sp>
        <p:nvSpPr>
          <p:cNvPr id="11" name="Rectangle 10"/>
          <p:cNvSpPr/>
          <p:nvPr/>
        </p:nvSpPr>
        <p:spPr>
          <a:xfrm>
            <a:off x="6126480" y="1444752"/>
            <a:ext cx="5669280" cy="4059936"/>
          </a:xfrm>
          <a:prstGeom prst="rect">
            <a:avLst/>
          </a:prstGeom>
          <a:solidFill>
            <a:srgbClr val="F2F2F2"/>
          </a:solidFill>
          <a:ln w="6350">
            <a:solidFill>
              <a:srgbClr val="D6E4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17920" y="1646807"/>
            <a:ext cx="5486400" cy="307777"/>
          </a:xfrm>
          <a:prstGeom prst="rect">
            <a:avLst/>
          </a:prstGeom>
          <a:noFill/>
        </p:spPr>
        <p:txBody>
          <a:bodyPr wrap="square">
            <a:spAutoFit/>
          </a:bodyPr>
          <a:lstStyle/>
          <a:p>
            <a:pPr algn="l"/>
            <a:r>
              <a:rPr sz="1400" b="1" i="0" dirty="0" err="1">
                <a:solidFill>
                  <a:srgbClr val="1F3564"/>
                </a:solidFill>
                <a:latin typeface="Calibri"/>
              </a:rPr>
              <a:t>Configuración</a:t>
            </a:r>
            <a:r>
              <a:rPr sz="1400" b="1" i="0" dirty="0">
                <a:solidFill>
                  <a:srgbClr val="1F3564"/>
                </a:solidFill>
                <a:latin typeface="Calibri"/>
              </a:rPr>
              <a:t> del kernel:</a:t>
            </a:r>
          </a:p>
        </p:txBody>
      </p:sp>
      <p:sp>
        <p:nvSpPr>
          <p:cNvPr id="13" name="TextBox 12"/>
          <p:cNvSpPr txBox="1"/>
          <p:nvPr/>
        </p:nvSpPr>
        <p:spPr>
          <a:xfrm>
            <a:off x="6126480" y="1954584"/>
            <a:ext cx="5669280" cy="769441"/>
          </a:xfrm>
          <a:prstGeom prst="rect">
            <a:avLst/>
          </a:prstGeom>
          <a:noFill/>
        </p:spPr>
        <p:txBody>
          <a:bodyPr wrap="square">
            <a:spAutoFit/>
          </a:bodyPr>
          <a:lstStyle/>
          <a:p>
            <a:pPr>
              <a:spcBef>
                <a:spcPts val="300"/>
              </a:spcBef>
            </a:pPr>
            <a:r>
              <a:t>• Bloque 2D de 16×16 = 256 hilos/bloque (adecuado para RTX 4060)</a:t>
            </a:r>
          </a:p>
          <a:p>
            <a:pPr>
              <a:spcBef>
                <a:spcPts val="300"/>
              </a:spcBef>
            </a:pPr>
            <a:r>
              <a:rPr sz="1300" dirty="0">
                <a:solidFill>
                  <a:srgbClr val="000000"/>
                </a:solidFill>
                <a:latin typeface="Calibri"/>
              </a:rPr>
              <a:t>• Grid: ceil(1000/16) × ceil(1000/16) = 63×63 = 3 969 </a:t>
            </a:r>
            <a:r>
              <a:rPr sz="1300" dirty="0" err="1">
                <a:solidFill>
                  <a:srgbClr val="000000"/>
                </a:solidFill>
                <a:latin typeface="Calibri"/>
              </a:rPr>
              <a:t>bloques</a:t>
            </a:r>
            <a:endParaRPr sz="1300" dirty="0">
              <a:solidFill>
                <a:srgbClr val="000000"/>
              </a:solidFill>
              <a:latin typeface="Calibri"/>
            </a:endParaRPr>
          </a:p>
          <a:p>
            <a:pPr>
              <a:spcBef>
                <a:spcPts val="300"/>
              </a:spcBef>
            </a:pPr>
            <a:r>
              <a:rPr sz="1300" dirty="0">
                <a:solidFill>
                  <a:srgbClr val="000000"/>
                </a:solidFill>
                <a:latin typeface="Calibri"/>
              </a:rPr>
              <a:t>• Total </a:t>
            </a:r>
            <a:r>
              <a:rPr sz="1300" dirty="0" err="1">
                <a:solidFill>
                  <a:srgbClr val="000000"/>
                </a:solidFill>
                <a:latin typeface="Calibri"/>
              </a:rPr>
              <a:t>hilos</a:t>
            </a:r>
            <a:r>
              <a:rPr sz="1300" dirty="0">
                <a:solidFill>
                  <a:srgbClr val="000000"/>
                </a:solidFill>
                <a:latin typeface="Calibri"/>
              </a:rPr>
              <a:t> </a:t>
            </a:r>
            <a:r>
              <a:rPr sz="1300" dirty="0" err="1">
                <a:solidFill>
                  <a:srgbClr val="000000"/>
                </a:solidFill>
                <a:latin typeface="Calibri"/>
              </a:rPr>
              <a:t>lanzados</a:t>
            </a:r>
            <a:r>
              <a:rPr sz="1300" dirty="0">
                <a:solidFill>
                  <a:srgbClr val="000000"/>
                </a:solidFill>
                <a:latin typeface="Calibri"/>
              </a:rPr>
              <a:t>: 63×16 × 63×16 = 1 016 064 ≈ 1 </a:t>
            </a:r>
            <a:r>
              <a:rPr sz="1300" dirty="0" err="1">
                <a:solidFill>
                  <a:srgbClr val="000000"/>
                </a:solidFill>
                <a:latin typeface="Calibri"/>
              </a:rPr>
              <a:t>hilo</a:t>
            </a:r>
            <a:r>
              <a:rPr sz="1300" dirty="0">
                <a:solidFill>
                  <a:srgbClr val="000000"/>
                </a:solidFill>
                <a:latin typeface="Calibri"/>
              </a:rPr>
              <a:t> </a:t>
            </a:r>
            <a:r>
              <a:rPr sz="1300" dirty="0" err="1">
                <a:solidFill>
                  <a:srgbClr val="000000"/>
                </a:solidFill>
                <a:latin typeface="Calibri"/>
              </a:rPr>
              <a:t>por</a:t>
            </a:r>
            <a:r>
              <a:rPr sz="1300" dirty="0">
                <a:solidFill>
                  <a:srgbClr val="000000"/>
                </a:solidFill>
                <a:latin typeface="Calibri"/>
              </a:rPr>
              <a:t> </a:t>
            </a:r>
            <a:r>
              <a:rPr sz="1300" dirty="0" err="1">
                <a:solidFill>
                  <a:srgbClr val="000000"/>
                </a:solidFill>
                <a:latin typeface="Calibri"/>
              </a:rPr>
              <a:t>celda</a:t>
            </a:r>
            <a:endParaRPr sz="1300" dirty="0">
              <a:solidFill>
                <a:srgbClr val="000000"/>
              </a:solidFill>
              <a:latin typeface="Calibri"/>
            </a:endParaRPr>
          </a:p>
        </p:txBody>
      </p:sp>
      <p:sp>
        <p:nvSpPr>
          <p:cNvPr id="14" name="TextBox 13"/>
          <p:cNvSpPr txBox="1"/>
          <p:nvPr/>
        </p:nvSpPr>
        <p:spPr>
          <a:xfrm>
            <a:off x="6217920" y="2761488"/>
            <a:ext cx="5486400" cy="307777"/>
          </a:xfrm>
          <a:prstGeom prst="rect">
            <a:avLst/>
          </a:prstGeom>
          <a:noFill/>
        </p:spPr>
        <p:txBody>
          <a:bodyPr wrap="square">
            <a:spAutoFit/>
          </a:bodyPr>
          <a:lstStyle/>
          <a:p>
            <a:pPr algn="l"/>
            <a:r>
              <a:rPr sz="1400" b="1" i="0" dirty="0">
                <a:solidFill>
                  <a:srgbClr val="008240"/>
                </a:solidFill>
                <a:latin typeface="Calibri"/>
              </a:rPr>
              <a:t>Por </a:t>
            </a:r>
            <a:r>
              <a:rPr sz="1400" b="1" i="0" dirty="0" err="1">
                <a:solidFill>
                  <a:srgbClr val="008240"/>
                </a:solidFill>
                <a:latin typeface="Calibri"/>
              </a:rPr>
              <a:t>qué</a:t>
            </a:r>
            <a:r>
              <a:rPr sz="1400" b="1" i="0" dirty="0">
                <a:solidFill>
                  <a:srgbClr val="008240"/>
                </a:solidFill>
                <a:latin typeface="Calibri"/>
              </a:rPr>
              <a:t> 16×16 y no 32×32:</a:t>
            </a:r>
          </a:p>
        </p:txBody>
      </p:sp>
      <p:sp>
        <p:nvSpPr>
          <p:cNvPr id="15" name="TextBox 14"/>
          <p:cNvSpPr txBox="1"/>
          <p:nvPr/>
        </p:nvSpPr>
        <p:spPr>
          <a:xfrm>
            <a:off x="6126480" y="3069265"/>
            <a:ext cx="5669280" cy="723275"/>
          </a:xfrm>
          <a:prstGeom prst="rect">
            <a:avLst/>
          </a:prstGeom>
          <a:noFill/>
        </p:spPr>
        <p:txBody>
          <a:bodyPr wrap="square">
            <a:spAutoFit/>
          </a:bodyPr>
          <a:lstStyle/>
          <a:p>
            <a:pPr>
              <a:spcBef>
                <a:spcPts val="300"/>
              </a:spcBef>
            </a:pPr>
            <a:r>
              <a:t>• 16×16 = 256 hilos: buena ocupancia en SM de RTX 4060 vs. 32×32 = 1024 (al límite)</a:t>
            </a:r>
          </a:p>
          <a:p>
            <a:pPr>
              <a:spcBef>
                <a:spcPts val="300"/>
              </a:spcBef>
            </a:pPr>
            <a:r>
              <a:rPr sz="1200" dirty="0">
                <a:solidFill>
                  <a:srgbClr val="000000"/>
                </a:solidFill>
                <a:latin typeface="Calibri"/>
              </a:rPr>
              <a:t>• División </a:t>
            </a:r>
            <a:r>
              <a:rPr sz="1200" dirty="0" err="1">
                <a:solidFill>
                  <a:srgbClr val="000000"/>
                </a:solidFill>
                <a:latin typeface="Calibri"/>
              </a:rPr>
              <a:t>techo</a:t>
            </a:r>
            <a:r>
              <a:rPr sz="1200" dirty="0">
                <a:solidFill>
                  <a:srgbClr val="000000"/>
                </a:solidFill>
                <a:latin typeface="Calibri"/>
              </a:rPr>
              <a:t> (N+15)/16: </a:t>
            </a:r>
            <a:r>
              <a:rPr sz="1200" dirty="0" err="1">
                <a:solidFill>
                  <a:srgbClr val="000000"/>
                </a:solidFill>
                <a:latin typeface="Calibri"/>
              </a:rPr>
              <a:t>ninguna</a:t>
            </a:r>
            <a:r>
              <a:rPr sz="1200" dirty="0">
                <a:solidFill>
                  <a:srgbClr val="000000"/>
                </a:solidFill>
                <a:latin typeface="Calibri"/>
              </a:rPr>
              <a:t> </a:t>
            </a:r>
            <a:r>
              <a:rPr sz="1200" dirty="0" err="1">
                <a:solidFill>
                  <a:srgbClr val="000000"/>
                </a:solidFill>
                <a:latin typeface="Calibri"/>
              </a:rPr>
              <a:t>celda</a:t>
            </a:r>
            <a:r>
              <a:rPr sz="1200" dirty="0">
                <a:solidFill>
                  <a:srgbClr val="000000"/>
                </a:solidFill>
                <a:latin typeface="Calibri"/>
              </a:rPr>
              <a:t> </a:t>
            </a:r>
            <a:r>
              <a:rPr sz="1200" dirty="0" err="1">
                <a:solidFill>
                  <a:srgbClr val="000000"/>
                </a:solidFill>
                <a:latin typeface="Calibri"/>
              </a:rPr>
              <a:t>queda</a:t>
            </a:r>
            <a:r>
              <a:rPr sz="1200" dirty="0">
                <a:solidFill>
                  <a:srgbClr val="000000"/>
                </a:solidFill>
                <a:latin typeface="Calibri"/>
              </a:rPr>
              <a:t> sin </a:t>
            </a:r>
            <a:r>
              <a:rPr sz="1200" dirty="0" err="1">
                <a:solidFill>
                  <a:srgbClr val="000000"/>
                </a:solidFill>
                <a:latin typeface="Calibri"/>
              </a:rPr>
              <a:t>calcular</a:t>
            </a:r>
            <a:r>
              <a:rPr sz="1200" dirty="0">
                <a:solidFill>
                  <a:srgbClr val="000000"/>
                </a:solidFill>
                <a:latin typeface="Calibri"/>
              </a:rPr>
              <a:t> </a:t>
            </a:r>
            <a:r>
              <a:rPr sz="1200" dirty="0" err="1">
                <a:solidFill>
                  <a:srgbClr val="000000"/>
                </a:solidFill>
                <a:latin typeface="Calibri"/>
              </a:rPr>
              <a:t>si</a:t>
            </a:r>
            <a:r>
              <a:rPr sz="1200" dirty="0">
                <a:solidFill>
                  <a:srgbClr val="000000"/>
                </a:solidFill>
                <a:latin typeface="Calibri"/>
              </a:rPr>
              <a:t> N no es </a:t>
            </a:r>
            <a:r>
              <a:rPr sz="1200" dirty="0" err="1">
                <a:solidFill>
                  <a:srgbClr val="000000"/>
                </a:solidFill>
                <a:latin typeface="Calibri"/>
              </a:rPr>
              <a:t>múltiplo</a:t>
            </a:r>
            <a:r>
              <a:rPr sz="1200" dirty="0">
                <a:solidFill>
                  <a:srgbClr val="000000"/>
                </a:solidFill>
                <a:latin typeface="Calibri"/>
              </a:rPr>
              <a:t> de 16</a:t>
            </a:r>
          </a:p>
          <a:p>
            <a:pPr>
              <a:spcBef>
                <a:spcPts val="300"/>
              </a:spcBef>
            </a:pPr>
            <a:r>
              <a:rPr sz="1200" dirty="0">
                <a:solidFill>
                  <a:srgbClr val="000000"/>
                </a:solidFill>
                <a:latin typeface="Calibri"/>
              </a:rPr>
              <a:t>• Guarda if(</a:t>
            </a:r>
            <a:r>
              <a:rPr sz="1200" dirty="0" err="1">
                <a:solidFill>
                  <a:srgbClr val="000000"/>
                </a:solidFill>
                <a:latin typeface="Calibri"/>
              </a:rPr>
              <a:t>i</a:t>
            </a:r>
            <a:r>
              <a:rPr sz="1200" dirty="0">
                <a:solidFill>
                  <a:srgbClr val="000000"/>
                </a:solidFill>
                <a:latin typeface="Calibri"/>
              </a:rPr>
              <a:t>&gt;=N||j&gt;=N): </a:t>
            </a:r>
            <a:r>
              <a:rPr sz="1200" dirty="0" err="1">
                <a:solidFill>
                  <a:srgbClr val="000000"/>
                </a:solidFill>
                <a:latin typeface="Calibri"/>
              </a:rPr>
              <a:t>los</a:t>
            </a:r>
            <a:r>
              <a:rPr sz="1200" dirty="0">
                <a:solidFill>
                  <a:srgbClr val="000000"/>
                </a:solidFill>
                <a:latin typeface="Calibri"/>
              </a:rPr>
              <a:t> </a:t>
            </a:r>
            <a:r>
              <a:rPr sz="1200" dirty="0" err="1">
                <a:solidFill>
                  <a:srgbClr val="000000"/>
                </a:solidFill>
                <a:latin typeface="Calibri"/>
              </a:rPr>
              <a:t>hilos</a:t>
            </a:r>
            <a:r>
              <a:rPr sz="1200" dirty="0">
                <a:solidFill>
                  <a:srgbClr val="000000"/>
                </a:solidFill>
                <a:latin typeface="Calibri"/>
              </a:rPr>
              <a:t> extra del </a:t>
            </a:r>
            <a:r>
              <a:rPr sz="1200" dirty="0" err="1">
                <a:solidFill>
                  <a:srgbClr val="000000"/>
                </a:solidFill>
                <a:latin typeface="Calibri"/>
              </a:rPr>
              <a:t>borde</a:t>
            </a:r>
            <a:r>
              <a:rPr sz="1200" dirty="0">
                <a:solidFill>
                  <a:srgbClr val="000000"/>
                </a:solidFill>
                <a:latin typeface="Calibri"/>
              </a:rPr>
              <a:t> no </a:t>
            </a:r>
            <a:r>
              <a:rPr sz="1200" dirty="0" err="1">
                <a:solidFill>
                  <a:srgbClr val="000000"/>
                </a:solidFill>
                <a:latin typeface="Calibri"/>
              </a:rPr>
              <a:t>acceden</a:t>
            </a:r>
            <a:r>
              <a:rPr sz="1200" dirty="0">
                <a:solidFill>
                  <a:srgbClr val="000000"/>
                </a:solidFill>
                <a:latin typeface="Calibri"/>
              </a:rPr>
              <a:t> fuera del array</a:t>
            </a:r>
          </a:p>
        </p:txBody>
      </p:sp>
      <p:sp>
        <p:nvSpPr>
          <p:cNvPr id="16" name="TextBox 15"/>
          <p:cNvSpPr txBox="1"/>
          <p:nvPr/>
        </p:nvSpPr>
        <p:spPr>
          <a:xfrm>
            <a:off x="6217920" y="3907607"/>
            <a:ext cx="5486400" cy="307777"/>
          </a:xfrm>
          <a:prstGeom prst="rect">
            <a:avLst/>
          </a:prstGeom>
          <a:noFill/>
        </p:spPr>
        <p:txBody>
          <a:bodyPr wrap="square">
            <a:spAutoFit/>
          </a:bodyPr>
          <a:lstStyle/>
          <a:p>
            <a:pPr algn="l"/>
            <a:r>
              <a:rPr sz="1400" b="1" i="0" dirty="0" err="1">
                <a:solidFill>
                  <a:srgbClr val="1F3564"/>
                </a:solidFill>
                <a:latin typeface="Calibri"/>
              </a:rPr>
              <a:t>Medición</a:t>
            </a:r>
            <a:r>
              <a:rPr sz="1400" b="1" i="0" dirty="0">
                <a:solidFill>
                  <a:srgbClr val="1F3564"/>
                </a:solidFill>
                <a:latin typeface="Calibri"/>
              </a:rPr>
              <a:t> de </a:t>
            </a:r>
            <a:r>
              <a:rPr sz="1400" b="1" i="0" dirty="0" err="1">
                <a:solidFill>
                  <a:srgbClr val="1F3564"/>
                </a:solidFill>
                <a:latin typeface="Calibri"/>
              </a:rPr>
              <a:t>tiempo</a:t>
            </a:r>
            <a:r>
              <a:rPr sz="1400" b="1" i="0" dirty="0">
                <a:solidFill>
                  <a:srgbClr val="1F3564"/>
                </a:solidFill>
                <a:latin typeface="Calibri"/>
              </a:rPr>
              <a:t> con CUDA events:</a:t>
            </a:r>
          </a:p>
        </p:txBody>
      </p:sp>
      <p:sp>
        <p:nvSpPr>
          <p:cNvPr id="17" name="TextBox 16"/>
          <p:cNvSpPr txBox="1"/>
          <p:nvPr/>
        </p:nvSpPr>
        <p:spPr>
          <a:xfrm>
            <a:off x="6126480" y="4233672"/>
            <a:ext cx="5669280" cy="500137"/>
          </a:xfrm>
          <a:prstGeom prst="rect">
            <a:avLst/>
          </a:prstGeom>
          <a:noFill/>
        </p:spPr>
        <p:txBody>
          <a:bodyPr wrap="square">
            <a:spAutoFit/>
          </a:bodyPr>
          <a:lstStyle/>
          <a:p>
            <a:pPr>
              <a:spcBef>
                <a:spcPts val="300"/>
              </a:spcBef>
            </a:pPr>
            <a:r>
              <a:rPr sz="1200" dirty="0">
                <a:solidFill>
                  <a:srgbClr val="000000"/>
                </a:solidFill>
                <a:latin typeface="Calibri"/>
              </a:rPr>
              <a:t>• </a:t>
            </a:r>
            <a:r>
              <a:rPr sz="1200" dirty="0" err="1">
                <a:solidFill>
                  <a:srgbClr val="000000"/>
                </a:solidFill>
                <a:latin typeface="Calibri"/>
              </a:rPr>
              <a:t>cudaEventElapsedTime</a:t>
            </a:r>
            <a:r>
              <a:rPr sz="1200" dirty="0">
                <a:solidFill>
                  <a:srgbClr val="000000"/>
                </a:solidFill>
                <a:latin typeface="Calibri"/>
              </a:rPr>
              <a:t>: </a:t>
            </a:r>
            <a:r>
              <a:rPr sz="1200" dirty="0" err="1">
                <a:solidFill>
                  <a:srgbClr val="000000"/>
                </a:solidFill>
                <a:latin typeface="Calibri"/>
              </a:rPr>
              <a:t>mide</a:t>
            </a:r>
            <a:r>
              <a:rPr sz="1200" dirty="0">
                <a:solidFill>
                  <a:srgbClr val="000000"/>
                </a:solidFill>
                <a:latin typeface="Calibri"/>
              </a:rPr>
              <a:t> solo </a:t>
            </a:r>
            <a:r>
              <a:rPr sz="1200" dirty="0" err="1">
                <a:solidFill>
                  <a:srgbClr val="000000"/>
                </a:solidFill>
                <a:latin typeface="Calibri"/>
              </a:rPr>
              <a:t>los</a:t>
            </a:r>
            <a:r>
              <a:rPr sz="1200" dirty="0">
                <a:solidFill>
                  <a:srgbClr val="000000"/>
                </a:solidFill>
                <a:latin typeface="Calibri"/>
              </a:rPr>
              <a:t> kernels GPU, </a:t>
            </a:r>
            <a:r>
              <a:rPr sz="1200" dirty="0" err="1">
                <a:solidFill>
                  <a:srgbClr val="000000"/>
                </a:solidFill>
                <a:latin typeface="Calibri"/>
              </a:rPr>
              <a:t>excluye</a:t>
            </a:r>
            <a:r>
              <a:rPr sz="1200" dirty="0">
                <a:solidFill>
                  <a:srgbClr val="000000"/>
                </a:solidFill>
                <a:latin typeface="Calibri"/>
              </a:rPr>
              <a:t> </a:t>
            </a:r>
            <a:r>
              <a:rPr sz="1200" dirty="0" err="1">
                <a:solidFill>
                  <a:srgbClr val="000000"/>
                </a:solidFill>
                <a:latin typeface="Calibri"/>
              </a:rPr>
              <a:t>transferencias</a:t>
            </a:r>
            <a:r>
              <a:rPr sz="1200" dirty="0">
                <a:solidFill>
                  <a:srgbClr val="000000"/>
                </a:solidFill>
                <a:latin typeface="Calibri"/>
              </a:rPr>
              <a:t> CPU↔GPU</a:t>
            </a:r>
          </a:p>
          <a:p>
            <a:pPr>
              <a:spcBef>
                <a:spcPts val="300"/>
              </a:spcBef>
            </a:pPr>
            <a:r>
              <a:t>• RTX 4060: 3 072 CUDA cores disponibles → 106× speedup sobre V1 secuencial</a:t>
            </a:r>
            <a:endParaRPr sz="1200" dirty="0">
              <a:solidFill>
                <a:srgbClr val="000000"/>
              </a:solidFill>
              <a:latin typeface="Calibri"/>
            </a:endParaRPr>
          </a:p>
        </p:txBody>
      </p:sp>
      <p:sp>
        <p:nvSpPr>
          <p:cNvPr id="18" name="Rectangle 17"/>
          <p:cNvSpPr/>
          <p:nvPr/>
        </p:nvSpPr>
        <p:spPr>
          <a:xfrm>
            <a:off x="6126480" y="5157216"/>
            <a:ext cx="5669280" cy="347472"/>
          </a:xfrm>
          <a:prstGeom prst="rect">
            <a:avLst/>
          </a:prstGeom>
          <a:solidFill>
            <a:srgbClr val="1F3564"/>
          </a:solidFill>
          <a:ln w="12700">
            <a:solidFill>
              <a:srgbClr val="70B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63640" y="5212079"/>
            <a:ext cx="5394960" cy="292388"/>
          </a:xfrm>
          <a:prstGeom prst="rect">
            <a:avLst/>
          </a:prstGeom>
          <a:noFill/>
        </p:spPr>
        <p:txBody>
          <a:bodyPr wrap="square">
            <a:spAutoFit/>
          </a:bodyPr>
          <a:lstStyle/>
          <a:p>
            <a:pPr algn="ctr"/>
            <a:r>
              <a:rPr sz="1300" b="0" i="0" dirty="0">
                <a:solidFill>
                  <a:srgbClr val="FFFFFF"/>
                </a:solidFill>
                <a:latin typeface="Calibri"/>
              </a:rPr>
              <a:t>1.927 s  →  0.018 s  ·  Speedup: 106.17×</a:t>
            </a:r>
          </a:p>
        </p:txBody>
      </p:sp>
      <p:sp>
        <p:nvSpPr>
          <p:cNvPr id="20" name="Rectangle 19"/>
          <p:cNvSpPr/>
          <p:nvPr/>
        </p:nvSpPr>
        <p:spPr>
          <a:xfrm>
            <a:off x="365760" y="5852160"/>
            <a:ext cx="5577840" cy="219456"/>
          </a:xfrm>
          <a:prstGeom prst="rect">
            <a:avLst/>
          </a:prstGeom>
          <a:solidFill>
            <a:srgbClr val="008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84505" y="5816789"/>
            <a:ext cx="5394960" cy="307777"/>
          </a:xfrm>
          <a:prstGeom prst="rect">
            <a:avLst/>
          </a:prstGeom>
          <a:noFill/>
        </p:spPr>
        <p:txBody>
          <a:bodyPr wrap="square">
            <a:spAutoFit/>
          </a:bodyPr>
          <a:lstStyle/>
          <a:p>
            <a:pPr algn="l"/>
            <a:r>
              <a:rPr sz="1400" b="1" i="0" dirty="0">
                <a:solidFill>
                  <a:srgbClr val="FFFFFF"/>
                </a:solidFill>
                <a:latin typeface="Calibri"/>
              </a:rPr>
              <a:t>✔  </a:t>
            </a:r>
            <a:r>
              <a:rPr sz="1400" b="1" i="0" dirty="0" err="1">
                <a:solidFill>
                  <a:srgbClr val="FFFFFF"/>
                </a:solidFill>
                <a:latin typeface="Calibri"/>
              </a:rPr>
              <a:t>Ventajas</a:t>
            </a:r>
            <a:r>
              <a:rPr sz="1400" b="1" i="0" dirty="0">
                <a:solidFill>
                  <a:srgbClr val="FFFFFF"/>
                </a:solidFill>
                <a:latin typeface="Calibri"/>
              </a:rPr>
              <a:t> clave de V6</a:t>
            </a:r>
          </a:p>
        </p:txBody>
      </p:sp>
      <p:sp>
        <p:nvSpPr>
          <p:cNvPr id="22" name="TextBox 21"/>
          <p:cNvSpPr txBox="1"/>
          <p:nvPr/>
        </p:nvSpPr>
        <p:spPr>
          <a:xfrm>
            <a:off x="365760" y="6089904"/>
            <a:ext cx="5577840" cy="469359"/>
          </a:xfrm>
          <a:prstGeom prst="rect">
            <a:avLst/>
          </a:prstGeom>
          <a:noFill/>
        </p:spPr>
        <p:txBody>
          <a:bodyPr wrap="square">
            <a:spAutoFit/>
          </a:bodyPr>
          <a:lstStyle/>
          <a:p>
            <a:pPr>
              <a:spcBef>
                <a:spcPts val="300"/>
              </a:spcBef>
            </a:pPr>
            <a:r>
              <a:rPr sz="1100" dirty="0">
                <a:solidFill>
                  <a:srgbClr val="000000"/>
                </a:solidFill>
                <a:latin typeface="Calibri"/>
              </a:rPr>
              <a:t>• Guarda de </a:t>
            </a:r>
            <a:r>
              <a:rPr sz="1100" dirty="0" err="1">
                <a:solidFill>
                  <a:srgbClr val="000000"/>
                </a:solidFill>
                <a:latin typeface="Calibri"/>
              </a:rPr>
              <a:t>límites</a:t>
            </a:r>
            <a:r>
              <a:rPr sz="1100" dirty="0">
                <a:solidFill>
                  <a:srgbClr val="000000"/>
                </a:solidFill>
                <a:latin typeface="Calibri"/>
              </a:rPr>
              <a:t>: cero </a:t>
            </a:r>
            <a:r>
              <a:rPr sz="1100" dirty="0" err="1">
                <a:solidFill>
                  <a:srgbClr val="000000"/>
                </a:solidFill>
                <a:latin typeface="Calibri"/>
              </a:rPr>
              <a:t>accesos</a:t>
            </a:r>
            <a:r>
              <a:rPr sz="1100" dirty="0">
                <a:solidFill>
                  <a:srgbClr val="000000"/>
                </a:solidFill>
                <a:latin typeface="Calibri"/>
              </a:rPr>
              <a:t> fuera de la memoria GPU (undefined behavior </a:t>
            </a:r>
            <a:r>
              <a:rPr sz="1100" dirty="0" err="1">
                <a:solidFill>
                  <a:srgbClr val="000000"/>
                </a:solidFill>
                <a:latin typeface="Calibri"/>
              </a:rPr>
              <a:t>evitado</a:t>
            </a:r>
            <a:r>
              <a:rPr sz="1100" dirty="0">
                <a:solidFill>
                  <a:srgbClr val="000000"/>
                </a:solidFill>
                <a:latin typeface="Calibri"/>
              </a:rPr>
              <a:t>)</a:t>
            </a:r>
          </a:p>
          <a:p>
            <a:pPr>
              <a:spcBef>
                <a:spcPts val="300"/>
              </a:spcBef>
            </a:pPr>
            <a:r>
              <a:rPr sz="1100" dirty="0">
                <a:solidFill>
                  <a:srgbClr val="000000"/>
                </a:solidFill>
                <a:latin typeface="Calibri"/>
              </a:rPr>
              <a:t>• </a:t>
            </a:r>
            <a:r>
              <a:rPr sz="1100" dirty="0" err="1">
                <a:solidFill>
                  <a:srgbClr val="000000"/>
                </a:solidFill>
                <a:latin typeface="Calibri"/>
              </a:rPr>
              <a:t>cudaGetLastError</a:t>
            </a:r>
            <a:r>
              <a:rPr sz="1100" dirty="0">
                <a:solidFill>
                  <a:srgbClr val="000000"/>
                </a:solidFill>
                <a:latin typeface="Calibri"/>
              </a:rPr>
              <a:t> </a:t>
            </a:r>
            <a:r>
              <a:rPr sz="1100" dirty="0" err="1">
                <a:solidFill>
                  <a:srgbClr val="000000"/>
                </a:solidFill>
                <a:latin typeface="Calibri"/>
              </a:rPr>
              <a:t>tras</a:t>
            </a:r>
            <a:r>
              <a:rPr sz="1100" dirty="0">
                <a:solidFill>
                  <a:srgbClr val="000000"/>
                </a:solidFill>
                <a:latin typeface="Calibri"/>
              </a:rPr>
              <a:t> </a:t>
            </a:r>
            <a:r>
              <a:rPr sz="1100" dirty="0" err="1">
                <a:solidFill>
                  <a:srgbClr val="000000"/>
                </a:solidFill>
                <a:latin typeface="Calibri"/>
              </a:rPr>
              <a:t>cada</a:t>
            </a:r>
            <a:r>
              <a:rPr sz="1100" dirty="0">
                <a:solidFill>
                  <a:srgbClr val="000000"/>
                </a:solidFill>
                <a:latin typeface="Calibri"/>
              </a:rPr>
              <a:t> kernel: </a:t>
            </a:r>
            <a:r>
              <a:rPr sz="1100" dirty="0" err="1">
                <a:solidFill>
                  <a:srgbClr val="000000"/>
                </a:solidFill>
                <a:latin typeface="Calibri"/>
              </a:rPr>
              <a:t>errores</a:t>
            </a:r>
            <a:r>
              <a:rPr sz="1100" dirty="0">
                <a:solidFill>
                  <a:srgbClr val="000000"/>
                </a:solidFill>
                <a:latin typeface="Calibri"/>
              </a:rPr>
              <a:t> </a:t>
            </a:r>
            <a:r>
              <a:rPr sz="1100" dirty="0" err="1">
                <a:solidFill>
                  <a:srgbClr val="000000"/>
                </a:solidFill>
                <a:latin typeface="Calibri"/>
              </a:rPr>
              <a:t>detectados</a:t>
            </a:r>
            <a:r>
              <a:rPr sz="1100" dirty="0">
                <a:solidFill>
                  <a:srgbClr val="000000"/>
                </a:solidFill>
                <a:latin typeface="Calibri"/>
              </a:rPr>
              <a:t> y </a:t>
            </a:r>
            <a:r>
              <a:rPr sz="1100" dirty="0" err="1">
                <a:solidFill>
                  <a:srgbClr val="000000"/>
                </a:solidFill>
                <a:latin typeface="Calibri"/>
              </a:rPr>
              <a:t>reportados</a:t>
            </a:r>
            <a:r>
              <a:rPr sz="1100" dirty="0">
                <a:solidFill>
                  <a:srgbClr val="000000"/>
                </a:solidFill>
                <a:latin typeface="Calibri"/>
              </a:rPr>
              <a:t> </a:t>
            </a:r>
            <a:r>
              <a:rPr sz="1100" dirty="0" err="1">
                <a:solidFill>
                  <a:srgbClr val="000000"/>
                </a:solidFill>
                <a:latin typeface="Calibri"/>
              </a:rPr>
              <a:t>inmediatamente</a:t>
            </a:r>
            <a:endParaRPr sz="1100" dirty="0">
              <a:solidFill>
                <a:srgbClr val="000000"/>
              </a:solidFill>
              <a:latin typeface="Calibri"/>
            </a:endParaRPr>
          </a:p>
        </p:txBody>
      </p:sp>
      <p:sp>
        <p:nvSpPr>
          <p:cNvPr id="23" name="Rectangle 22"/>
          <p:cNvSpPr/>
          <p:nvPr/>
        </p:nvSpPr>
        <p:spPr>
          <a:xfrm>
            <a:off x="6126480" y="5852160"/>
            <a:ext cx="5669280" cy="219456"/>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17920" y="5806440"/>
            <a:ext cx="5486400" cy="307777"/>
          </a:xfrm>
          <a:prstGeom prst="rect">
            <a:avLst/>
          </a:prstGeom>
          <a:noFill/>
        </p:spPr>
        <p:txBody>
          <a:bodyPr wrap="square">
            <a:spAutoFit/>
          </a:bodyPr>
          <a:lstStyle/>
          <a:p>
            <a:pPr algn="l"/>
            <a:r>
              <a:rPr sz="1400" b="1" i="0" dirty="0" err="1">
                <a:solidFill>
                  <a:srgbClr val="FFFFFF"/>
                </a:solidFill>
                <a:latin typeface="Calibri"/>
              </a:rPr>
              <a:t>Limitación</a:t>
            </a:r>
            <a:r>
              <a:rPr sz="1400" b="1" i="0" dirty="0">
                <a:solidFill>
                  <a:srgbClr val="FFFFFF"/>
                </a:solidFill>
                <a:latin typeface="Calibri"/>
              </a:rPr>
              <a:t> de V6</a:t>
            </a:r>
          </a:p>
        </p:txBody>
      </p:sp>
      <p:sp>
        <p:nvSpPr>
          <p:cNvPr id="25" name="TextBox 24"/>
          <p:cNvSpPr txBox="1"/>
          <p:nvPr/>
        </p:nvSpPr>
        <p:spPr>
          <a:xfrm>
            <a:off x="6126480" y="6089904"/>
            <a:ext cx="5669280" cy="685800"/>
          </a:xfrm>
          <a:prstGeom prst="rect">
            <a:avLst/>
          </a:prstGeom>
          <a:noFill/>
        </p:spPr>
        <p:txBody>
          <a:bodyPr wrap="square">
            <a:spAutoFit/>
          </a:bodyPr>
          <a:lstStyle/>
          <a:p>
            <a:pPr>
              <a:spcBef>
                <a:spcPts val="300"/>
              </a:spcBef>
            </a:pPr>
            <a:r>
              <a:rPr sz="1100" dirty="0">
                <a:solidFill>
                  <a:srgbClr val="000000"/>
                </a:solidFill>
                <a:latin typeface="Calibri"/>
              </a:rPr>
              <a:t>• Las </a:t>
            </a:r>
            <a:r>
              <a:rPr sz="1100" dirty="0" err="1">
                <a:solidFill>
                  <a:srgbClr val="000000"/>
                </a:solidFill>
                <a:latin typeface="Calibri"/>
              </a:rPr>
              <a:t>transferencias</a:t>
            </a:r>
            <a:r>
              <a:rPr sz="1100" dirty="0">
                <a:solidFill>
                  <a:srgbClr val="000000"/>
                </a:solidFill>
                <a:latin typeface="Calibri"/>
              </a:rPr>
              <a:t> </a:t>
            </a:r>
            <a:r>
              <a:rPr sz="1100" dirty="0" err="1">
                <a:solidFill>
                  <a:srgbClr val="000000"/>
                </a:solidFill>
                <a:latin typeface="Calibri"/>
              </a:rPr>
              <a:t>cudaMemcpy</a:t>
            </a:r>
            <a:r>
              <a:rPr sz="1100" dirty="0">
                <a:solidFill>
                  <a:srgbClr val="000000"/>
                </a:solidFill>
                <a:latin typeface="Calibri"/>
              </a:rPr>
              <a:t> CPU↔GPU (no </a:t>
            </a:r>
            <a:r>
              <a:rPr sz="1100" dirty="0" err="1">
                <a:solidFill>
                  <a:srgbClr val="000000"/>
                </a:solidFill>
                <a:latin typeface="Calibri"/>
              </a:rPr>
              <a:t>medidas</a:t>
            </a:r>
            <a:r>
              <a:rPr sz="1100" dirty="0">
                <a:solidFill>
                  <a:srgbClr val="000000"/>
                </a:solidFill>
                <a:latin typeface="Calibri"/>
              </a:rPr>
              <a:t>) </a:t>
            </a:r>
            <a:r>
              <a:rPr sz="1100" dirty="0" err="1">
                <a:solidFill>
                  <a:srgbClr val="000000"/>
                </a:solidFill>
                <a:latin typeface="Calibri"/>
              </a:rPr>
              <a:t>pueden</a:t>
            </a:r>
            <a:r>
              <a:rPr sz="1100" dirty="0">
                <a:solidFill>
                  <a:srgbClr val="000000"/>
                </a:solidFill>
                <a:latin typeface="Calibri"/>
              </a:rPr>
              <a:t> </a:t>
            </a:r>
            <a:r>
              <a:rPr sz="1100" dirty="0" err="1">
                <a:solidFill>
                  <a:srgbClr val="000000"/>
                </a:solidFill>
                <a:latin typeface="Calibri"/>
              </a:rPr>
              <a:t>dominar</a:t>
            </a:r>
            <a:r>
              <a:rPr sz="1100" dirty="0">
                <a:solidFill>
                  <a:srgbClr val="000000"/>
                </a:solidFill>
                <a:latin typeface="Calibri"/>
              </a:rPr>
              <a:t> </a:t>
            </a:r>
            <a:r>
              <a:rPr sz="1100" dirty="0" err="1">
                <a:solidFill>
                  <a:srgbClr val="000000"/>
                </a:solidFill>
                <a:latin typeface="Calibri"/>
              </a:rPr>
              <a:t>si</a:t>
            </a:r>
            <a:r>
              <a:rPr sz="1100" dirty="0">
                <a:solidFill>
                  <a:srgbClr val="000000"/>
                </a:solidFill>
                <a:latin typeface="Calibri"/>
              </a:rPr>
              <a:t> N es </a:t>
            </a:r>
            <a:r>
              <a:rPr sz="1100" dirty="0" err="1">
                <a:solidFill>
                  <a:srgbClr val="000000"/>
                </a:solidFill>
                <a:latin typeface="Calibri"/>
              </a:rPr>
              <a:t>pequeño</a:t>
            </a:r>
            <a:endParaRPr sz="1100" dirty="0">
              <a:solidFill>
                <a:srgbClr val="000000"/>
              </a:solidFill>
              <a:latin typeface="Calibri"/>
            </a:endParaRPr>
          </a:p>
          <a:p>
            <a:pPr>
              <a:spcBef>
                <a:spcPts val="300"/>
              </a:spcBef>
            </a:pPr>
            <a:r>
              <a:rPr sz="1100" dirty="0">
                <a:solidFill>
                  <a:srgbClr val="000000"/>
                </a:solidFill>
                <a:latin typeface="Calibri"/>
              </a:rPr>
              <a:t>• Para N=1000 </a:t>
            </a:r>
            <a:r>
              <a:rPr sz="1100" dirty="0" err="1">
                <a:solidFill>
                  <a:srgbClr val="000000"/>
                </a:solidFill>
                <a:latin typeface="Calibri"/>
              </a:rPr>
              <a:t>el</a:t>
            </a:r>
            <a:r>
              <a:rPr sz="1100" dirty="0">
                <a:solidFill>
                  <a:srgbClr val="000000"/>
                </a:solidFill>
                <a:latin typeface="Calibri"/>
              </a:rPr>
              <a:t> </a:t>
            </a:r>
            <a:r>
              <a:rPr sz="1100" dirty="0" err="1">
                <a:solidFill>
                  <a:srgbClr val="000000"/>
                </a:solidFill>
                <a:latin typeface="Calibri"/>
              </a:rPr>
              <a:t>cómputo</a:t>
            </a:r>
            <a:r>
              <a:rPr sz="1100" dirty="0">
                <a:solidFill>
                  <a:srgbClr val="000000"/>
                </a:solidFill>
                <a:latin typeface="Calibri"/>
              </a:rPr>
              <a:t> es lo </a:t>
            </a:r>
            <a:r>
              <a:rPr sz="1100" dirty="0" err="1">
                <a:solidFill>
                  <a:srgbClr val="000000"/>
                </a:solidFill>
                <a:latin typeface="Calibri"/>
              </a:rPr>
              <a:t>suficientemente</a:t>
            </a:r>
            <a:r>
              <a:rPr sz="1100" dirty="0">
                <a:solidFill>
                  <a:srgbClr val="000000"/>
                </a:solidFill>
                <a:latin typeface="Calibri"/>
              </a:rPr>
              <a:t> </a:t>
            </a:r>
            <a:r>
              <a:rPr sz="1100" dirty="0" err="1">
                <a:solidFill>
                  <a:srgbClr val="000000"/>
                </a:solidFill>
                <a:latin typeface="Calibri"/>
              </a:rPr>
              <a:t>intenso</a:t>
            </a:r>
            <a:r>
              <a:rPr sz="1100" dirty="0">
                <a:solidFill>
                  <a:srgbClr val="000000"/>
                </a:solidFill>
                <a:latin typeface="Calibri"/>
              </a:rPr>
              <a:t> para </a:t>
            </a:r>
            <a:r>
              <a:rPr sz="1100" dirty="0" err="1">
                <a:solidFill>
                  <a:srgbClr val="000000"/>
                </a:solidFill>
                <a:latin typeface="Calibri"/>
              </a:rPr>
              <a:t>amortizarlas</a:t>
            </a:r>
            <a:endParaRPr sz="1100" dirty="0">
              <a:solidFill>
                <a:srgbClr val="000000"/>
              </a:solidFill>
              <a:latin typeface="Calibri"/>
            </a:endParaRPr>
          </a:p>
        </p:txBody>
      </p:sp>
      <p:sp>
        <p:nvSpPr>
          <p:cNvPr id="26" name="Rectangle 25">
            <a:hlinkClick r:id="rId3"/>
          </p:cNvPr>
          <p:cNvSpPr/>
          <p:nvPr/>
        </p:nvSpPr>
        <p:spPr>
          <a:xfrm>
            <a:off x="3337560" y="6601330"/>
            <a:ext cx="5577840" cy="192662"/>
          </a:xfrm>
          <a:prstGeom prst="rect">
            <a:avLst/>
          </a:prstGeom>
          <a:solidFill>
            <a:srgbClr val="2E74B5"/>
          </a:solidFill>
          <a:ln w="6350">
            <a:solidFill>
              <a:srgbClr val="1F3564"/>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dirty="0">
                <a:solidFill>
                  <a:srgbClr val="FFFFFF"/>
                </a:solidFill>
                <a:latin typeface="Calibri"/>
              </a:rPr>
              <a:t>Ver V6_cuda.cu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7899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12880" cy="658368"/>
          </a:xfrm>
          <a:prstGeom prst="rect">
            <a:avLst/>
          </a:prstGeom>
          <a:noFill/>
        </p:spPr>
        <p:txBody>
          <a:bodyPr wrap="square">
            <a:spAutoFit/>
          </a:bodyPr>
          <a:lstStyle/>
          <a:p>
            <a:pPr algn="l"/>
            <a:r>
              <a:rPr sz="2600" b="1" i="0">
                <a:solidFill>
                  <a:srgbClr val="FFFFFF"/>
                </a:solidFill>
                <a:latin typeface="Calibri"/>
              </a:rPr>
              <a:t>Resultados: Comparación y Discusión</a:t>
            </a:r>
          </a:p>
        </p:txBody>
      </p:sp>
      <p:sp>
        <p:nvSpPr>
          <p:cNvPr id="4" name="TextBox 3"/>
          <p:cNvSpPr txBox="1"/>
          <p:nvPr/>
        </p:nvSpPr>
        <p:spPr>
          <a:xfrm>
            <a:off x="274320" y="713232"/>
            <a:ext cx="11612880" cy="329184"/>
          </a:xfrm>
          <a:prstGeom prst="rect">
            <a:avLst/>
          </a:prstGeom>
          <a:noFill/>
        </p:spPr>
        <p:txBody>
          <a:bodyPr wrap="square">
            <a:spAutoFit/>
          </a:bodyPr>
          <a:lstStyle/>
          <a:p>
            <a:pPr algn="l"/>
            <a:r>
              <a:rPr sz="1200" b="0" i="0">
                <a:solidFill>
                  <a:srgbClr val="D6E4F7"/>
                </a:solidFill>
                <a:latin typeface="Calibri"/>
              </a:rPr>
              <a:t>N=1000 · Generaciones=1000 · Mejor de 5 repeticiones · Plataforma local</a:t>
            </a:r>
          </a:p>
        </p:txBody>
      </p:sp>
      <p:graphicFrame>
        <p:nvGraphicFramePr>
          <p:cNvPr id="5" name="Table 4"/>
          <p:cNvGraphicFramePr>
            <a:graphicFrameLocks noGrp="1"/>
          </p:cNvGraphicFramePr>
          <p:nvPr>
            <p:extLst>
              <p:ext uri="{D42A27DB-BD31-4B8C-83A1-F6EECF244321}">
                <p14:modId xmlns:p14="http://schemas.microsoft.com/office/powerpoint/2010/main" val="543365044"/>
              </p:ext>
            </p:extLst>
          </p:nvPr>
        </p:nvGraphicFramePr>
        <p:xfrm>
          <a:off x="365760" y="1188720"/>
          <a:ext cx="7498079" cy="2926080"/>
        </p:xfrm>
        <a:graphic>
          <a:graphicData uri="http://schemas.openxmlformats.org/drawingml/2006/table">
            <a:tbl>
              <a:tblPr firstRow="1" bandRow="1">
                <a:tableStyleId>{5C22544A-7EE6-4342-B048-85BDC9FD1C3A}</a:tableStyleId>
              </a:tblPr>
              <a:tblGrid>
                <a:gridCol w="1499615">
                  <a:extLst>
                    <a:ext uri="{9D8B030D-6E8A-4147-A177-3AD203B41FA5}">
                      <a16:colId xmlns:a16="http://schemas.microsoft.com/office/drawing/2014/main" val="20000"/>
                    </a:ext>
                  </a:extLst>
                </a:gridCol>
                <a:gridCol w="1499615">
                  <a:extLst>
                    <a:ext uri="{9D8B030D-6E8A-4147-A177-3AD203B41FA5}">
                      <a16:colId xmlns:a16="http://schemas.microsoft.com/office/drawing/2014/main" val="20001"/>
                    </a:ext>
                  </a:extLst>
                </a:gridCol>
                <a:gridCol w="1499615">
                  <a:extLst>
                    <a:ext uri="{9D8B030D-6E8A-4147-A177-3AD203B41FA5}">
                      <a16:colId xmlns:a16="http://schemas.microsoft.com/office/drawing/2014/main" val="20002"/>
                    </a:ext>
                  </a:extLst>
                </a:gridCol>
                <a:gridCol w="1499615">
                  <a:extLst>
                    <a:ext uri="{9D8B030D-6E8A-4147-A177-3AD203B41FA5}">
                      <a16:colId xmlns:a16="http://schemas.microsoft.com/office/drawing/2014/main" val="20003"/>
                    </a:ext>
                  </a:extLst>
                </a:gridCol>
                <a:gridCol w="1499619">
                  <a:extLst>
                    <a:ext uri="{9D8B030D-6E8A-4147-A177-3AD203B41FA5}">
                      <a16:colId xmlns:a16="http://schemas.microsoft.com/office/drawing/2014/main" val="20004"/>
                    </a:ext>
                  </a:extLst>
                </a:gridCol>
              </a:tblGrid>
              <a:tr h="402336">
                <a:tc>
                  <a:txBody>
                    <a:bodyPr/>
                    <a:lstStyle/>
                    <a:p>
                      <a:pPr algn="ctr"/>
                      <a:r>
                        <a:rPr sz="1200" b="1" dirty="0" err="1">
                          <a:solidFill>
                            <a:srgbClr val="FFFFFF"/>
                          </a:solidFill>
                          <a:latin typeface="Calibri"/>
                        </a:rPr>
                        <a:t>Versión</a:t>
                      </a:r>
                      <a:endParaRPr sz="1200" b="1" dirty="0">
                        <a:solidFill>
                          <a:srgbClr val="FFFFFF"/>
                        </a:solidFill>
                        <a:latin typeface="Calibri"/>
                      </a:endParaRPr>
                    </a:p>
                  </a:txBody>
                  <a:tcPr>
                    <a:solidFill>
                      <a:srgbClr val="1F3564"/>
                    </a:solidFill>
                  </a:tcPr>
                </a:tc>
                <a:tc>
                  <a:txBody>
                    <a:bodyPr/>
                    <a:lstStyle/>
                    <a:p>
                      <a:pPr algn="ctr"/>
                      <a:r>
                        <a:rPr sz="1200" b="1">
                          <a:solidFill>
                            <a:srgbClr val="FFFFFF"/>
                          </a:solidFill>
                          <a:latin typeface="Calibri"/>
                        </a:rPr>
                        <a:t>Configuración</a:t>
                      </a:r>
                    </a:p>
                  </a:txBody>
                  <a:tcPr>
                    <a:solidFill>
                      <a:srgbClr val="1F3564"/>
                    </a:solidFill>
                  </a:tcPr>
                </a:tc>
                <a:tc>
                  <a:txBody>
                    <a:bodyPr/>
                    <a:lstStyle/>
                    <a:p>
                      <a:pPr algn="ctr"/>
                      <a:r>
                        <a:rPr sz="1200" b="1">
                          <a:solidFill>
                            <a:srgbClr val="FFFFFF"/>
                          </a:solidFill>
                          <a:latin typeface="Calibri"/>
                        </a:rPr>
                        <a:t>Mejor Tiempo</a:t>
                      </a:r>
                    </a:p>
                  </a:txBody>
                  <a:tcPr>
                    <a:solidFill>
                      <a:srgbClr val="1F3564"/>
                    </a:solidFill>
                  </a:tcPr>
                </a:tc>
                <a:tc>
                  <a:txBody>
                    <a:bodyPr/>
                    <a:lstStyle/>
                    <a:p>
                      <a:pPr algn="ctr"/>
                      <a:r>
                        <a:rPr sz="1200" b="1">
                          <a:solidFill>
                            <a:srgbClr val="FFFFFF"/>
                          </a:solidFill>
                          <a:latin typeface="Calibri"/>
                        </a:rPr>
                        <a:t>Células Vivas</a:t>
                      </a:r>
                    </a:p>
                  </a:txBody>
                  <a:tcPr>
                    <a:solidFill>
                      <a:srgbClr val="1F3564"/>
                    </a:solidFill>
                  </a:tcPr>
                </a:tc>
                <a:tc>
                  <a:txBody>
                    <a:bodyPr/>
                    <a:lstStyle/>
                    <a:p>
                      <a:pPr algn="ctr"/>
                      <a:r>
                        <a:rPr sz="1200" b="1">
                          <a:solidFill>
                            <a:srgbClr val="FFFFFF"/>
                          </a:solidFill>
                          <a:latin typeface="Calibri"/>
                        </a:rPr>
                        <a:t>Speedup vs V1</a:t>
                      </a:r>
                    </a:p>
                  </a:txBody>
                  <a:tcPr>
                    <a:solidFill>
                      <a:srgbClr val="1F3564"/>
                    </a:solidFill>
                  </a:tcPr>
                </a:tc>
                <a:extLst>
                  <a:ext uri="{0D108BD9-81ED-4DB2-BD59-A6C34878D82A}">
                    <a16:rowId xmlns:a16="http://schemas.microsoft.com/office/drawing/2014/main" val="10000"/>
                  </a:ext>
                </a:extLst>
              </a:tr>
              <a:tr h="402336">
                <a:tc>
                  <a:txBody>
                    <a:bodyPr/>
                    <a:lstStyle/>
                    <a:p>
                      <a:pPr algn="l"/>
                      <a:r>
                        <a:rPr sz="1200" dirty="0">
                          <a:solidFill>
                            <a:srgbClr val="000000"/>
                          </a:solidFill>
                          <a:latin typeface="Calibri"/>
                        </a:rPr>
                        <a:t>V1 · </a:t>
                      </a:r>
                      <a:r>
                        <a:rPr sz="1200" dirty="0" err="1">
                          <a:solidFill>
                            <a:srgbClr val="000000"/>
                          </a:solidFill>
                          <a:latin typeface="Calibri"/>
                        </a:rPr>
                        <a:t>Secuencial</a:t>
                      </a:r>
                      <a:endParaRPr sz="1200" dirty="0">
                        <a:solidFill>
                          <a:srgbClr val="000000"/>
                        </a:solidFill>
                        <a:latin typeface="Calibri"/>
                      </a:endParaRPr>
                    </a:p>
                  </a:txBody>
                  <a:tcPr>
                    <a:solidFill>
                      <a:srgbClr val="D6E4F7"/>
                    </a:solidFill>
                  </a:tcPr>
                </a:tc>
                <a:tc>
                  <a:txBody>
                    <a:bodyPr/>
                    <a:lstStyle/>
                    <a:p>
                      <a:pPr algn="ctr"/>
                      <a:r>
                        <a:rPr sz="1200" dirty="0">
                          <a:solidFill>
                            <a:srgbClr val="000000"/>
                          </a:solidFill>
                          <a:latin typeface="Calibri"/>
                        </a:rPr>
                        <a:t>Base vector&lt;vector&gt;</a:t>
                      </a:r>
                    </a:p>
                  </a:txBody>
                  <a:tcPr>
                    <a:solidFill>
                      <a:srgbClr val="D6E4F7"/>
                    </a:solidFill>
                  </a:tcPr>
                </a:tc>
                <a:tc>
                  <a:txBody>
                    <a:bodyPr/>
                    <a:lstStyle/>
                    <a:p>
                      <a:pPr algn="ctr"/>
                      <a:r>
                        <a:rPr sz="1200">
                          <a:solidFill>
                            <a:srgbClr val="000000"/>
                          </a:solidFill>
                          <a:latin typeface="Calibri"/>
                        </a:rPr>
                        <a:t>1.927 s</a:t>
                      </a:r>
                    </a:p>
                  </a:txBody>
                  <a:tcPr>
                    <a:solidFill>
                      <a:srgbClr val="D6E4F7"/>
                    </a:solidFill>
                  </a:tcPr>
                </a:tc>
                <a:tc>
                  <a:txBody>
                    <a:bodyPr/>
                    <a:lstStyle/>
                    <a:p>
                      <a:pPr algn="ctr"/>
                      <a:r>
                        <a:rPr sz="1200">
                          <a:solidFill>
                            <a:srgbClr val="000000"/>
                          </a:solidFill>
                          <a:latin typeface="Calibri"/>
                        </a:rPr>
                        <a:t>43 306</a:t>
                      </a:r>
                    </a:p>
                  </a:txBody>
                  <a:tcPr>
                    <a:solidFill>
                      <a:srgbClr val="D6E4F7"/>
                    </a:solidFill>
                  </a:tcPr>
                </a:tc>
                <a:tc>
                  <a:txBody>
                    <a:bodyPr/>
                    <a:lstStyle/>
                    <a:p>
                      <a:pPr algn="ctr"/>
                      <a:r>
                        <a:rPr sz="1200">
                          <a:solidFill>
                            <a:srgbClr val="000000"/>
                          </a:solidFill>
                          <a:latin typeface="Calibri"/>
                        </a:rPr>
                        <a:t>1.00×</a:t>
                      </a:r>
                    </a:p>
                  </a:txBody>
                  <a:tcPr>
                    <a:solidFill>
                      <a:srgbClr val="D6E4F7"/>
                    </a:solidFill>
                  </a:tcPr>
                </a:tc>
                <a:extLst>
                  <a:ext uri="{0D108BD9-81ED-4DB2-BD59-A6C34878D82A}">
                    <a16:rowId xmlns:a16="http://schemas.microsoft.com/office/drawing/2014/main" val="10001"/>
                  </a:ext>
                </a:extLst>
              </a:tr>
              <a:tr h="402336">
                <a:tc>
                  <a:txBody>
                    <a:bodyPr/>
                    <a:lstStyle/>
                    <a:p>
                      <a:pPr algn="l"/>
                      <a:r>
                        <a:rPr sz="1200" dirty="0">
                          <a:solidFill>
                            <a:srgbClr val="000000"/>
                          </a:solidFill>
                          <a:latin typeface="Calibri"/>
                        </a:rPr>
                        <a:t>V2 · Mem. </a:t>
                      </a:r>
                      <a:r>
                        <a:rPr sz="1200" dirty="0" err="1">
                          <a:solidFill>
                            <a:srgbClr val="000000"/>
                          </a:solidFill>
                          <a:latin typeface="Calibri"/>
                        </a:rPr>
                        <a:t>Contigua</a:t>
                      </a:r>
                      <a:endParaRPr sz="1200" dirty="0">
                        <a:solidFill>
                          <a:srgbClr val="000000"/>
                        </a:solidFill>
                        <a:latin typeface="Calibri"/>
                      </a:endParaRPr>
                    </a:p>
                  </a:txBody>
                  <a:tcPr>
                    <a:solidFill>
                      <a:srgbClr val="FFFFFF"/>
                    </a:solidFill>
                  </a:tcPr>
                </a:tc>
                <a:tc>
                  <a:txBody>
                    <a:bodyPr/>
                    <a:lstStyle/>
                    <a:p>
                      <a:pPr algn="ctr"/>
                      <a:r>
                        <a:rPr sz="1200" dirty="0">
                          <a:solidFill>
                            <a:srgbClr val="000000"/>
                          </a:solidFill>
                          <a:latin typeface="Calibri"/>
                        </a:rPr>
                        <a:t>vector&lt;int&gt; plano</a:t>
                      </a:r>
                    </a:p>
                  </a:txBody>
                  <a:tcPr>
                    <a:solidFill>
                      <a:srgbClr val="FFFFFF"/>
                    </a:solidFill>
                  </a:tcPr>
                </a:tc>
                <a:tc>
                  <a:txBody>
                    <a:bodyPr/>
                    <a:lstStyle/>
                    <a:p>
                      <a:pPr algn="ctr"/>
                      <a:r>
                        <a:rPr sz="1200" dirty="0">
                          <a:solidFill>
                            <a:srgbClr val="000000"/>
                          </a:solidFill>
                          <a:latin typeface="Calibri"/>
                        </a:rPr>
                        <a:t>1.560 s</a:t>
                      </a:r>
                    </a:p>
                  </a:txBody>
                  <a:tcPr>
                    <a:solidFill>
                      <a:srgbClr val="FFFFFF"/>
                    </a:solidFill>
                  </a:tcPr>
                </a:tc>
                <a:tc>
                  <a:txBody>
                    <a:bodyPr/>
                    <a:lstStyle/>
                    <a:p>
                      <a:pPr algn="ctr"/>
                      <a:r>
                        <a:rPr sz="1200">
                          <a:solidFill>
                            <a:srgbClr val="000000"/>
                          </a:solidFill>
                          <a:latin typeface="Calibri"/>
                        </a:rPr>
                        <a:t>43 306</a:t>
                      </a:r>
                    </a:p>
                  </a:txBody>
                  <a:tcPr>
                    <a:solidFill>
                      <a:srgbClr val="FFFFFF"/>
                    </a:solidFill>
                  </a:tcPr>
                </a:tc>
                <a:tc>
                  <a:txBody>
                    <a:bodyPr/>
                    <a:lstStyle/>
                    <a:p>
                      <a:pPr algn="ctr"/>
                      <a:r>
                        <a:rPr sz="1200">
                          <a:solidFill>
                            <a:srgbClr val="000000"/>
                          </a:solidFill>
                          <a:latin typeface="Calibri"/>
                        </a:rPr>
                        <a:t>1.24×</a:t>
                      </a:r>
                    </a:p>
                  </a:txBody>
                  <a:tcPr>
                    <a:solidFill>
                      <a:srgbClr val="FFFFFF"/>
                    </a:solidFill>
                  </a:tcPr>
                </a:tc>
                <a:extLst>
                  <a:ext uri="{0D108BD9-81ED-4DB2-BD59-A6C34878D82A}">
                    <a16:rowId xmlns:a16="http://schemas.microsoft.com/office/drawing/2014/main" val="10002"/>
                  </a:ext>
                </a:extLst>
              </a:tr>
              <a:tr h="402336">
                <a:tc>
                  <a:txBody>
                    <a:bodyPr/>
                    <a:lstStyle/>
                    <a:p>
                      <a:pPr algn="l"/>
                      <a:r>
                        <a:rPr sz="1200">
                          <a:solidFill>
                            <a:srgbClr val="000000"/>
                          </a:solidFill>
                          <a:latin typeface="Calibri"/>
                        </a:rPr>
                        <a:t>V3 · OpenMP</a:t>
                      </a:r>
                    </a:p>
                  </a:txBody>
                  <a:tcPr>
                    <a:solidFill>
                      <a:srgbClr val="D6E4F7"/>
                    </a:solidFill>
                  </a:tcPr>
                </a:tc>
                <a:tc>
                  <a:txBody>
                    <a:bodyPr/>
                    <a:lstStyle/>
                    <a:p>
                      <a:pPr algn="ctr"/>
                      <a:r>
                        <a:rPr sz="1200" dirty="0">
                          <a:solidFill>
                            <a:srgbClr val="000000"/>
                          </a:solidFill>
                          <a:latin typeface="Calibri"/>
                        </a:rPr>
                        <a:t>8 </a:t>
                      </a:r>
                      <a:r>
                        <a:rPr sz="1200" dirty="0" err="1">
                          <a:solidFill>
                            <a:srgbClr val="000000"/>
                          </a:solidFill>
                          <a:latin typeface="Calibri"/>
                        </a:rPr>
                        <a:t>hilos</a:t>
                      </a:r>
                      <a:endParaRPr sz="1200" dirty="0">
                        <a:solidFill>
                          <a:srgbClr val="000000"/>
                        </a:solidFill>
                        <a:latin typeface="Calibri"/>
                      </a:endParaRPr>
                    </a:p>
                  </a:txBody>
                  <a:tcPr>
                    <a:solidFill>
                      <a:srgbClr val="D6E4F7"/>
                    </a:solidFill>
                  </a:tcPr>
                </a:tc>
                <a:tc>
                  <a:txBody>
                    <a:bodyPr/>
                    <a:lstStyle/>
                    <a:p>
                      <a:pPr algn="ctr"/>
                      <a:r>
                        <a:rPr sz="1200">
                          <a:solidFill>
                            <a:srgbClr val="000000"/>
                          </a:solidFill>
                          <a:latin typeface="Calibri"/>
                        </a:rPr>
                        <a:t>0.307 s</a:t>
                      </a:r>
                    </a:p>
                  </a:txBody>
                  <a:tcPr>
                    <a:solidFill>
                      <a:srgbClr val="D6E4F7"/>
                    </a:solidFill>
                  </a:tcPr>
                </a:tc>
                <a:tc>
                  <a:txBody>
                    <a:bodyPr/>
                    <a:lstStyle/>
                    <a:p>
                      <a:pPr algn="ctr"/>
                      <a:r>
                        <a:rPr sz="1200" dirty="0">
                          <a:solidFill>
                            <a:srgbClr val="000000"/>
                          </a:solidFill>
                          <a:latin typeface="Calibri"/>
                        </a:rPr>
                        <a:t>43 306</a:t>
                      </a:r>
                    </a:p>
                  </a:txBody>
                  <a:tcPr>
                    <a:solidFill>
                      <a:srgbClr val="D6E4F7"/>
                    </a:solidFill>
                  </a:tcPr>
                </a:tc>
                <a:tc>
                  <a:txBody>
                    <a:bodyPr/>
                    <a:lstStyle/>
                    <a:p>
                      <a:pPr algn="ctr"/>
                      <a:r>
                        <a:rPr sz="1200">
                          <a:solidFill>
                            <a:srgbClr val="000000"/>
                          </a:solidFill>
                          <a:latin typeface="Calibri"/>
                        </a:rPr>
                        <a:t>6.27×</a:t>
                      </a:r>
                    </a:p>
                  </a:txBody>
                  <a:tcPr>
                    <a:solidFill>
                      <a:srgbClr val="D6E4F7"/>
                    </a:solidFill>
                  </a:tcPr>
                </a:tc>
                <a:extLst>
                  <a:ext uri="{0D108BD9-81ED-4DB2-BD59-A6C34878D82A}">
                    <a16:rowId xmlns:a16="http://schemas.microsoft.com/office/drawing/2014/main" val="10003"/>
                  </a:ext>
                </a:extLst>
              </a:tr>
              <a:tr h="402336">
                <a:tc>
                  <a:txBody>
                    <a:bodyPr/>
                    <a:lstStyle/>
                    <a:p>
                      <a:pPr algn="l"/>
                      <a:r>
                        <a:rPr sz="1200">
                          <a:solidFill>
                            <a:srgbClr val="000000"/>
                          </a:solidFill>
                          <a:latin typeface="Calibri"/>
                        </a:rPr>
                        <a:t>V4 · MPI</a:t>
                      </a:r>
                    </a:p>
                  </a:txBody>
                  <a:tcPr>
                    <a:solidFill>
                      <a:srgbClr val="FFFFFF"/>
                    </a:solidFill>
                  </a:tcPr>
                </a:tc>
                <a:tc>
                  <a:txBody>
                    <a:bodyPr/>
                    <a:lstStyle/>
                    <a:p>
                      <a:pPr algn="ctr"/>
                      <a:r>
                        <a:rPr sz="1200">
                          <a:solidFill>
                            <a:srgbClr val="000000"/>
                          </a:solidFill>
                          <a:latin typeface="Calibri"/>
                        </a:rPr>
                        <a:t>8 procesos</a:t>
                      </a:r>
                    </a:p>
                  </a:txBody>
                  <a:tcPr>
                    <a:solidFill>
                      <a:srgbClr val="FFFFFF"/>
                    </a:solidFill>
                  </a:tcPr>
                </a:tc>
                <a:tc>
                  <a:txBody>
                    <a:bodyPr/>
                    <a:lstStyle/>
                    <a:p>
                      <a:pPr algn="ctr"/>
                      <a:r>
                        <a:rPr sz="1200">
                          <a:solidFill>
                            <a:srgbClr val="000000"/>
                          </a:solidFill>
                          <a:latin typeface="Calibri"/>
                        </a:rPr>
                        <a:t>0.311 s</a:t>
                      </a:r>
                    </a:p>
                  </a:txBody>
                  <a:tcPr>
                    <a:solidFill>
                      <a:srgbClr val="FFFFFF"/>
                    </a:solidFill>
                  </a:tcPr>
                </a:tc>
                <a:tc>
                  <a:txBody>
                    <a:bodyPr/>
                    <a:lstStyle/>
                    <a:p>
                      <a:pPr algn="ctr"/>
                      <a:r>
                        <a:rPr sz="1200" dirty="0">
                          <a:solidFill>
                            <a:srgbClr val="000000"/>
                          </a:solidFill>
                          <a:latin typeface="Calibri"/>
                        </a:rPr>
                        <a:t>43 306</a:t>
                      </a:r>
                    </a:p>
                  </a:txBody>
                  <a:tcPr>
                    <a:solidFill>
                      <a:srgbClr val="FFFFFF"/>
                    </a:solidFill>
                  </a:tcPr>
                </a:tc>
                <a:tc>
                  <a:txBody>
                    <a:bodyPr/>
                    <a:lstStyle/>
                    <a:p>
                      <a:pPr algn="ctr"/>
                      <a:r>
                        <a:rPr sz="1200" dirty="0">
                          <a:solidFill>
                            <a:srgbClr val="000000"/>
                          </a:solidFill>
                          <a:latin typeface="Calibri"/>
                        </a:rPr>
                        <a:t>6.19×</a:t>
                      </a:r>
                    </a:p>
                  </a:txBody>
                  <a:tcPr>
                    <a:solidFill>
                      <a:srgbClr val="FFFFFF"/>
                    </a:solidFill>
                  </a:tcPr>
                </a:tc>
                <a:extLst>
                  <a:ext uri="{0D108BD9-81ED-4DB2-BD59-A6C34878D82A}">
                    <a16:rowId xmlns:a16="http://schemas.microsoft.com/office/drawing/2014/main" val="10004"/>
                  </a:ext>
                </a:extLst>
              </a:tr>
              <a:tr h="402336">
                <a:tc>
                  <a:txBody>
                    <a:bodyPr/>
                    <a:lstStyle/>
                    <a:p>
                      <a:pPr algn="l"/>
                      <a:r>
                        <a:rPr sz="1200">
                          <a:solidFill>
                            <a:srgbClr val="000000"/>
                          </a:solidFill>
                          <a:latin typeface="Calibri"/>
                        </a:rPr>
                        <a:t>V5 · MPI + OpenMP</a:t>
                      </a:r>
                    </a:p>
                  </a:txBody>
                  <a:tcPr>
                    <a:solidFill>
                      <a:srgbClr val="D6E4F7"/>
                    </a:solidFill>
                  </a:tcPr>
                </a:tc>
                <a:tc>
                  <a:txBody>
                    <a:bodyPr/>
                    <a:lstStyle/>
                    <a:p>
                      <a:pPr algn="ctr"/>
                      <a:r>
                        <a:rPr sz="1200">
                          <a:solidFill>
                            <a:srgbClr val="000000"/>
                          </a:solidFill>
                          <a:latin typeface="Calibri"/>
                        </a:rPr>
                        <a:t>8 proc. × 2 hilos OMP</a:t>
                      </a:r>
                    </a:p>
                  </a:txBody>
                  <a:tcPr>
                    <a:solidFill>
                      <a:srgbClr val="D6E4F7"/>
                    </a:solidFill>
                  </a:tcPr>
                </a:tc>
                <a:tc>
                  <a:txBody>
                    <a:bodyPr/>
                    <a:lstStyle/>
                    <a:p>
                      <a:pPr algn="ctr"/>
                      <a:r>
                        <a:rPr sz="1200">
                          <a:solidFill>
                            <a:srgbClr val="000000"/>
                          </a:solidFill>
                          <a:latin typeface="Calibri"/>
                        </a:rPr>
                        <a:t>0.187 s</a:t>
                      </a:r>
                    </a:p>
                  </a:txBody>
                  <a:tcPr>
                    <a:solidFill>
                      <a:srgbClr val="D6E4F7"/>
                    </a:solidFill>
                  </a:tcPr>
                </a:tc>
                <a:tc>
                  <a:txBody>
                    <a:bodyPr/>
                    <a:lstStyle/>
                    <a:p>
                      <a:pPr algn="ctr"/>
                      <a:r>
                        <a:rPr sz="1200">
                          <a:solidFill>
                            <a:srgbClr val="000000"/>
                          </a:solidFill>
                          <a:latin typeface="Calibri"/>
                        </a:rPr>
                        <a:t>43 306</a:t>
                      </a:r>
                    </a:p>
                  </a:txBody>
                  <a:tcPr>
                    <a:solidFill>
                      <a:srgbClr val="D6E4F7"/>
                    </a:solidFill>
                  </a:tcPr>
                </a:tc>
                <a:tc>
                  <a:txBody>
                    <a:bodyPr/>
                    <a:lstStyle/>
                    <a:p>
                      <a:pPr algn="ctr"/>
                      <a:r>
                        <a:rPr sz="1200" dirty="0">
                          <a:solidFill>
                            <a:srgbClr val="000000"/>
                          </a:solidFill>
                          <a:latin typeface="Calibri"/>
                        </a:rPr>
                        <a:t>10.32×</a:t>
                      </a:r>
                    </a:p>
                  </a:txBody>
                  <a:tcPr>
                    <a:solidFill>
                      <a:srgbClr val="D6E4F7"/>
                    </a:solidFill>
                  </a:tcPr>
                </a:tc>
                <a:extLst>
                  <a:ext uri="{0D108BD9-81ED-4DB2-BD59-A6C34878D82A}">
                    <a16:rowId xmlns:a16="http://schemas.microsoft.com/office/drawing/2014/main" val="10005"/>
                  </a:ext>
                </a:extLst>
              </a:tr>
              <a:tr h="402336">
                <a:tc>
                  <a:txBody>
                    <a:bodyPr/>
                    <a:lstStyle/>
                    <a:p>
                      <a:pPr algn="l"/>
                      <a:r>
                        <a:rPr sz="1200">
                          <a:solidFill>
                            <a:srgbClr val="000000"/>
                          </a:solidFill>
                          <a:latin typeface="Calibri"/>
                        </a:rPr>
                        <a:t>V6 · CUDA</a:t>
                      </a:r>
                    </a:p>
                  </a:txBody>
                  <a:tcPr>
                    <a:solidFill>
                      <a:srgbClr val="FFFFFF"/>
                    </a:solidFill>
                  </a:tcPr>
                </a:tc>
                <a:tc>
                  <a:txBody>
                    <a:bodyPr/>
                    <a:lstStyle/>
                    <a:p>
                      <a:pPr algn="ctr"/>
                      <a:r>
                        <a:rPr sz="1200">
                          <a:solidFill>
                            <a:srgbClr val="000000"/>
                          </a:solidFill>
                          <a:latin typeface="Calibri"/>
                        </a:rPr>
                        <a:t>RTX 4060 · bloques 16×16</a:t>
                      </a:r>
                    </a:p>
                  </a:txBody>
                  <a:tcPr>
                    <a:solidFill>
                      <a:srgbClr val="FFFFFF"/>
                    </a:solidFill>
                  </a:tcPr>
                </a:tc>
                <a:tc>
                  <a:txBody>
                    <a:bodyPr/>
                    <a:lstStyle/>
                    <a:p>
                      <a:pPr algn="ctr"/>
                      <a:r>
                        <a:rPr sz="1200">
                          <a:solidFill>
                            <a:srgbClr val="000000"/>
                          </a:solidFill>
                          <a:latin typeface="Calibri"/>
                        </a:rPr>
                        <a:t>0.018 s</a:t>
                      </a:r>
                    </a:p>
                  </a:txBody>
                  <a:tcPr>
                    <a:solidFill>
                      <a:srgbClr val="FFFFFF"/>
                    </a:solidFill>
                  </a:tcPr>
                </a:tc>
                <a:tc>
                  <a:txBody>
                    <a:bodyPr/>
                    <a:lstStyle/>
                    <a:p>
                      <a:pPr algn="ctr"/>
                      <a:r>
                        <a:rPr sz="1200">
                          <a:solidFill>
                            <a:srgbClr val="000000"/>
                          </a:solidFill>
                          <a:latin typeface="Calibri"/>
                        </a:rPr>
                        <a:t>43 306</a:t>
                      </a:r>
                    </a:p>
                  </a:txBody>
                  <a:tcPr>
                    <a:solidFill>
                      <a:srgbClr val="FFFFFF"/>
                    </a:solidFill>
                  </a:tcPr>
                </a:tc>
                <a:tc>
                  <a:txBody>
                    <a:bodyPr/>
                    <a:lstStyle/>
                    <a:p>
                      <a:pPr algn="ctr"/>
                      <a:r>
                        <a:rPr sz="1200" dirty="0">
                          <a:solidFill>
                            <a:srgbClr val="000000"/>
                          </a:solidFill>
                          <a:latin typeface="Calibri"/>
                        </a:rPr>
                        <a:t>106.17×</a:t>
                      </a:r>
                    </a:p>
                  </a:txBody>
                  <a:tcPr>
                    <a:solidFill>
                      <a:srgbClr val="FFFFFF"/>
                    </a:solidFill>
                  </a:tcPr>
                </a:tc>
                <a:extLst>
                  <a:ext uri="{0D108BD9-81ED-4DB2-BD59-A6C34878D82A}">
                    <a16:rowId xmlns:a16="http://schemas.microsoft.com/office/drawing/2014/main" val="10006"/>
                  </a:ext>
                </a:extLst>
              </a:tr>
            </a:tbl>
          </a:graphicData>
        </a:graphic>
      </p:graphicFrame>
      <p:graphicFrame>
        <p:nvGraphicFramePr>
          <p:cNvPr id="6" name="Chart 5"/>
          <p:cNvGraphicFramePr>
            <a:graphicFrameLocks noGrp="1"/>
          </p:cNvGraphicFramePr>
          <p:nvPr>
            <p:extLst>
              <p:ext uri="{D42A27DB-BD31-4B8C-83A1-F6EECF244321}">
                <p14:modId xmlns:p14="http://schemas.microsoft.com/office/powerpoint/2010/main" val="3491019641"/>
              </p:ext>
            </p:extLst>
          </p:nvPr>
        </p:nvGraphicFramePr>
        <p:xfrm>
          <a:off x="365760" y="4133087"/>
          <a:ext cx="7315200" cy="2578608"/>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p:cNvSpPr/>
          <p:nvPr/>
        </p:nvSpPr>
        <p:spPr>
          <a:xfrm>
            <a:off x="7818120" y="1188720"/>
            <a:ext cx="4041648" cy="4846320"/>
          </a:xfrm>
          <a:prstGeom prst="rect">
            <a:avLst/>
          </a:prstGeom>
          <a:solidFill>
            <a:srgbClr val="D6E4F7"/>
          </a:solidFill>
          <a:ln w="9525">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909560" y="1280160"/>
            <a:ext cx="3858768" cy="307777"/>
          </a:xfrm>
          <a:prstGeom prst="rect">
            <a:avLst/>
          </a:prstGeom>
          <a:noFill/>
        </p:spPr>
        <p:txBody>
          <a:bodyPr wrap="square">
            <a:spAutoFit/>
          </a:bodyPr>
          <a:lstStyle/>
          <a:p>
            <a:pPr algn="l"/>
            <a:r>
              <a:rPr sz="1400" b="1" i="0" dirty="0">
                <a:solidFill>
                  <a:srgbClr val="1F3564"/>
                </a:solidFill>
                <a:latin typeface="Calibri"/>
              </a:rPr>
              <a:t>CUDA — Speedup </a:t>
            </a:r>
            <a:r>
              <a:rPr sz="1400" b="1" i="0" dirty="0" err="1">
                <a:solidFill>
                  <a:srgbClr val="1F3564"/>
                </a:solidFill>
                <a:latin typeface="Calibri"/>
              </a:rPr>
              <a:t>destacado</a:t>
            </a:r>
            <a:endParaRPr sz="1400" b="1" i="0" dirty="0">
              <a:solidFill>
                <a:srgbClr val="1F3564"/>
              </a:solidFill>
              <a:latin typeface="Calibri"/>
            </a:endParaRPr>
          </a:p>
        </p:txBody>
      </p:sp>
      <p:sp>
        <p:nvSpPr>
          <p:cNvPr id="9" name="Rectangle 8"/>
          <p:cNvSpPr/>
          <p:nvPr/>
        </p:nvSpPr>
        <p:spPr>
          <a:xfrm>
            <a:off x="8001000" y="1600200"/>
            <a:ext cx="3675887" cy="141732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01000" y="1600200"/>
            <a:ext cx="3675887" cy="1417320"/>
          </a:xfrm>
          <a:prstGeom prst="rect">
            <a:avLst/>
          </a:prstGeom>
          <a:noFill/>
        </p:spPr>
        <p:txBody>
          <a:bodyPr wrap="square">
            <a:spAutoFit/>
          </a:bodyPr>
          <a:lstStyle/>
          <a:p>
            <a:pPr algn="ctr"/>
            <a:r>
              <a:rPr sz="5200" b="1" i="0">
                <a:solidFill>
                  <a:srgbClr val="D6E4F7"/>
                </a:solidFill>
                <a:latin typeface="Calibri"/>
              </a:rPr>
              <a:t>106×</a:t>
            </a:r>
          </a:p>
        </p:txBody>
      </p:sp>
      <p:sp>
        <p:nvSpPr>
          <p:cNvPr id="11" name="TextBox 10"/>
          <p:cNvSpPr txBox="1"/>
          <p:nvPr/>
        </p:nvSpPr>
        <p:spPr>
          <a:xfrm>
            <a:off x="8001000" y="3090672"/>
            <a:ext cx="3675887" cy="274320"/>
          </a:xfrm>
          <a:prstGeom prst="rect">
            <a:avLst/>
          </a:prstGeom>
          <a:noFill/>
        </p:spPr>
        <p:txBody>
          <a:bodyPr wrap="square">
            <a:spAutoFit/>
          </a:bodyPr>
          <a:lstStyle/>
          <a:p>
            <a:pPr algn="ctr"/>
            <a:r>
              <a:rPr sz="1100" b="0" i="0">
                <a:solidFill>
                  <a:srgbClr val="505050"/>
                </a:solidFill>
                <a:latin typeface="Calibri"/>
              </a:rPr>
              <a:t>NVIDIA RTX 4060 vs V1 Secuencial</a:t>
            </a:r>
          </a:p>
        </p:txBody>
      </p:sp>
      <p:sp>
        <p:nvSpPr>
          <p:cNvPr id="12" name="TextBox 11"/>
          <p:cNvSpPr txBox="1"/>
          <p:nvPr/>
        </p:nvSpPr>
        <p:spPr>
          <a:xfrm>
            <a:off x="7818120" y="3447288"/>
            <a:ext cx="4041648" cy="1007968"/>
          </a:xfrm>
          <a:prstGeom prst="rect">
            <a:avLst/>
          </a:prstGeom>
          <a:noFill/>
        </p:spPr>
        <p:txBody>
          <a:bodyPr wrap="square">
            <a:spAutoFit/>
          </a:bodyPr>
          <a:lstStyle/>
          <a:p>
            <a:pPr>
              <a:spcBef>
                <a:spcPts val="300"/>
              </a:spcBef>
            </a:pPr>
            <a:r>
              <a:rPr sz="1300" dirty="0">
                <a:solidFill>
                  <a:srgbClr val="000000"/>
                </a:solidFill>
                <a:latin typeface="Calibri"/>
              </a:rPr>
              <a:t>• 1.927 s  →  0.018 s</a:t>
            </a:r>
          </a:p>
          <a:p>
            <a:pPr>
              <a:spcBef>
                <a:spcPts val="300"/>
              </a:spcBef>
            </a:pPr>
            <a:r>
              <a:t>• 3 072 CUDA cores disponibles</a:t>
            </a:r>
            <a:endParaRPr sz="1300" dirty="0">
              <a:solidFill>
                <a:srgbClr val="000000"/>
              </a:solidFill>
              <a:latin typeface="Calibri"/>
            </a:endParaRPr>
          </a:p>
          <a:p>
            <a:pPr>
              <a:spcBef>
                <a:spcPts val="300"/>
              </a:spcBef>
            </a:pPr>
            <a:r>
              <a:t>• ~10⁶ hilos CUDA lanzados por generación</a:t>
            </a:r>
            <a:endParaRPr sz="1300" dirty="0">
              <a:solidFill>
                <a:srgbClr val="000000"/>
              </a:solidFill>
              <a:latin typeface="Calibri"/>
            </a:endParaRPr>
          </a:p>
          <a:p>
            <a:pPr>
              <a:spcBef>
                <a:spcPts val="300"/>
              </a:spcBef>
            </a:pPr>
            <a:r>
              <a:t>• Tiempo de kernels GPU; transferencias fuera de la medida principal</a:t>
            </a:r>
          </a:p>
        </p:txBody>
      </p:sp>
      <p:sp>
        <p:nvSpPr>
          <p:cNvPr id="13" name="Rectangle 12">
            <a:hlinkClick r:id="rId4"/>
          </p:cNvPr>
          <p:cNvSpPr/>
          <p:nvPr/>
        </p:nvSpPr>
        <p:spPr>
          <a:xfrm>
            <a:off x="7818120" y="6108192"/>
            <a:ext cx="4041648" cy="347472"/>
          </a:xfrm>
          <a:prstGeom prst="rect">
            <a:avLst/>
          </a:prstGeom>
          <a:solidFill>
            <a:srgbClr val="2E74B5"/>
          </a:solidFill>
          <a:ln w="6350">
            <a:solidFill>
              <a:srgbClr val="1F3564"/>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dirty="0">
                <a:solidFill>
                  <a:srgbClr val="FFFFFF"/>
                </a:solidFill>
                <a:latin typeface="Calibri"/>
              </a:rPr>
              <a:t>Ver </a:t>
            </a:r>
            <a:r>
              <a:rPr sz="1200" b="1" dirty="0" err="1">
                <a:solidFill>
                  <a:srgbClr val="FFFFFF"/>
                </a:solidFill>
                <a:latin typeface="Calibri"/>
              </a:rPr>
              <a:t>datos</a:t>
            </a:r>
            <a:r>
              <a:rPr sz="1200" b="1" dirty="0">
                <a:solidFill>
                  <a:srgbClr val="FFFFFF"/>
                </a:solidFill>
                <a:latin typeface="Calibri"/>
              </a:rPr>
              <a:t> </a:t>
            </a:r>
            <a:r>
              <a:rPr sz="1200" b="1" dirty="0" err="1">
                <a:solidFill>
                  <a:srgbClr val="FFFFFF"/>
                </a:solidFill>
                <a:latin typeface="Calibri"/>
              </a:rPr>
              <a:t>completos</a:t>
            </a:r>
            <a:r>
              <a:rPr sz="1200" b="1" dirty="0">
                <a:solidFill>
                  <a:srgbClr val="FFFFFF"/>
                </a:solidFill>
                <a:latin typeface="Calibri"/>
              </a:rPr>
              <a:t> — resultados.xlsx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7899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12880" cy="658368"/>
          </a:xfrm>
          <a:prstGeom prst="rect">
            <a:avLst/>
          </a:prstGeom>
          <a:noFill/>
        </p:spPr>
        <p:txBody>
          <a:bodyPr wrap="square">
            <a:spAutoFit/>
          </a:bodyPr>
          <a:lstStyle/>
          <a:p>
            <a:pPr algn="l"/>
            <a:r>
              <a:rPr sz="2600" b="1" i="0">
                <a:solidFill>
                  <a:srgbClr val="FFFFFF"/>
                </a:solidFill>
                <a:latin typeface="Calibri"/>
              </a:rPr>
              <a:t>Resultados en Clúster</a:t>
            </a:r>
          </a:p>
        </p:txBody>
      </p:sp>
      <p:sp>
        <p:nvSpPr>
          <p:cNvPr id="4" name="TextBox 3"/>
          <p:cNvSpPr txBox="1"/>
          <p:nvPr/>
        </p:nvSpPr>
        <p:spPr>
          <a:xfrm>
            <a:off x="274320" y="713232"/>
            <a:ext cx="11612880" cy="329184"/>
          </a:xfrm>
          <a:prstGeom prst="rect">
            <a:avLst/>
          </a:prstGeom>
          <a:noFill/>
        </p:spPr>
        <p:txBody>
          <a:bodyPr wrap="square">
            <a:spAutoFit/>
          </a:bodyPr>
          <a:lstStyle/>
          <a:p>
            <a:pPr algn="l"/>
            <a:r>
              <a:rPr sz="1200" b="0" i="0">
                <a:solidFill>
                  <a:srgbClr val="D6E4F7"/>
                </a:solidFill>
                <a:latin typeface="Calibri"/>
              </a:rPr>
              <a:t>3 VMs Ubuntu 24.04 — Grupo L6G3</a:t>
            </a:r>
          </a:p>
        </p:txBody>
      </p:sp>
      <p:graphicFrame>
        <p:nvGraphicFramePr>
          <p:cNvPr id="5" name="Table 4"/>
          <p:cNvGraphicFramePr>
            <a:graphicFrameLocks noGrp="1"/>
          </p:cNvGraphicFramePr>
          <p:nvPr>
            <p:extLst>
              <p:ext uri="{D42A27DB-BD31-4B8C-83A1-F6EECF244321}">
                <p14:modId xmlns:p14="http://schemas.microsoft.com/office/powerpoint/2010/main" val="1594705904"/>
              </p:ext>
            </p:extLst>
          </p:nvPr>
        </p:nvGraphicFramePr>
        <p:xfrm>
          <a:off x="365760" y="1188720"/>
          <a:ext cx="11430000" cy="1207008"/>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402336">
                <a:tc>
                  <a:txBody>
                    <a:bodyPr/>
                    <a:lstStyle/>
                    <a:p>
                      <a:pPr algn="ctr"/>
                      <a:r>
                        <a:rPr sz="1300" b="1" dirty="0" err="1">
                          <a:solidFill>
                            <a:srgbClr val="FFFFFF"/>
                          </a:solidFill>
                          <a:latin typeface="Calibri"/>
                        </a:rPr>
                        <a:t>Versión</a:t>
                      </a:r>
                      <a:endParaRPr sz="1300" b="1" dirty="0">
                        <a:solidFill>
                          <a:srgbClr val="FFFFFF"/>
                        </a:solidFill>
                        <a:latin typeface="Calibri"/>
                      </a:endParaRPr>
                    </a:p>
                  </a:txBody>
                  <a:tcPr>
                    <a:solidFill>
                      <a:srgbClr val="1F3564"/>
                    </a:solidFill>
                  </a:tcPr>
                </a:tc>
                <a:tc>
                  <a:txBody>
                    <a:bodyPr/>
                    <a:lstStyle/>
                    <a:p>
                      <a:pPr algn="ctr"/>
                      <a:r>
                        <a:rPr sz="1300" b="1" dirty="0" err="1">
                          <a:solidFill>
                            <a:srgbClr val="FFFFFF"/>
                          </a:solidFill>
                          <a:latin typeface="Calibri"/>
                        </a:rPr>
                        <a:t>Configuración</a:t>
                      </a:r>
                      <a:endParaRPr sz="1300" b="1" dirty="0">
                        <a:solidFill>
                          <a:srgbClr val="FFFFFF"/>
                        </a:solidFill>
                        <a:latin typeface="Calibri"/>
                      </a:endParaRPr>
                    </a:p>
                  </a:txBody>
                  <a:tcPr>
                    <a:solidFill>
                      <a:srgbClr val="1F3564"/>
                    </a:solidFill>
                  </a:tcPr>
                </a:tc>
                <a:tc>
                  <a:txBody>
                    <a:bodyPr/>
                    <a:lstStyle/>
                    <a:p>
                      <a:pPr algn="ctr"/>
                      <a:r>
                        <a:rPr sz="1300" b="1">
                          <a:solidFill>
                            <a:srgbClr val="FFFFFF"/>
                          </a:solidFill>
                          <a:latin typeface="Calibri"/>
                        </a:rPr>
                        <a:t>Mejor Tiempo</a:t>
                      </a:r>
                    </a:p>
                  </a:txBody>
                  <a:tcPr>
                    <a:solidFill>
                      <a:srgbClr val="1F3564"/>
                    </a:solidFill>
                  </a:tcPr>
                </a:tc>
                <a:tc>
                  <a:txBody>
                    <a:bodyPr/>
                    <a:lstStyle/>
                    <a:p>
                      <a:pPr algn="ctr"/>
                      <a:r>
                        <a:rPr sz="1300" b="1">
                          <a:solidFill>
                            <a:srgbClr val="FFFFFF"/>
                          </a:solidFill>
                          <a:latin typeface="Calibri"/>
                        </a:rPr>
                        <a:t>Células Vivas</a:t>
                      </a:r>
                    </a:p>
                  </a:txBody>
                  <a:tcPr>
                    <a:solidFill>
                      <a:srgbClr val="1F3564"/>
                    </a:solidFill>
                  </a:tcPr>
                </a:tc>
                <a:tc>
                  <a:txBody>
                    <a:bodyPr/>
                    <a:lstStyle/>
                    <a:p>
                      <a:pPr algn="ctr"/>
                      <a:r>
                        <a:rPr sz="1300" b="1">
                          <a:solidFill>
                            <a:srgbClr val="FFFFFF"/>
                          </a:solidFill>
                          <a:latin typeface="Calibri"/>
                        </a:rPr>
                        <a:t>Resultado</a:t>
                      </a:r>
                    </a:p>
                  </a:txBody>
                  <a:tcPr>
                    <a:solidFill>
                      <a:srgbClr val="1F3564"/>
                    </a:solidFill>
                  </a:tcPr>
                </a:tc>
                <a:extLst>
                  <a:ext uri="{0D108BD9-81ED-4DB2-BD59-A6C34878D82A}">
                    <a16:rowId xmlns:a16="http://schemas.microsoft.com/office/drawing/2014/main" val="10000"/>
                  </a:ext>
                </a:extLst>
              </a:tr>
              <a:tr h="402336">
                <a:tc>
                  <a:txBody>
                    <a:bodyPr/>
                    <a:lstStyle/>
                    <a:p>
                      <a:pPr algn="l"/>
                      <a:r>
                        <a:rPr sz="1300">
                          <a:solidFill>
                            <a:srgbClr val="000000"/>
                          </a:solidFill>
                          <a:latin typeface="Calibri"/>
                        </a:rPr>
                        <a:t>V4 · MPI</a:t>
                      </a:r>
                    </a:p>
                  </a:txBody>
                  <a:tcPr>
                    <a:solidFill>
                      <a:srgbClr val="D6E4F7"/>
                    </a:solidFill>
                  </a:tcPr>
                </a:tc>
                <a:tc>
                  <a:txBody>
                    <a:bodyPr/>
                    <a:lstStyle/>
                    <a:p>
                      <a:pPr algn="ctr"/>
                      <a:r>
                        <a:rPr sz="1300" dirty="0">
                          <a:solidFill>
                            <a:srgbClr val="000000"/>
                          </a:solidFill>
                          <a:latin typeface="Calibri"/>
                        </a:rPr>
                        <a:t>4 </a:t>
                      </a:r>
                      <a:r>
                        <a:rPr sz="1300" dirty="0" err="1">
                          <a:solidFill>
                            <a:srgbClr val="000000"/>
                          </a:solidFill>
                          <a:latin typeface="Calibri"/>
                        </a:rPr>
                        <a:t>procesos</a:t>
                      </a:r>
                      <a:r>
                        <a:rPr sz="1300" dirty="0">
                          <a:solidFill>
                            <a:srgbClr val="000000"/>
                          </a:solidFill>
                          <a:latin typeface="Calibri"/>
                        </a:rPr>
                        <a:t> MPI</a:t>
                      </a:r>
                    </a:p>
                  </a:txBody>
                  <a:tcPr>
                    <a:solidFill>
                      <a:srgbClr val="D6E4F7"/>
                    </a:solidFill>
                  </a:tcPr>
                </a:tc>
                <a:tc>
                  <a:txBody>
                    <a:bodyPr/>
                    <a:lstStyle/>
                    <a:p>
                      <a:pPr algn="ctr"/>
                      <a:r>
                        <a:rPr sz="1300" dirty="0">
                          <a:solidFill>
                            <a:srgbClr val="000000"/>
                          </a:solidFill>
                          <a:latin typeface="Calibri"/>
                        </a:rPr>
                        <a:t>1.015 s</a:t>
                      </a:r>
                    </a:p>
                  </a:txBody>
                  <a:tcPr>
                    <a:solidFill>
                      <a:srgbClr val="D6E4F7"/>
                    </a:solidFill>
                  </a:tcPr>
                </a:tc>
                <a:tc>
                  <a:txBody>
                    <a:bodyPr/>
                    <a:lstStyle/>
                    <a:p>
                      <a:pPr algn="ctr"/>
                      <a:r>
                        <a:rPr sz="1300" dirty="0">
                          <a:solidFill>
                            <a:srgbClr val="000000"/>
                          </a:solidFill>
                          <a:latin typeface="Calibri"/>
                        </a:rPr>
                        <a:t>43 306</a:t>
                      </a:r>
                    </a:p>
                  </a:txBody>
                  <a:tcPr>
                    <a:solidFill>
                      <a:srgbClr val="D6E4F7"/>
                    </a:solidFill>
                  </a:tcPr>
                </a:tc>
                <a:tc>
                  <a:txBody>
                    <a:bodyPr/>
                    <a:lstStyle/>
                    <a:p>
                      <a:pPr algn="ctr"/>
                      <a:r>
                        <a:rPr sz="1300" dirty="0">
                          <a:solidFill>
                            <a:srgbClr val="000000"/>
                          </a:solidFill>
                          <a:latin typeface="Calibri"/>
                        </a:rPr>
                        <a:t>✔ </a:t>
                      </a:r>
                      <a:r>
                        <a:rPr sz="1300" dirty="0" err="1">
                          <a:solidFill>
                            <a:srgbClr val="000000"/>
                          </a:solidFill>
                          <a:latin typeface="Calibri"/>
                        </a:rPr>
                        <a:t>Correcto</a:t>
                      </a:r>
                      <a:endParaRPr sz="1300" dirty="0">
                        <a:solidFill>
                          <a:srgbClr val="000000"/>
                        </a:solidFill>
                        <a:latin typeface="Calibri"/>
                      </a:endParaRPr>
                    </a:p>
                  </a:txBody>
                  <a:tcPr>
                    <a:solidFill>
                      <a:srgbClr val="D6E4F7"/>
                    </a:solidFill>
                  </a:tcPr>
                </a:tc>
                <a:extLst>
                  <a:ext uri="{0D108BD9-81ED-4DB2-BD59-A6C34878D82A}">
                    <a16:rowId xmlns:a16="http://schemas.microsoft.com/office/drawing/2014/main" val="10001"/>
                  </a:ext>
                </a:extLst>
              </a:tr>
              <a:tr h="402336">
                <a:tc>
                  <a:txBody>
                    <a:bodyPr/>
                    <a:lstStyle/>
                    <a:p>
                      <a:pPr algn="l"/>
                      <a:r>
                        <a:rPr sz="1300">
                          <a:solidFill>
                            <a:srgbClr val="000000"/>
                          </a:solidFill>
                          <a:latin typeface="Calibri"/>
                        </a:rPr>
                        <a:t>V5 · MPI + OpenMP</a:t>
                      </a:r>
                    </a:p>
                  </a:txBody>
                  <a:tcPr>
                    <a:solidFill>
                      <a:srgbClr val="FFFFFF"/>
                    </a:solidFill>
                  </a:tcPr>
                </a:tc>
                <a:tc>
                  <a:txBody>
                    <a:bodyPr/>
                    <a:lstStyle/>
                    <a:p>
                      <a:pPr algn="ctr"/>
                      <a:r>
                        <a:rPr sz="1300">
                          <a:solidFill>
                            <a:srgbClr val="000000"/>
                          </a:solidFill>
                          <a:latin typeface="Calibri"/>
                        </a:rPr>
                        <a:t>4 proc. × 2 hilos OMP</a:t>
                      </a:r>
                    </a:p>
                  </a:txBody>
                  <a:tcPr>
                    <a:solidFill>
                      <a:srgbClr val="FFFFFF"/>
                    </a:solidFill>
                  </a:tcPr>
                </a:tc>
                <a:tc>
                  <a:txBody>
                    <a:bodyPr/>
                    <a:lstStyle/>
                    <a:p>
                      <a:pPr algn="ctr"/>
                      <a:r>
                        <a:rPr sz="1300">
                          <a:solidFill>
                            <a:srgbClr val="000000"/>
                          </a:solidFill>
                          <a:latin typeface="Calibri"/>
                        </a:rPr>
                        <a:t>4.025 s</a:t>
                      </a:r>
                    </a:p>
                  </a:txBody>
                  <a:tcPr>
                    <a:solidFill>
                      <a:srgbClr val="FFFFFF"/>
                    </a:solidFill>
                  </a:tcPr>
                </a:tc>
                <a:tc>
                  <a:txBody>
                    <a:bodyPr/>
                    <a:lstStyle/>
                    <a:p>
                      <a:pPr algn="ctr"/>
                      <a:r>
                        <a:rPr sz="1300">
                          <a:solidFill>
                            <a:srgbClr val="000000"/>
                          </a:solidFill>
                          <a:latin typeface="Calibri"/>
                        </a:rPr>
                        <a:t>43 306</a:t>
                      </a:r>
                    </a:p>
                  </a:txBody>
                  <a:tcPr>
                    <a:solidFill>
                      <a:srgbClr val="FFFFFF"/>
                    </a:solidFill>
                  </a:tcPr>
                </a:tc>
                <a:tc>
                  <a:txBody>
                    <a:bodyPr/>
                    <a:lstStyle/>
                    <a:p>
                      <a:pPr algn="ctr"/>
                      <a:r>
                        <a:rPr sz="1300" dirty="0">
                          <a:solidFill>
                            <a:srgbClr val="000000"/>
                          </a:solidFill>
                          <a:latin typeface="Calibri"/>
                        </a:rPr>
                        <a:t>⚠ Más lento </a:t>
                      </a:r>
                      <a:r>
                        <a:rPr sz="1300" dirty="0" err="1">
                          <a:solidFill>
                            <a:srgbClr val="000000"/>
                          </a:solidFill>
                          <a:latin typeface="Calibri"/>
                        </a:rPr>
                        <a:t>que</a:t>
                      </a:r>
                      <a:r>
                        <a:rPr sz="1300" dirty="0">
                          <a:solidFill>
                            <a:srgbClr val="000000"/>
                          </a:solidFill>
                          <a:latin typeface="Calibri"/>
                        </a:rPr>
                        <a:t> V4</a:t>
                      </a:r>
                    </a:p>
                  </a:txBody>
                  <a:tcPr>
                    <a:solidFill>
                      <a:srgbClr val="FFFFFF"/>
                    </a:solidFill>
                  </a:tcPr>
                </a:tc>
                <a:extLst>
                  <a:ext uri="{0D108BD9-81ED-4DB2-BD59-A6C34878D82A}">
                    <a16:rowId xmlns:a16="http://schemas.microsoft.com/office/drawing/2014/main" val="10002"/>
                  </a:ext>
                </a:extLst>
              </a:tr>
            </a:tbl>
          </a:graphicData>
        </a:graphic>
      </p:graphicFrame>
      <p:sp>
        <p:nvSpPr>
          <p:cNvPr id="6" name="TextBox 5"/>
          <p:cNvSpPr txBox="1"/>
          <p:nvPr/>
        </p:nvSpPr>
        <p:spPr>
          <a:xfrm>
            <a:off x="365760" y="2560320"/>
            <a:ext cx="11430000" cy="274320"/>
          </a:xfrm>
          <a:prstGeom prst="rect">
            <a:avLst/>
          </a:prstGeom>
          <a:noFill/>
        </p:spPr>
        <p:txBody>
          <a:bodyPr wrap="square">
            <a:spAutoFit/>
          </a:bodyPr>
          <a:lstStyle/>
          <a:p>
            <a:pPr algn="l"/>
            <a:r>
              <a:rPr sz="1400" b="1" i="0" dirty="0">
                <a:solidFill>
                  <a:srgbClr val="1F3564"/>
                </a:solidFill>
                <a:latin typeface="Calibri"/>
              </a:rPr>
              <a:t>¿Por </a:t>
            </a:r>
            <a:r>
              <a:rPr sz="1400" b="1" i="0" dirty="0" err="1">
                <a:solidFill>
                  <a:srgbClr val="1F3564"/>
                </a:solidFill>
                <a:latin typeface="Calibri"/>
              </a:rPr>
              <a:t>qué</a:t>
            </a:r>
            <a:r>
              <a:rPr sz="1400" b="1" i="0" dirty="0">
                <a:solidFill>
                  <a:srgbClr val="1F3564"/>
                </a:solidFill>
                <a:latin typeface="Calibri"/>
              </a:rPr>
              <a:t> V5 es </a:t>
            </a:r>
            <a:r>
              <a:rPr sz="1400" b="1" i="0" dirty="0" err="1">
                <a:solidFill>
                  <a:srgbClr val="1F3564"/>
                </a:solidFill>
                <a:latin typeface="Calibri"/>
              </a:rPr>
              <a:t>más</a:t>
            </a:r>
            <a:r>
              <a:rPr sz="1400" b="1" i="0" dirty="0">
                <a:solidFill>
                  <a:srgbClr val="1F3564"/>
                </a:solidFill>
                <a:latin typeface="Calibri"/>
              </a:rPr>
              <a:t> lento </a:t>
            </a:r>
            <a:r>
              <a:rPr sz="1400" b="1" i="0" dirty="0" err="1">
                <a:solidFill>
                  <a:srgbClr val="1F3564"/>
                </a:solidFill>
                <a:latin typeface="Calibri"/>
              </a:rPr>
              <a:t>que</a:t>
            </a:r>
            <a:r>
              <a:rPr sz="1400" b="1" i="0" dirty="0">
                <a:solidFill>
                  <a:srgbClr val="1F3564"/>
                </a:solidFill>
                <a:latin typeface="Calibri"/>
              </a:rPr>
              <a:t> V4 </a:t>
            </a:r>
            <a:r>
              <a:rPr sz="1400" b="1" i="0" dirty="0" err="1">
                <a:solidFill>
                  <a:srgbClr val="1F3564"/>
                </a:solidFill>
                <a:latin typeface="Calibri"/>
              </a:rPr>
              <a:t>en</a:t>
            </a:r>
            <a:r>
              <a:rPr sz="1400" b="1" i="0" dirty="0">
                <a:solidFill>
                  <a:srgbClr val="1F3564"/>
                </a:solidFill>
                <a:latin typeface="Calibri"/>
              </a:rPr>
              <a:t> </a:t>
            </a:r>
            <a:r>
              <a:rPr sz="1400" b="1" i="0" dirty="0" err="1">
                <a:solidFill>
                  <a:srgbClr val="1F3564"/>
                </a:solidFill>
                <a:latin typeface="Calibri"/>
              </a:rPr>
              <a:t>el</a:t>
            </a:r>
            <a:r>
              <a:rPr sz="1400" b="1" i="0" dirty="0">
                <a:solidFill>
                  <a:srgbClr val="1F3564"/>
                </a:solidFill>
                <a:latin typeface="Calibri"/>
              </a:rPr>
              <a:t> </a:t>
            </a:r>
            <a:r>
              <a:rPr sz="1400" b="1" i="0" dirty="0" err="1">
                <a:solidFill>
                  <a:srgbClr val="1F3564"/>
                </a:solidFill>
                <a:latin typeface="Calibri"/>
              </a:rPr>
              <a:t>clúster</a:t>
            </a:r>
            <a:r>
              <a:rPr sz="1400" b="1" i="0" dirty="0">
                <a:solidFill>
                  <a:srgbClr val="1F3564"/>
                </a:solidFill>
                <a:latin typeface="Calibri"/>
              </a:rPr>
              <a:t>?</a:t>
            </a:r>
          </a:p>
        </p:txBody>
      </p:sp>
      <p:sp>
        <p:nvSpPr>
          <p:cNvPr id="7" name="TextBox 6"/>
          <p:cNvSpPr txBox="1"/>
          <p:nvPr/>
        </p:nvSpPr>
        <p:spPr>
          <a:xfrm>
            <a:off x="365760" y="2861859"/>
            <a:ext cx="5669280" cy="1208023"/>
          </a:xfrm>
          <a:prstGeom prst="rect">
            <a:avLst/>
          </a:prstGeom>
          <a:noFill/>
        </p:spPr>
        <p:txBody>
          <a:bodyPr wrap="square">
            <a:spAutoFit/>
          </a:bodyPr>
          <a:lstStyle/>
          <a:p>
            <a:pPr>
              <a:spcBef>
                <a:spcPts val="300"/>
              </a:spcBef>
            </a:pPr>
            <a:r>
              <a:rPr sz="1300" dirty="0">
                <a:solidFill>
                  <a:srgbClr val="000000"/>
                </a:solidFill>
                <a:latin typeface="Calibri"/>
              </a:rPr>
              <a:t>• </a:t>
            </a:r>
            <a:r>
              <a:rPr sz="1300" dirty="0" err="1">
                <a:solidFill>
                  <a:srgbClr val="000000"/>
                </a:solidFill>
                <a:latin typeface="Calibri"/>
              </a:rPr>
              <a:t>Recursos</a:t>
            </a:r>
            <a:r>
              <a:rPr sz="1300" dirty="0">
                <a:solidFill>
                  <a:srgbClr val="000000"/>
                </a:solidFill>
                <a:latin typeface="Calibri"/>
              </a:rPr>
              <a:t> </a:t>
            </a:r>
            <a:r>
              <a:rPr sz="1300" dirty="0" err="1">
                <a:solidFill>
                  <a:srgbClr val="000000"/>
                </a:solidFill>
                <a:latin typeface="Calibri"/>
              </a:rPr>
              <a:t>virtualizados</a:t>
            </a:r>
            <a:r>
              <a:rPr sz="1300" dirty="0">
                <a:solidFill>
                  <a:srgbClr val="000000"/>
                </a:solidFill>
                <a:latin typeface="Calibri"/>
              </a:rPr>
              <a:t>: </a:t>
            </a:r>
            <a:r>
              <a:rPr sz="1300" dirty="0" err="1">
                <a:solidFill>
                  <a:srgbClr val="000000"/>
                </a:solidFill>
                <a:latin typeface="Calibri"/>
              </a:rPr>
              <a:t>los</a:t>
            </a:r>
            <a:r>
              <a:rPr sz="1300" dirty="0">
                <a:solidFill>
                  <a:srgbClr val="000000"/>
                </a:solidFill>
                <a:latin typeface="Calibri"/>
              </a:rPr>
              <a:t> cores de las VMs no son </a:t>
            </a:r>
            <a:r>
              <a:rPr sz="1300" dirty="0" err="1">
                <a:solidFill>
                  <a:srgbClr val="000000"/>
                </a:solidFill>
                <a:latin typeface="Calibri"/>
              </a:rPr>
              <a:t>núcleos</a:t>
            </a:r>
            <a:r>
              <a:rPr sz="1300" dirty="0">
                <a:solidFill>
                  <a:srgbClr val="000000"/>
                </a:solidFill>
                <a:latin typeface="Calibri"/>
              </a:rPr>
              <a:t> </a:t>
            </a:r>
            <a:r>
              <a:rPr sz="1300" dirty="0" err="1">
                <a:solidFill>
                  <a:srgbClr val="000000"/>
                </a:solidFill>
                <a:latin typeface="Calibri"/>
              </a:rPr>
              <a:t>físicos</a:t>
            </a:r>
            <a:r>
              <a:rPr sz="1300" dirty="0">
                <a:solidFill>
                  <a:srgbClr val="000000"/>
                </a:solidFill>
                <a:latin typeface="Calibri"/>
              </a:rPr>
              <a:t> </a:t>
            </a:r>
            <a:r>
              <a:rPr sz="1300" dirty="0" err="1">
                <a:solidFill>
                  <a:srgbClr val="000000"/>
                </a:solidFill>
                <a:latin typeface="Calibri"/>
              </a:rPr>
              <a:t>dedicados</a:t>
            </a:r>
            <a:endParaRPr sz="1300" dirty="0">
              <a:solidFill>
                <a:srgbClr val="000000"/>
              </a:solidFill>
              <a:latin typeface="Calibri"/>
            </a:endParaRPr>
          </a:p>
          <a:p>
            <a:pPr>
              <a:spcBef>
                <a:spcPts val="300"/>
              </a:spcBef>
            </a:pPr>
            <a:r>
              <a:rPr sz="1300" dirty="0">
                <a:solidFill>
                  <a:srgbClr val="000000"/>
                </a:solidFill>
                <a:latin typeface="Calibri"/>
              </a:rPr>
              <a:t>• Oversubscription: </a:t>
            </a:r>
            <a:r>
              <a:rPr sz="1300" dirty="0" err="1">
                <a:solidFill>
                  <a:srgbClr val="000000"/>
                </a:solidFill>
                <a:latin typeface="Calibri"/>
              </a:rPr>
              <a:t>procesos</a:t>
            </a:r>
            <a:r>
              <a:rPr sz="1300" dirty="0">
                <a:solidFill>
                  <a:srgbClr val="000000"/>
                </a:solidFill>
                <a:latin typeface="Calibri"/>
              </a:rPr>
              <a:t> MPI + </a:t>
            </a:r>
            <a:r>
              <a:rPr sz="1300" dirty="0" err="1">
                <a:solidFill>
                  <a:srgbClr val="000000"/>
                </a:solidFill>
                <a:latin typeface="Calibri"/>
              </a:rPr>
              <a:t>hilos</a:t>
            </a:r>
            <a:r>
              <a:rPr sz="1300" dirty="0">
                <a:solidFill>
                  <a:srgbClr val="000000"/>
                </a:solidFill>
                <a:latin typeface="Calibri"/>
              </a:rPr>
              <a:t> OMP </a:t>
            </a:r>
            <a:r>
              <a:rPr sz="1300" dirty="0" err="1">
                <a:solidFill>
                  <a:srgbClr val="000000"/>
                </a:solidFill>
                <a:latin typeface="Calibri"/>
              </a:rPr>
              <a:t>compiten</a:t>
            </a:r>
            <a:r>
              <a:rPr sz="1300" dirty="0">
                <a:solidFill>
                  <a:srgbClr val="000000"/>
                </a:solidFill>
                <a:latin typeface="Calibri"/>
              </a:rPr>
              <a:t> </a:t>
            </a:r>
            <a:r>
              <a:rPr sz="1300" dirty="0" err="1">
                <a:solidFill>
                  <a:srgbClr val="000000"/>
                </a:solidFill>
                <a:latin typeface="Calibri"/>
              </a:rPr>
              <a:t>por</a:t>
            </a:r>
            <a:r>
              <a:rPr sz="1300" dirty="0">
                <a:solidFill>
                  <a:srgbClr val="000000"/>
                </a:solidFill>
                <a:latin typeface="Calibri"/>
              </a:rPr>
              <a:t> </a:t>
            </a:r>
            <a:r>
              <a:rPr sz="1300" dirty="0" err="1">
                <a:solidFill>
                  <a:srgbClr val="000000"/>
                </a:solidFill>
                <a:latin typeface="Calibri"/>
              </a:rPr>
              <a:t>los</a:t>
            </a:r>
            <a:r>
              <a:rPr sz="1300" dirty="0">
                <a:solidFill>
                  <a:srgbClr val="000000"/>
                </a:solidFill>
                <a:latin typeface="Calibri"/>
              </a:rPr>
              <a:t> </a:t>
            </a:r>
            <a:r>
              <a:rPr sz="1300" dirty="0" err="1">
                <a:solidFill>
                  <a:srgbClr val="000000"/>
                </a:solidFill>
                <a:latin typeface="Calibri"/>
              </a:rPr>
              <a:t>mismos</a:t>
            </a:r>
            <a:r>
              <a:rPr sz="1300" dirty="0">
                <a:solidFill>
                  <a:srgbClr val="000000"/>
                </a:solidFill>
                <a:latin typeface="Calibri"/>
              </a:rPr>
              <a:t> cores </a:t>
            </a:r>
            <a:r>
              <a:rPr sz="1300" dirty="0" err="1">
                <a:solidFill>
                  <a:srgbClr val="000000"/>
                </a:solidFill>
                <a:latin typeface="Calibri"/>
              </a:rPr>
              <a:t>virtuales</a:t>
            </a:r>
            <a:endParaRPr sz="1300" dirty="0">
              <a:solidFill>
                <a:srgbClr val="000000"/>
              </a:solidFill>
              <a:latin typeface="Calibri"/>
            </a:endParaRPr>
          </a:p>
          <a:p>
            <a:pPr>
              <a:spcBef>
                <a:spcPts val="300"/>
              </a:spcBef>
            </a:pPr>
            <a:r>
              <a:rPr sz="1300" dirty="0">
                <a:solidFill>
                  <a:srgbClr val="000000"/>
                </a:solidFill>
                <a:latin typeface="Calibri"/>
              </a:rPr>
              <a:t>• Overhead de </a:t>
            </a:r>
            <a:r>
              <a:rPr sz="1300" dirty="0" err="1">
                <a:solidFill>
                  <a:srgbClr val="000000"/>
                </a:solidFill>
                <a:latin typeface="Calibri"/>
              </a:rPr>
              <a:t>planificación</a:t>
            </a:r>
            <a:r>
              <a:rPr sz="1300" dirty="0">
                <a:solidFill>
                  <a:srgbClr val="000000"/>
                </a:solidFill>
                <a:latin typeface="Calibri"/>
              </a:rPr>
              <a:t> del SO: </a:t>
            </a:r>
            <a:r>
              <a:rPr sz="1300" dirty="0" err="1">
                <a:solidFill>
                  <a:srgbClr val="000000"/>
                </a:solidFill>
                <a:latin typeface="Calibri"/>
              </a:rPr>
              <a:t>el</a:t>
            </a:r>
            <a:r>
              <a:rPr sz="1300" dirty="0">
                <a:solidFill>
                  <a:srgbClr val="000000"/>
                </a:solidFill>
                <a:latin typeface="Calibri"/>
              </a:rPr>
              <a:t> scheduler de la VM </a:t>
            </a:r>
            <a:r>
              <a:rPr sz="1300" dirty="0" err="1">
                <a:solidFill>
                  <a:srgbClr val="000000"/>
                </a:solidFill>
                <a:latin typeface="Calibri"/>
              </a:rPr>
              <a:t>añade</a:t>
            </a:r>
            <a:r>
              <a:rPr sz="1300" dirty="0">
                <a:solidFill>
                  <a:srgbClr val="000000"/>
                </a:solidFill>
                <a:latin typeface="Calibri"/>
              </a:rPr>
              <a:t> </a:t>
            </a:r>
            <a:r>
              <a:rPr sz="1300" dirty="0" err="1">
                <a:solidFill>
                  <a:srgbClr val="000000"/>
                </a:solidFill>
                <a:latin typeface="Calibri"/>
              </a:rPr>
              <a:t>latencia</a:t>
            </a:r>
            <a:r>
              <a:rPr sz="1300" dirty="0">
                <a:solidFill>
                  <a:srgbClr val="000000"/>
                </a:solidFill>
                <a:latin typeface="Calibri"/>
              </a:rPr>
              <a:t> variable</a:t>
            </a:r>
          </a:p>
          <a:p>
            <a:pPr>
              <a:spcBef>
                <a:spcPts val="300"/>
              </a:spcBef>
            </a:pPr>
            <a:r>
              <a:rPr sz="1300" dirty="0">
                <a:solidFill>
                  <a:srgbClr val="000000"/>
                </a:solidFill>
                <a:latin typeface="Calibri"/>
              </a:rPr>
              <a:t>• </a:t>
            </a:r>
            <a:r>
              <a:rPr sz="1300" dirty="0" err="1">
                <a:solidFill>
                  <a:srgbClr val="000000"/>
                </a:solidFill>
                <a:latin typeface="Calibri"/>
              </a:rPr>
              <a:t>Coordinación</a:t>
            </a:r>
            <a:r>
              <a:rPr sz="1300" dirty="0">
                <a:solidFill>
                  <a:srgbClr val="000000"/>
                </a:solidFill>
                <a:latin typeface="Calibri"/>
              </a:rPr>
              <a:t> doble: </a:t>
            </a:r>
            <a:r>
              <a:rPr sz="1300" dirty="0" err="1">
                <a:solidFill>
                  <a:srgbClr val="000000"/>
                </a:solidFill>
                <a:latin typeface="Calibri"/>
              </a:rPr>
              <a:t>sincronización</a:t>
            </a:r>
            <a:r>
              <a:rPr sz="1300" dirty="0">
                <a:solidFill>
                  <a:srgbClr val="000000"/>
                </a:solidFill>
                <a:latin typeface="Calibri"/>
              </a:rPr>
              <a:t> MPI y OMP </a:t>
            </a:r>
            <a:r>
              <a:rPr sz="1300" dirty="0" err="1">
                <a:solidFill>
                  <a:srgbClr val="000000"/>
                </a:solidFill>
                <a:latin typeface="Calibri"/>
              </a:rPr>
              <a:t>simultánea</a:t>
            </a:r>
            <a:r>
              <a:rPr sz="1300" dirty="0">
                <a:solidFill>
                  <a:srgbClr val="000000"/>
                </a:solidFill>
                <a:latin typeface="Calibri"/>
              </a:rPr>
              <a:t> </a:t>
            </a:r>
            <a:r>
              <a:rPr sz="1300" dirty="0" err="1">
                <a:solidFill>
                  <a:srgbClr val="000000"/>
                </a:solidFill>
                <a:latin typeface="Calibri"/>
              </a:rPr>
              <a:t>amplifica</a:t>
            </a:r>
            <a:r>
              <a:rPr sz="1300" dirty="0">
                <a:solidFill>
                  <a:srgbClr val="000000"/>
                </a:solidFill>
                <a:latin typeface="Calibri"/>
              </a:rPr>
              <a:t> la </a:t>
            </a:r>
            <a:r>
              <a:rPr sz="1300" dirty="0" err="1">
                <a:solidFill>
                  <a:srgbClr val="000000"/>
                </a:solidFill>
                <a:latin typeface="Calibri"/>
              </a:rPr>
              <a:t>latencia</a:t>
            </a:r>
            <a:endParaRPr sz="1300" dirty="0">
              <a:solidFill>
                <a:srgbClr val="000000"/>
              </a:solidFill>
              <a:latin typeface="Calibri"/>
            </a:endParaRPr>
          </a:p>
        </p:txBody>
      </p:sp>
      <p:sp>
        <p:nvSpPr>
          <p:cNvPr id="8" name="TextBox 7"/>
          <p:cNvSpPr txBox="1"/>
          <p:nvPr/>
        </p:nvSpPr>
        <p:spPr>
          <a:xfrm>
            <a:off x="6094412" y="2834640"/>
            <a:ext cx="5577840" cy="769441"/>
          </a:xfrm>
          <a:prstGeom prst="rect">
            <a:avLst/>
          </a:prstGeom>
          <a:noFill/>
        </p:spPr>
        <p:txBody>
          <a:bodyPr wrap="square">
            <a:spAutoFit/>
          </a:bodyPr>
          <a:lstStyle/>
          <a:p>
            <a:pPr>
              <a:spcBef>
                <a:spcPts val="300"/>
              </a:spcBef>
            </a:pPr>
            <a:r>
              <a:t>• En nuestra plataforma local, V5 superó a V4; en el clúster virtualizado no</a:t>
            </a:r>
          </a:p>
          <a:p>
            <a:pPr>
              <a:spcBef>
                <a:spcPts val="300"/>
              </a:spcBef>
            </a:pPr>
            <a:r>
              <a:rPr sz="1300" dirty="0">
                <a:solidFill>
                  <a:srgbClr val="000000"/>
                </a:solidFill>
                <a:latin typeface="Calibri"/>
              </a:rPr>
              <a:t>• </a:t>
            </a:r>
            <a:r>
              <a:rPr sz="1300" dirty="0" err="1">
                <a:solidFill>
                  <a:srgbClr val="000000"/>
                </a:solidFill>
                <a:latin typeface="Calibri"/>
              </a:rPr>
              <a:t>Resultado</a:t>
            </a:r>
            <a:r>
              <a:rPr sz="1300" dirty="0">
                <a:solidFill>
                  <a:srgbClr val="000000"/>
                </a:solidFill>
                <a:latin typeface="Calibri"/>
              </a:rPr>
              <a:t> </a:t>
            </a:r>
            <a:r>
              <a:rPr sz="1300" dirty="0" err="1">
                <a:solidFill>
                  <a:srgbClr val="000000"/>
                </a:solidFill>
                <a:latin typeface="Calibri"/>
              </a:rPr>
              <a:t>relevante</a:t>
            </a:r>
            <a:r>
              <a:rPr sz="1300" dirty="0">
                <a:solidFill>
                  <a:srgbClr val="000000"/>
                </a:solidFill>
                <a:latin typeface="Calibri"/>
              </a:rPr>
              <a:t>: </a:t>
            </a:r>
            <a:r>
              <a:rPr sz="1300" dirty="0" err="1">
                <a:solidFill>
                  <a:srgbClr val="000000"/>
                </a:solidFill>
                <a:latin typeface="Calibri"/>
              </a:rPr>
              <a:t>el</a:t>
            </a:r>
            <a:r>
              <a:rPr sz="1300" dirty="0">
                <a:solidFill>
                  <a:srgbClr val="000000"/>
                </a:solidFill>
                <a:latin typeface="Calibri"/>
              </a:rPr>
              <a:t> </a:t>
            </a:r>
            <a:r>
              <a:rPr sz="1300" dirty="0" err="1">
                <a:solidFill>
                  <a:srgbClr val="000000"/>
                </a:solidFill>
                <a:latin typeface="Calibri"/>
              </a:rPr>
              <a:t>entorno</a:t>
            </a:r>
            <a:r>
              <a:rPr sz="1300" dirty="0">
                <a:solidFill>
                  <a:srgbClr val="000000"/>
                </a:solidFill>
                <a:latin typeface="Calibri"/>
              </a:rPr>
              <a:t> de </a:t>
            </a:r>
            <a:r>
              <a:rPr sz="1300" dirty="0" err="1">
                <a:solidFill>
                  <a:srgbClr val="000000"/>
                </a:solidFill>
                <a:latin typeface="Calibri"/>
              </a:rPr>
              <a:t>ejecución</a:t>
            </a:r>
            <a:r>
              <a:rPr sz="1300" dirty="0">
                <a:solidFill>
                  <a:srgbClr val="000000"/>
                </a:solidFill>
                <a:latin typeface="Calibri"/>
              </a:rPr>
              <a:t> </a:t>
            </a:r>
            <a:r>
              <a:rPr sz="1300" dirty="0" err="1">
                <a:solidFill>
                  <a:srgbClr val="000000"/>
                </a:solidFill>
                <a:latin typeface="Calibri"/>
              </a:rPr>
              <a:t>importa</a:t>
            </a:r>
            <a:r>
              <a:rPr sz="1300" dirty="0">
                <a:solidFill>
                  <a:srgbClr val="000000"/>
                </a:solidFill>
                <a:latin typeface="Calibri"/>
              </a:rPr>
              <a:t> tanto </a:t>
            </a:r>
            <a:r>
              <a:rPr sz="1300" dirty="0" err="1">
                <a:solidFill>
                  <a:srgbClr val="000000"/>
                </a:solidFill>
                <a:latin typeface="Calibri"/>
              </a:rPr>
              <a:t>como</a:t>
            </a:r>
            <a:r>
              <a:rPr sz="1300" dirty="0">
                <a:solidFill>
                  <a:srgbClr val="000000"/>
                </a:solidFill>
                <a:latin typeface="Calibri"/>
              </a:rPr>
              <a:t> </a:t>
            </a:r>
            <a:r>
              <a:rPr sz="1300" dirty="0" err="1">
                <a:solidFill>
                  <a:srgbClr val="000000"/>
                </a:solidFill>
                <a:latin typeface="Calibri"/>
              </a:rPr>
              <a:t>el</a:t>
            </a:r>
            <a:r>
              <a:rPr sz="1300" dirty="0">
                <a:solidFill>
                  <a:srgbClr val="000000"/>
                </a:solidFill>
                <a:latin typeface="Calibri"/>
              </a:rPr>
              <a:t> </a:t>
            </a:r>
            <a:r>
              <a:rPr sz="1300" dirty="0" err="1">
                <a:solidFill>
                  <a:srgbClr val="000000"/>
                </a:solidFill>
                <a:latin typeface="Calibri"/>
              </a:rPr>
              <a:t>código</a:t>
            </a:r>
            <a:endParaRPr sz="1300" dirty="0">
              <a:solidFill>
                <a:srgbClr val="000000"/>
              </a:solidFill>
              <a:latin typeface="Calibri"/>
            </a:endParaRPr>
          </a:p>
          <a:p>
            <a:pPr>
              <a:spcBef>
                <a:spcPts val="300"/>
              </a:spcBef>
            </a:pPr>
            <a:r>
              <a:rPr sz="1300" dirty="0">
                <a:solidFill>
                  <a:srgbClr val="000000"/>
                </a:solidFill>
                <a:latin typeface="Calibri"/>
              </a:rPr>
              <a:t>• Ambas </a:t>
            </a:r>
            <a:r>
              <a:rPr sz="1300" dirty="0" err="1">
                <a:solidFill>
                  <a:srgbClr val="000000"/>
                </a:solidFill>
                <a:latin typeface="Calibri"/>
              </a:rPr>
              <a:t>versiones</a:t>
            </a:r>
            <a:r>
              <a:rPr sz="1300" dirty="0">
                <a:solidFill>
                  <a:srgbClr val="000000"/>
                </a:solidFill>
                <a:latin typeface="Calibri"/>
              </a:rPr>
              <a:t> </a:t>
            </a:r>
            <a:r>
              <a:rPr sz="1300" dirty="0" err="1">
                <a:solidFill>
                  <a:srgbClr val="000000"/>
                </a:solidFill>
                <a:latin typeface="Calibri"/>
              </a:rPr>
              <a:t>producen</a:t>
            </a:r>
            <a:r>
              <a:rPr sz="1300" dirty="0">
                <a:solidFill>
                  <a:srgbClr val="000000"/>
                </a:solidFill>
                <a:latin typeface="Calibri"/>
              </a:rPr>
              <a:t> 43 306 </a:t>
            </a:r>
            <a:r>
              <a:rPr sz="1300" dirty="0" err="1">
                <a:solidFill>
                  <a:srgbClr val="000000"/>
                </a:solidFill>
                <a:latin typeface="Calibri"/>
              </a:rPr>
              <a:t>células</a:t>
            </a:r>
            <a:r>
              <a:rPr sz="1300" dirty="0">
                <a:solidFill>
                  <a:srgbClr val="000000"/>
                </a:solidFill>
                <a:latin typeface="Calibri"/>
              </a:rPr>
              <a:t> — </a:t>
            </a:r>
            <a:r>
              <a:rPr sz="1300" dirty="0" err="1">
                <a:solidFill>
                  <a:srgbClr val="000000"/>
                </a:solidFill>
                <a:latin typeface="Calibri"/>
              </a:rPr>
              <a:t>corrección</a:t>
            </a:r>
            <a:r>
              <a:rPr sz="1300" dirty="0">
                <a:solidFill>
                  <a:srgbClr val="000000"/>
                </a:solidFill>
                <a:latin typeface="Calibri"/>
              </a:rPr>
              <a:t> </a:t>
            </a:r>
            <a:r>
              <a:rPr sz="1300" dirty="0" err="1">
                <a:solidFill>
                  <a:srgbClr val="000000"/>
                </a:solidFill>
                <a:latin typeface="Calibri"/>
              </a:rPr>
              <a:t>verificada</a:t>
            </a:r>
            <a:endParaRPr sz="1300" dirty="0">
              <a:solidFill>
                <a:srgbClr val="000000"/>
              </a:solidFill>
              <a:latin typeface="Calibri"/>
            </a:endParaRPr>
          </a:p>
        </p:txBody>
      </p:sp>
      <p:sp>
        <p:nvSpPr>
          <p:cNvPr id="9" name="TextBox 8"/>
          <p:cNvSpPr txBox="1"/>
          <p:nvPr/>
        </p:nvSpPr>
        <p:spPr>
          <a:xfrm>
            <a:off x="365760" y="4124745"/>
            <a:ext cx="11430000" cy="307777"/>
          </a:xfrm>
          <a:prstGeom prst="rect">
            <a:avLst/>
          </a:prstGeom>
          <a:noFill/>
        </p:spPr>
        <p:txBody>
          <a:bodyPr wrap="square">
            <a:spAutoFit/>
          </a:bodyPr>
          <a:lstStyle/>
          <a:p>
            <a:pPr algn="l"/>
            <a:r>
              <a:rPr sz="1400" b="1" i="0" dirty="0" err="1">
                <a:solidFill>
                  <a:srgbClr val="1F3564"/>
                </a:solidFill>
                <a:latin typeface="Calibri"/>
              </a:rPr>
              <a:t>Comparativa</a:t>
            </a:r>
            <a:r>
              <a:rPr sz="1400" b="1" i="0" dirty="0">
                <a:solidFill>
                  <a:srgbClr val="1F3564"/>
                </a:solidFill>
                <a:latin typeface="Calibri"/>
              </a:rPr>
              <a:t> Local vs. </a:t>
            </a:r>
            <a:r>
              <a:rPr sz="1400" b="1" i="0" dirty="0" err="1">
                <a:solidFill>
                  <a:srgbClr val="1F3564"/>
                </a:solidFill>
                <a:latin typeface="Calibri"/>
              </a:rPr>
              <a:t>Clúster</a:t>
            </a:r>
            <a:endParaRPr sz="1400" b="1" i="0" dirty="0">
              <a:solidFill>
                <a:srgbClr val="1F3564"/>
              </a:solidFill>
              <a:latin typeface="Calibri"/>
            </a:endParaRPr>
          </a:p>
        </p:txBody>
      </p:sp>
      <p:graphicFrame>
        <p:nvGraphicFramePr>
          <p:cNvPr id="10" name="Table 9"/>
          <p:cNvGraphicFramePr>
            <a:graphicFrameLocks noGrp="1"/>
          </p:cNvGraphicFramePr>
          <p:nvPr>
            <p:extLst>
              <p:ext uri="{D42A27DB-BD31-4B8C-83A1-F6EECF244321}">
                <p14:modId xmlns:p14="http://schemas.microsoft.com/office/powerpoint/2010/main" val="2311861265"/>
              </p:ext>
            </p:extLst>
          </p:nvPr>
        </p:nvGraphicFramePr>
        <p:xfrm>
          <a:off x="365760" y="4537027"/>
          <a:ext cx="11430000" cy="164592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329184">
                <a:tc>
                  <a:txBody>
                    <a:bodyPr/>
                    <a:lstStyle/>
                    <a:p>
                      <a:pPr algn="ctr"/>
                      <a:r>
                        <a:rPr sz="1300" b="1" dirty="0" err="1">
                          <a:solidFill>
                            <a:srgbClr val="FFFFFF"/>
                          </a:solidFill>
                          <a:latin typeface="Calibri"/>
                        </a:rPr>
                        <a:t>Versión</a:t>
                      </a:r>
                      <a:endParaRPr sz="1300" b="1" dirty="0">
                        <a:solidFill>
                          <a:srgbClr val="FFFFFF"/>
                        </a:solidFill>
                        <a:latin typeface="Calibri"/>
                      </a:endParaRPr>
                    </a:p>
                  </a:txBody>
                  <a:tcPr>
                    <a:solidFill>
                      <a:srgbClr val="1F3564"/>
                    </a:solidFill>
                  </a:tcPr>
                </a:tc>
                <a:tc>
                  <a:txBody>
                    <a:bodyPr/>
                    <a:lstStyle/>
                    <a:p>
                      <a:pPr algn="ctr"/>
                      <a:r>
                        <a:rPr sz="1300" b="1" dirty="0" err="1">
                          <a:solidFill>
                            <a:srgbClr val="FFFFFF"/>
                          </a:solidFill>
                          <a:latin typeface="Calibri"/>
                        </a:rPr>
                        <a:t>Entorno</a:t>
                      </a:r>
                      <a:endParaRPr sz="1300" b="1" dirty="0">
                        <a:solidFill>
                          <a:srgbClr val="FFFFFF"/>
                        </a:solidFill>
                        <a:latin typeface="Calibri"/>
                      </a:endParaRPr>
                    </a:p>
                  </a:txBody>
                  <a:tcPr>
                    <a:solidFill>
                      <a:srgbClr val="1F3564"/>
                    </a:solidFill>
                  </a:tcPr>
                </a:tc>
                <a:tc>
                  <a:txBody>
                    <a:bodyPr/>
                    <a:lstStyle/>
                    <a:p>
                      <a:pPr algn="ctr"/>
                      <a:r>
                        <a:rPr sz="1300" b="1">
                          <a:solidFill>
                            <a:srgbClr val="FFFFFF"/>
                          </a:solidFill>
                          <a:latin typeface="Calibri"/>
                        </a:rPr>
                        <a:t>Config.</a:t>
                      </a:r>
                    </a:p>
                  </a:txBody>
                  <a:tcPr>
                    <a:solidFill>
                      <a:srgbClr val="1F3564"/>
                    </a:solidFill>
                  </a:tcPr>
                </a:tc>
                <a:tc>
                  <a:txBody>
                    <a:bodyPr/>
                    <a:lstStyle/>
                    <a:p>
                      <a:pPr algn="ctr"/>
                      <a:r>
                        <a:rPr sz="1300" b="1">
                          <a:solidFill>
                            <a:srgbClr val="FFFFFF"/>
                          </a:solidFill>
                          <a:latin typeface="Calibri"/>
                        </a:rPr>
                        <a:t>Tiempo</a:t>
                      </a:r>
                    </a:p>
                  </a:txBody>
                  <a:tcPr>
                    <a:solidFill>
                      <a:srgbClr val="1F3564"/>
                    </a:solidFill>
                  </a:tcPr>
                </a:tc>
                <a:tc>
                  <a:txBody>
                    <a:bodyPr/>
                    <a:lstStyle/>
                    <a:p>
                      <a:pPr algn="ctr"/>
                      <a:r>
                        <a:rPr sz="1300" b="1">
                          <a:solidFill>
                            <a:srgbClr val="FFFFFF"/>
                          </a:solidFill>
                          <a:latin typeface="Calibri"/>
                        </a:rPr>
                        <a:t>Speedup vs V1 local</a:t>
                      </a:r>
                    </a:p>
                  </a:txBody>
                  <a:tcPr>
                    <a:solidFill>
                      <a:srgbClr val="1F3564"/>
                    </a:solidFill>
                  </a:tcPr>
                </a:tc>
                <a:extLst>
                  <a:ext uri="{0D108BD9-81ED-4DB2-BD59-A6C34878D82A}">
                    <a16:rowId xmlns:a16="http://schemas.microsoft.com/office/drawing/2014/main" val="10000"/>
                  </a:ext>
                </a:extLst>
              </a:tr>
              <a:tr h="329184">
                <a:tc>
                  <a:txBody>
                    <a:bodyPr/>
                    <a:lstStyle/>
                    <a:p>
                      <a:pPr algn="l"/>
                      <a:r>
                        <a:rPr sz="1300">
                          <a:solidFill>
                            <a:srgbClr val="000000"/>
                          </a:solidFill>
                          <a:latin typeface="Calibri"/>
                        </a:rPr>
                        <a:t>V4 · MPI</a:t>
                      </a:r>
                    </a:p>
                  </a:txBody>
                  <a:tcPr>
                    <a:solidFill>
                      <a:srgbClr val="D6E4F7"/>
                    </a:solidFill>
                  </a:tcPr>
                </a:tc>
                <a:tc>
                  <a:txBody>
                    <a:bodyPr/>
                    <a:lstStyle/>
                    <a:p>
                      <a:pPr algn="ctr"/>
                      <a:r>
                        <a:rPr sz="1300" dirty="0">
                          <a:solidFill>
                            <a:srgbClr val="000000"/>
                          </a:solidFill>
                          <a:latin typeface="Calibri"/>
                        </a:rPr>
                        <a:t>Local</a:t>
                      </a:r>
                    </a:p>
                  </a:txBody>
                  <a:tcPr>
                    <a:solidFill>
                      <a:srgbClr val="D6E4F7"/>
                    </a:solidFill>
                  </a:tcPr>
                </a:tc>
                <a:tc>
                  <a:txBody>
                    <a:bodyPr/>
                    <a:lstStyle/>
                    <a:p>
                      <a:pPr algn="ctr"/>
                      <a:r>
                        <a:rPr sz="1300" dirty="0">
                          <a:solidFill>
                            <a:srgbClr val="000000"/>
                          </a:solidFill>
                          <a:latin typeface="Calibri"/>
                        </a:rPr>
                        <a:t>8 proc.</a:t>
                      </a:r>
                    </a:p>
                  </a:txBody>
                  <a:tcPr>
                    <a:solidFill>
                      <a:srgbClr val="D6E4F7"/>
                    </a:solidFill>
                  </a:tcPr>
                </a:tc>
                <a:tc>
                  <a:txBody>
                    <a:bodyPr/>
                    <a:lstStyle/>
                    <a:p>
                      <a:pPr algn="ctr"/>
                      <a:r>
                        <a:rPr sz="1300">
                          <a:solidFill>
                            <a:srgbClr val="000000"/>
                          </a:solidFill>
                          <a:latin typeface="Calibri"/>
                        </a:rPr>
                        <a:t>0.311 s</a:t>
                      </a:r>
                    </a:p>
                  </a:txBody>
                  <a:tcPr>
                    <a:solidFill>
                      <a:srgbClr val="D6E4F7"/>
                    </a:solidFill>
                  </a:tcPr>
                </a:tc>
                <a:tc>
                  <a:txBody>
                    <a:bodyPr/>
                    <a:lstStyle/>
                    <a:p>
                      <a:pPr algn="ctr"/>
                      <a:r>
                        <a:rPr sz="1300">
                          <a:solidFill>
                            <a:srgbClr val="000000"/>
                          </a:solidFill>
                          <a:latin typeface="Calibri"/>
                        </a:rPr>
                        <a:t>6.19×</a:t>
                      </a:r>
                    </a:p>
                  </a:txBody>
                  <a:tcPr>
                    <a:solidFill>
                      <a:srgbClr val="D6E4F7"/>
                    </a:solidFill>
                  </a:tcPr>
                </a:tc>
                <a:extLst>
                  <a:ext uri="{0D108BD9-81ED-4DB2-BD59-A6C34878D82A}">
                    <a16:rowId xmlns:a16="http://schemas.microsoft.com/office/drawing/2014/main" val="10001"/>
                  </a:ext>
                </a:extLst>
              </a:tr>
              <a:tr h="329184">
                <a:tc>
                  <a:txBody>
                    <a:bodyPr/>
                    <a:lstStyle/>
                    <a:p>
                      <a:pPr algn="l"/>
                      <a:r>
                        <a:rPr sz="1300">
                          <a:solidFill>
                            <a:srgbClr val="000000"/>
                          </a:solidFill>
                          <a:latin typeface="Calibri"/>
                        </a:rPr>
                        <a:t>V4 · MPI</a:t>
                      </a:r>
                    </a:p>
                  </a:txBody>
                  <a:tcPr>
                    <a:solidFill>
                      <a:srgbClr val="FFFFFF"/>
                    </a:solidFill>
                  </a:tcPr>
                </a:tc>
                <a:tc>
                  <a:txBody>
                    <a:bodyPr/>
                    <a:lstStyle/>
                    <a:p>
                      <a:pPr algn="ctr"/>
                      <a:r>
                        <a:rPr sz="1300" dirty="0" err="1">
                          <a:solidFill>
                            <a:srgbClr val="000000"/>
                          </a:solidFill>
                          <a:latin typeface="Calibri"/>
                        </a:rPr>
                        <a:t>Clúster</a:t>
                      </a:r>
                      <a:endParaRPr sz="1300" dirty="0">
                        <a:solidFill>
                          <a:srgbClr val="000000"/>
                        </a:solidFill>
                        <a:latin typeface="Calibri"/>
                      </a:endParaRPr>
                    </a:p>
                  </a:txBody>
                  <a:tcPr>
                    <a:solidFill>
                      <a:srgbClr val="FFFFFF"/>
                    </a:solidFill>
                  </a:tcPr>
                </a:tc>
                <a:tc>
                  <a:txBody>
                    <a:bodyPr/>
                    <a:lstStyle/>
                    <a:p>
                      <a:pPr algn="ctr"/>
                      <a:r>
                        <a:rPr sz="1300" dirty="0">
                          <a:solidFill>
                            <a:srgbClr val="000000"/>
                          </a:solidFill>
                          <a:latin typeface="Calibri"/>
                        </a:rPr>
                        <a:t>4 proc.</a:t>
                      </a:r>
                    </a:p>
                  </a:txBody>
                  <a:tcPr>
                    <a:solidFill>
                      <a:srgbClr val="FFFFFF"/>
                    </a:solidFill>
                  </a:tcPr>
                </a:tc>
                <a:tc>
                  <a:txBody>
                    <a:bodyPr/>
                    <a:lstStyle/>
                    <a:p>
                      <a:pPr algn="ctr"/>
                      <a:r>
                        <a:rPr sz="1300" dirty="0">
                          <a:solidFill>
                            <a:srgbClr val="000000"/>
                          </a:solidFill>
                          <a:latin typeface="Calibri"/>
                        </a:rPr>
                        <a:t>1.015 s</a:t>
                      </a:r>
                    </a:p>
                  </a:txBody>
                  <a:tcPr>
                    <a:solidFill>
                      <a:srgbClr val="FFFFFF"/>
                    </a:solidFill>
                  </a:tcPr>
                </a:tc>
                <a:tc>
                  <a:txBody>
                    <a:bodyPr/>
                    <a:lstStyle/>
                    <a:p>
                      <a:pPr algn="ctr"/>
                      <a:r>
                        <a:rPr sz="1300">
                          <a:solidFill>
                            <a:srgbClr val="000000"/>
                          </a:solidFill>
                          <a:latin typeface="Calibri"/>
                        </a:rPr>
                        <a:t>1.90×</a:t>
                      </a:r>
                    </a:p>
                  </a:txBody>
                  <a:tcPr>
                    <a:solidFill>
                      <a:srgbClr val="FFFFFF"/>
                    </a:solidFill>
                  </a:tcPr>
                </a:tc>
                <a:extLst>
                  <a:ext uri="{0D108BD9-81ED-4DB2-BD59-A6C34878D82A}">
                    <a16:rowId xmlns:a16="http://schemas.microsoft.com/office/drawing/2014/main" val="10002"/>
                  </a:ext>
                </a:extLst>
              </a:tr>
              <a:tr h="329184">
                <a:tc>
                  <a:txBody>
                    <a:bodyPr/>
                    <a:lstStyle/>
                    <a:p>
                      <a:pPr algn="l"/>
                      <a:r>
                        <a:rPr sz="1300">
                          <a:solidFill>
                            <a:srgbClr val="000000"/>
                          </a:solidFill>
                          <a:latin typeface="Calibri"/>
                        </a:rPr>
                        <a:t>V5 · MPI+OMP</a:t>
                      </a:r>
                    </a:p>
                  </a:txBody>
                  <a:tcPr>
                    <a:solidFill>
                      <a:srgbClr val="D6E4F7"/>
                    </a:solidFill>
                  </a:tcPr>
                </a:tc>
                <a:tc>
                  <a:txBody>
                    <a:bodyPr/>
                    <a:lstStyle/>
                    <a:p>
                      <a:pPr algn="ctr"/>
                      <a:r>
                        <a:rPr sz="1300">
                          <a:solidFill>
                            <a:srgbClr val="000000"/>
                          </a:solidFill>
                          <a:latin typeface="Calibri"/>
                        </a:rPr>
                        <a:t>Local</a:t>
                      </a:r>
                    </a:p>
                  </a:txBody>
                  <a:tcPr>
                    <a:solidFill>
                      <a:srgbClr val="D6E4F7"/>
                    </a:solidFill>
                  </a:tcPr>
                </a:tc>
                <a:tc>
                  <a:txBody>
                    <a:bodyPr/>
                    <a:lstStyle/>
                    <a:p>
                      <a:pPr algn="ctr"/>
                      <a:r>
                        <a:rPr sz="1300" dirty="0">
                          <a:solidFill>
                            <a:srgbClr val="000000"/>
                          </a:solidFill>
                          <a:latin typeface="Calibri"/>
                        </a:rPr>
                        <a:t>8p×2h</a:t>
                      </a:r>
                    </a:p>
                  </a:txBody>
                  <a:tcPr>
                    <a:solidFill>
                      <a:srgbClr val="D6E4F7"/>
                    </a:solidFill>
                  </a:tcPr>
                </a:tc>
                <a:tc>
                  <a:txBody>
                    <a:bodyPr/>
                    <a:lstStyle/>
                    <a:p>
                      <a:pPr algn="ctr"/>
                      <a:r>
                        <a:rPr sz="1300" dirty="0">
                          <a:solidFill>
                            <a:srgbClr val="000000"/>
                          </a:solidFill>
                          <a:latin typeface="Calibri"/>
                        </a:rPr>
                        <a:t>0.187 s</a:t>
                      </a:r>
                    </a:p>
                  </a:txBody>
                  <a:tcPr>
                    <a:solidFill>
                      <a:srgbClr val="D6E4F7"/>
                    </a:solidFill>
                  </a:tcPr>
                </a:tc>
                <a:tc>
                  <a:txBody>
                    <a:bodyPr/>
                    <a:lstStyle/>
                    <a:p>
                      <a:pPr algn="ctr"/>
                      <a:r>
                        <a:rPr sz="1300" dirty="0">
                          <a:solidFill>
                            <a:srgbClr val="000000"/>
                          </a:solidFill>
                          <a:latin typeface="Calibri"/>
                        </a:rPr>
                        <a:t>10.32×</a:t>
                      </a:r>
                    </a:p>
                  </a:txBody>
                  <a:tcPr>
                    <a:solidFill>
                      <a:srgbClr val="D6E4F7"/>
                    </a:solidFill>
                  </a:tcPr>
                </a:tc>
                <a:extLst>
                  <a:ext uri="{0D108BD9-81ED-4DB2-BD59-A6C34878D82A}">
                    <a16:rowId xmlns:a16="http://schemas.microsoft.com/office/drawing/2014/main" val="10003"/>
                  </a:ext>
                </a:extLst>
              </a:tr>
              <a:tr h="329184">
                <a:tc>
                  <a:txBody>
                    <a:bodyPr/>
                    <a:lstStyle/>
                    <a:p>
                      <a:pPr algn="l"/>
                      <a:r>
                        <a:rPr sz="1300">
                          <a:solidFill>
                            <a:srgbClr val="000000"/>
                          </a:solidFill>
                          <a:latin typeface="Calibri"/>
                        </a:rPr>
                        <a:t>V5 · MPI+OMP</a:t>
                      </a:r>
                    </a:p>
                  </a:txBody>
                  <a:tcPr>
                    <a:solidFill>
                      <a:srgbClr val="FFFFFF"/>
                    </a:solidFill>
                  </a:tcPr>
                </a:tc>
                <a:tc>
                  <a:txBody>
                    <a:bodyPr/>
                    <a:lstStyle/>
                    <a:p>
                      <a:pPr algn="ctr"/>
                      <a:r>
                        <a:rPr sz="1300">
                          <a:solidFill>
                            <a:srgbClr val="000000"/>
                          </a:solidFill>
                          <a:latin typeface="Calibri"/>
                        </a:rPr>
                        <a:t>Clúster</a:t>
                      </a:r>
                    </a:p>
                  </a:txBody>
                  <a:tcPr>
                    <a:solidFill>
                      <a:srgbClr val="FFFFFF"/>
                    </a:solidFill>
                  </a:tcPr>
                </a:tc>
                <a:tc>
                  <a:txBody>
                    <a:bodyPr/>
                    <a:lstStyle/>
                    <a:p>
                      <a:pPr algn="ctr"/>
                      <a:r>
                        <a:rPr sz="1300" dirty="0"/>
                        <a:t>4p×2h</a:t>
                      </a:r>
                    </a:p>
                  </a:txBody>
                  <a:tcPr>
                    <a:solidFill>
                      <a:srgbClr val="FFFFFF"/>
                    </a:solidFill>
                  </a:tcPr>
                </a:tc>
                <a:tc>
                  <a:txBody>
                    <a:bodyPr/>
                    <a:lstStyle/>
                    <a:p>
                      <a:pPr algn="ctr"/>
                      <a:r>
                        <a:rPr sz="1300">
                          <a:solidFill>
                            <a:srgbClr val="000000"/>
                          </a:solidFill>
                          <a:latin typeface="Calibri"/>
                        </a:rPr>
                        <a:t>4.025 s</a:t>
                      </a:r>
                    </a:p>
                  </a:txBody>
                  <a:tcPr>
                    <a:solidFill>
                      <a:srgbClr val="FFFFFF"/>
                    </a:solidFill>
                  </a:tcPr>
                </a:tc>
                <a:tc>
                  <a:txBody>
                    <a:bodyPr/>
                    <a:lstStyle/>
                    <a:p>
                      <a:pPr algn="ctr"/>
                      <a:r>
                        <a:rPr sz="1300" dirty="0">
                          <a:solidFill>
                            <a:srgbClr val="000000"/>
                          </a:solidFill>
                          <a:latin typeface="Calibri"/>
                        </a:rPr>
                        <a:t>0.48×</a:t>
                      </a:r>
                    </a:p>
                  </a:txBody>
                  <a:tcPr>
                    <a:solidFill>
                      <a:srgbClr val="FFFFFF"/>
                    </a:solidFill>
                  </a:tcPr>
                </a:tc>
                <a:extLst>
                  <a:ext uri="{0D108BD9-81ED-4DB2-BD59-A6C34878D82A}">
                    <a16:rowId xmlns:a16="http://schemas.microsoft.com/office/drawing/2014/main" val="10004"/>
                  </a:ext>
                </a:extLst>
              </a:tr>
            </a:tbl>
          </a:graphicData>
        </a:graphic>
      </p:graphicFrame>
      <p:sp>
        <p:nvSpPr>
          <p:cNvPr id="11" name="Rectangle 10"/>
          <p:cNvSpPr/>
          <p:nvPr/>
        </p:nvSpPr>
        <p:spPr>
          <a:xfrm>
            <a:off x="365760" y="6257799"/>
            <a:ext cx="11430000" cy="451344"/>
          </a:xfrm>
          <a:prstGeom prst="rect">
            <a:avLst/>
          </a:prstGeom>
          <a:solidFill>
            <a:srgbClr val="1F3564"/>
          </a:solidFill>
          <a:ln w="12700">
            <a:solidFill>
              <a:srgbClr val="70B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257799"/>
            <a:ext cx="11155680" cy="446276"/>
          </a:xfrm>
          <a:prstGeom prst="rect">
            <a:avLst/>
          </a:prstGeom>
          <a:noFill/>
        </p:spPr>
        <p:txBody>
          <a:bodyPr wrap="square">
            <a:spAutoFit/>
          </a:bodyPr>
          <a:lstStyle/>
          <a:p>
            <a:pPr algn="ctr"/>
            <a:r>
              <a:rPr sz="1150" b="0" i="0" dirty="0" err="1">
                <a:solidFill>
                  <a:srgbClr val="FFFFFF"/>
                </a:solidFill>
                <a:latin typeface="Calibri"/>
              </a:rPr>
              <a:t>Conclusión</a:t>
            </a:r>
            <a:r>
              <a:rPr sz="1150" b="0" i="0" dirty="0">
                <a:solidFill>
                  <a:srgbClr val="FFFFFF"/>
                </a:solidFill>
                <a:latin typeface="Calibri"/>
              </a:rPr>
              <a:t> del </a:t>
            </a:r>
            <a:r>
              <a:rPr sz="1150" b="0" i="0" dirty="0" err="1">
                <a:solidFill>
                  <a:srgbClr val="FFFFFF"/>
                </a:solidFill>
                <a:latin typeface="Calibri"/>
              </a:rPr>
              <a:t>clúster</a:t>
            </a:r>
            <a:r>
              <a:rPr sz="1150" b="0" i="0" dirty="0">
                <a:solidFill>
                  <a:srgbClr val="FFFFFF"/>
                </a:solidFill>
                <a:latin typeface="Calibri"/>
              </a:rPr>
              <a:t>: </a:t>
            </a:r>
            <a:r>
              <a:rPr sz="1150" b="0" i="0" dirty="0" err="1">
                <a:solidFill>
                  <a:srgbClr val="FFFFFF"/>
                </a:solidFill>
                <a:latin typeface="Calibri"/>
              </a:rPr>
              <a:t>el</a:t>
            </a:r>
            <a:r>
              <a:rPr sz="1150" b="0" i="0" dirty="0">
                <a:solidFill>
                  <a:srgbClr val="FFFFFF"/>
                </a:solidFill>
                <a:latin typeface="Calibri"/>
              </a:rPr>
              <a:t> hardware </a:t>
            </a:r>
            <a:r>
              <a:rPr sz="1150" b="0" i="0" dirty="0" err="1">
                <a:solidFill>
                  <a:srgbClr val="FFFFFF"/>
                </a:solidFill>
                <a:latin typeface="Calibri"/>
              </a:rPr>
              <a:t>virtualizado</a:t>
            </a:r>
            <a:r>
              <a:rPr sz="1150" b="0" i="0" dirty="0">
                <a:solidFill>
                  <a:srgbClr val="FFFFFF"/>
                </a:solidFill>
                <a:latin typeface="Calibri"/>
              </a:rPr>
              <a:t> </a:t>
            </a:r>
            <a:r>
              <a:rPr sz="1150" b="0" i="0" dirty="0" err="1">
                <a:solidFill>
                  <a:srgbClr val="FFFFFF"/>
                </a:solidFill>
                <a:latin typeface="Calibri"/>
              </a:rPr>
              <a:t>limita</a:t>
            </a:r>
            <a:r>
              <a:rPr sz="1150" b="0" i="0" dirty="0">
                <a:solidFill>
                  <a:srgbClr val="FFFFFF"/>
                </a:solidFill>
                <a:latin typeface="Calibri"/>
              </a:rPr>
              <a:t> </a:t>
            </a:r>
            <a:r>
              <a:rPr sz="1150" b="0" i="0" dirty="0" err="1">
                <a:solidFill>
                  <a:srgbClr val="FFFFFF"/>
                </a:solidFill>
                <a:latin typeface="Calibri"/>
              </a:rPr>
              <a:t>severamente</a:t>
            </a:r>
            <a:r>
              <a:rPr sz="1150" b="0" i="0" dirty="0">
                <a:solidFill>
                  <a:srgbClr val="FFFFFF"/>
                </a:solidFill>
                <a:latin typeface="Calibri"/>
              </a:rPr>
              <a:t> </a:t>
            </a:r>
            <a:r>
              <a:rPr sz="1150" b="0" i="0" dirty="0" err="1">
                <a:solidFill>
                  <a:srgbClr val="FFFFFF"/>
                </a:solidFill>
                <a:latin typeface="Calibri"/>
              </a:rPr>
              <a:t>el</a:t>
            </a:r>
            <a:r>
              <a:rPr sz="1150" b="0" i="0" dirty="0">
                <a:solidFill>
                  <a:srgbClr val="FFFFFF"/>
                </a:solidFill>
                <a:latin typeface="Calibri"/>
              </a:rPr>
              <a:t> </a:t>
            </a:r>
            <a:r>
              <a:rPr sz="1150" b="0" i="0" dirty="0" err="1">
                <a:solidFill>
                  <a:srgbClr val="FFFFFF"/>
                </a:solidFill>
                <a:latin typeface="Calibri"/>
              </a:rPr>
              <a:t>rendimiento</a:t>
            </a:r>
            <a:r>
              <a:rPr sz="1150" b="0" i="0" dirty="0">
                <a:solidFill>
                  <a:srgbClr val="FFFFFF"/>
                </a:solidFill>
                <a:latin typeface="Calibri"/>
              </a:rPr>
              <a:t> </a:t>
            </a:r>
            <a:r>
              <a:rPr sz="1150" b="0" i="0" dirty="0" err="1">
                <a:solidFill>
                  <a:srgbClr val="FFFFFF"/>
                </a:solidFill>
                <a:latin typeface="Calibri"/>
              </a:rPr>
              <a:t>híbrido</a:t>
            </a:r>
            <a:r>
              <a:rPr sz="1150" b="0" i="0" dirty="0">
                <a:solidFill>
                  <a:srgbClr val="FFFFFF"/>
                </a:solidFill>
                <a:latin typeface="Calibri"/>
              </a:rPr>
              <a:t>. El speedup de V4 </a:t>
            </a:r>
            <a:r>
              <a:rPr sz="1150" b="0" i="0" dirty="0" err="1">
                <a:solidFill>
                  <a:srgbClr val="FFFFFF"/>
                </a:solidFill>
                <a:latin typeface="Calibri"/>
              </a:rPr>
              <a:t>en</a:t>
            </a:r>
            <a:r>
              <a:rPr sz="1150" b="0" i="0" dirty="0">
                <a:solidFill>
                  <a:srgbClr val="FFFFFF"/>
                </a:solidFill>
                <a:latin typeface="Calibri"/>
              </a:rPr>
              <a:t> </a:t>
            </a:r>
            <a:r>
              <a:rPr sz="1150" b="0" i="0" dirty="0" err="1">
                <a:solidFill>
                  <a:srgbClr val="FFFFFF"/>
                </a:solidFill>
                <a:latin typeface="Calibri"/>
              </a:rPr>
              <a:t>clúster</a:t>
            </a:r>
            <a:r>
              <a:rPr sz="1150" b="0" i="0" dirty="0">
                <a:solidFill>
                  <a:srgbClr val="FFFFFF"/>
                </a:solidFill>
                <a:latin typeface="Calibri"/>
              </a:rPr>
              <a:t> (1.90×) es inferior al local (6.19×) </a:t>
            </a:r>
            <a:r>
              <a:rPr sz="1150" b="0" i="0" dirty="0" err="1">
                <a:solidFill>
                  <a:srgbClr val="FFFFFF"/>
                </a:solidFill>
                <a:latin typeface="Calibri"/>
              </a:rPr>
              <a:t>por</a:t>
            </a:r>
            <a:r>
              <a:rPr sz="1150" b="0" i="0" dirty="0">
                <a:solidFill>
                  <a:srgbClr val="FFFFFF"/>
                </a:solidFill>
                <a:latin typeface="Calibri"/>
              </a:rPr>
              <a:t> la </a:t>
            </a:r>
            <a:r>
              <a:rPr sz="1150" b="0" i="0" dirty="0" err="1">
                <a:solidFill>
                  <a:srgbClr val="FFFFFF"/>
                </a:solidFill>
                <a:latin typeface="Calibri"/>
              </a:rPr>
              <a:t>diferencia</a:t>
            </a:r>
            <a:r>
              <a:rPr sz="1150" b="0" i="0" dirty="0">
                <a:solidFill>
                  <a:srgbClr val="FFFFFF"/>
                </a:solidFill>
                <a:latin typeface="Calibri"/>
              </a:rPr>
              <a:t> </a:t>
            </a:r>
            <a:r>
              <a:rPr sz="1150" b="0" i="0" dirty="0" err="1">
                <a:solidFill>
                  <a:srgbClr val="FFFFFF"/>
                </a:solidFill>
                <a:latin typeface="Calibri"/>
              </a:rPr>
              <a:t>en</a:t>
            </a:r>
            <a:r>
              <a:rPr sz="1150" b="0" i="0" dirty="0">
                <a:solidFill>
                  <a:srgbClr val="FFFFFF"/>
                </a:solidFill>
                <a:latin typeface="Calibri"/>
              </a:rPr>
              <a:t> </a:t>
            </a:r>
            <a:r>
              <a:rPr sz="1150" b="0" i="0" dirty="0" err="1">
                <a:solidFill>
                  <a:srgbClr val="FFFFFF"/>
                </a:solidFill>
                <a:latin typeface="Calibri"/>
              </a:rPr>
              <a:t>el</a:t>
            </a:r>
            <a:r>
              <a:rPr sz="1150" b="0" i="0" dirty="0">
                <a:solidFill>
                  <a:srgbClr val="FFFFFF"/>
                </a:solidFill>
                <a:latin typeface="Calibri"/>
              </a:rPr>
              <a:t> </a:t>
            </a:r>
            <a:r>
              <a:rPr sz="1150" b="0" i="0" dirty="0" err="1">
                <a:solidFill>
                  <a:srgbClr val="FFFFFF"/>
                </a:solidFill>
                <a:latin typeface="Calibri"/>
              </a:rPr>
              <a:t>número</a:t>
            </a:r>
            <a:r>
              <a:rPr sz="1150" b="0" i="0" dirty="0">
                <a:solidFill>
                  <a:srgbClr val="FFFFFF"/>
                </a:solidFill>
                <a:latin typeface="Calibri"/>
              </a:rPr>
              <a:t> de </a:t>
            </a:r>
            <a:r>
              <a:rPr sz="1150" b="0" i="0" dirty="0" err="1">
                <a:solidFill>
                  <a:srgbClr val="FFFFFF"/>
                </a:solidFill>
                <a:latin typeface="Calibri"/>
              </a:rPr>
              <a:t>procesos</a:t>
            </a:r>
            <a:r>
              <a:rPr sz="1150" b="0" i="0" dirty="0">
                <a:solidFill>
                  <a:srgbClr val="FFFFFF"/>
                </a:solidFill>
                <a:latin typeface="Calibri"/>
              </a:rPr>
              <a:t> (4 vs 8) y </a:t>
            </a:r>
            <a:r>
              <a:rPr sz="1150" b="0" i="0" dirty="0" err="1">
                <a:solidFill>
                  <a:srgbClr val="FFFFFF"/>
                </a:solidFill>
                <a:latin typeface="Calibri"/>
              </a:rPr>
              <a:t>el</a:t>
            </a:r>
            <a:r>
              <a:rPr sz="1150" b="0" i="0" dirty="0">
                <a:solidFill>
                  <a:srgbClr val="FFFFFF"/>
                </a:solidFill>
                <a:latin typeface="Calibri"/>
              </a:rPr>
              <a:t> overhead de </a:t>
            </a:r>
            <a:r>
              <a:rPr sz="1150" b="0" i="0" dirty="0" err="1">
                <a:solidFill>
                  <a:srgbClr val="FFFFFF"/>
                </a:solidFill>
                <a:latin typeface="Calibri"/>
              </a:rPr>
              <a:t>virtualización</a:t>
            </a:r>
            <a:r>
              <a:rPr sz="1150" b="0" i="0" dirty="0">
                <a:solidFill>
                  <a:srgbClr val="FFFFFF"/>
                </a:solidFill>
                <a:latin typeface="Calibri"/>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7899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12880" cy="658368"/>
          </a:xfrm>
          <a:prstGeom prst="rect">
            <a:avLst/>
          </a:prstGeom>
          <a:noFill/>
        </p:spPr>
        <p:txBody>
          <a:bodyPr wrap="square">
            <a:spAutoFit/>
          </a:bodyPr>
          <a:lstStyle/>
          <a:p>
            <a:pPr algn="l"/>
            <a:r>
              <a:rPr sz="2600" b="1" i="0">
                <a:solidFill>
                  <a:srgbClr val="FFFFFF"/>
                </a:solidFill>
                <a:latin typeface="Calibri"/>
              </a:rPr>
              <a:t>Conclusiones</a:t>
            </a:r>
          </a:p>
        </p:txBody>
      </p:sp>
      <p:sp>
        <p:nvSpPr>
          <p:cNvPr id="4" name="Rectangle 3"/>
          <p:cNvSpPr/>
          <p:nvPr/>
        </p:nvSpPr>
        <p:spPr>
          <a:xfrm>
            <a:off x="365760" y="1170432"/>
            <a:ext cx="5669280" cy="1097280"/>
          </a:xfrm>
          <a:prstGeom prst="rect">
            <a:avLst/>
          </a:prstGeom>
          <a:solidFill>
            <a:srgbClr val="D6E4F7"/>
          </a:solidFill>
          <a:ln w="9525">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1170432"/>
            <a:ext cx="5669280" cy="27432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143000"/>
            <a:ext cx="5486400" cy="338554"/>
          </a:xfrm>
          <a:prstGeom prst="rect">
            <a:avLst/>
          </a:prstGeom>
          <a:noFill/>
        </p:spPr>
        <p:txBody>
          <a:bodyPr wrap="square">
            <a:spAutoFit/>
          </a:bodyPr>
          <a:lstStyle/>
          <a:p>
            <a:pPr algn="l"/>
            <a:r>
              <a:rPr sz="1600" b="1" i="0" dirty="0">
                <a:solidFill>
                  <a:srgbClr val="FFFFFF"/>
                </a:solidFill>
                <a:latin typeface="Calibri"/>
              </a:rPr>
              <a:t>V2 · Memoria </a:t>
            </a:r>
            <a:r>
              <a:rPr sz="1600" b="1" i="0" dirty="0" err="1">
                <a:solidFill>
                  <a:srgbClr val="FFFFFF"/>
                </a:solidFill>
                <a:latin typeface="Calibri"/>
              </a:rPr>
              <a:t>contigua</a:t>
            </a:r>
            <a:endParaRPr sz="1600" b="1" i="0" dirty="0">
              <a:solidFill>
                <a:srgbClr val="FFFFFF"/>
              </a:solidFill>
              <a:latin typeface="Calibri"/>
            </a:endParaRPr>
          </a:p>
        </p:txBody>
      </p:sp>
      <p:sp>
        <p:nvSpPr>
          <p:cNvPr id="7" name="TextBox 6"/>
          <p:cNvSpPr txBox="1"/>
          <p:nvPr/>
        </p:nvSpPr>
        <p:spPr>
          <a:xfrm>
            <a:off x="475488" y="1603673"/>
            <a:ext cx="5486400" cy="523220"/>
          </a:xfrm>
          <a:prstGeom prst="rect">
            <a:avLst/>
          </a:prstGeom>
          <a:noFill/>
        </p:spPr>
        <p:txBody>
          <a:bodyPr wrap="square">
            <a:spAutoFit/>
          </a:bodyPr>
          <a:lstStyle/>
          <a:p>
            <a:pPr algn="l"/>
            <a:r>
              <a:rPr sz="1400" b="0" i="0" dirty="0">
                <a:solidFill>
                  <a:srgbClr val="000000"/>
                </a:solidFill>
                <a:latin typeface="Calibri"/>
              </a:rPr>
              <a:t>La memoria </a:t>
            </a:r>
            <a:r>
              <a:rPr sz="1400" b="0" i="0" dirty="0" err="1">
                <a:solidFill>
                  <a:srgbClr val="000000"/>
                </a:solidFill>
                <a:latin typeface="Calibri"/>
              </a:rPr>
              <a:t>contigua</a:t>
            </a:r>
            <a:r>
              <a:rPr sz="1400" b="0" i="0" dirty="0">
                <a:solidFill>
                  <a:srgbClr val="000000"/>
                </a:solidFill>
                <a:latin typeface="Calibri"/>
              </a:rPr>
              <a:t> </a:t>
            </a:r>
            <a:r>
              <a:rPr sz="1400" b="0" i="0" dirty="0" err="1">
                <a:solidFill>
                  <a:srgbClr val="000000"/>
                </a:solidFill>
                <a:latin typeface="Calibri"/>
              </a:rPr>
              <a:t>mejora</a:t>
            </a:r>
            <a:r>
              <a:rPr sz="1400" b="0" i="0" dirty="0">
                <a:solidFill>
                  <a:srgbClr val="000000"/>
                </a:solidFill>
                <a:latin typeface="Calibri"/>
              </a:rPr>
              <a:t> la </a:t>
            </a:r>
            <a:r>
              <a:rPr sz="1400" b="0" i="0" dirty="0" err="1">
                <a:solidFill>
                  <a:srgbClr val="000000"/>
                </a:solidFill>
                <a:latin typeface="Calibri"/>
              </a:rPr>
              <a:t>localidad</a:t>
            </a:r>
            <a:r>
              <a:rPr sz="1400" b="0" i="0" dirty="0">
                <a:solidFill>
                  <a:srgbClr val="000000"/>
                </a:solidFill>
                <a:latin typeface="Calibri"/>
              </a:rPr>
              <a:t> de </a:t>
            </a:r>
            <a:r>
              <a:rPr sz="1400" b="0" i="0" dirty="0" err="1">
                <a:solidFill>
                  <a:srgbClr val="000000"/>
                </a:solidFill>
                <a:latin typeface="Calibri"/>
              </a:rPr>
              <a:t>caché</a:t>
            </a:r>
            <a:r>
              <a:rPr sz="1400" b="0" i="0" dirty="0">
                <a:solidFill>
                  <a:srgbClr val="000000"/>
                </a:solidFill>
                <a:latin typeface="Calibri"/>
              </a:rPr>
              <a:t>: +19% </a:t>
            </a:r>
            <a:r>
              <a:rPr sz="1400" b="0" i="0" dirty="0" err="1">
                <a:solidFill>
                  <a:srgbClr val="000000"/>
                </a:solidFill>
                <a:latin typeface="Calibri"/>
              </a:rPr>
              <a:t>sobre</a:t>
            </a:r>
            <a:r>
              <a:rPr sz="1400" b="0" i="0" dirty="0">
                <a:solidFill>
                  <a:srgbClr val="000000"/>
                </a:solidFill>
                <a:latin typeface="Calibri"/>
              </a:rPr>
              <a:t> V1. Base </a:t>
            </a:r>
            <a:r>
              <a:rPr sz="1400" b="0" i="0" dirty="0" err="1">
                <a:solidFill>
                  <a:srgbClr val="000000"/>
                </a:solidFill>
                <a:latin typeface="Calibri"/>
              </a:rPr>
              <a:t>imprescindible</a:t>
            </a:r>
            <a:r>
              <a:rPr sz="1400" b="0" i="0" dirty="0">
                <a:solidFill>
                  <a:srgbClr val="000000"/>
                </a:solidFill>
                <a:latin typeface="Calibri"/>
              </a:rPr>
              <a:t> para las </a:t>
            </a:r>
            <a:r>
              <a:rPr sz="1400" b="0" i="0" dirty="0" err="1">
                <a:solidFill>
                  <a:srgbClr val="000000"/>
                </a:solidFill>
                <a:latin typeface="Calibri"/>
              </a:rPr>
              <a:t>versiones</a:t>
            </a:r>
            <a:r>
              <a:rPr sz="1400" b="0" i="0" dirty="0">
                <a:solidFill>
                  <a:srgbClr val="000000"/>
                </a:solidFill>
                <a:latin typeface="Calibri"/>
              </a:rPr>
              <a:t> </a:t>
            </a:r>
            <a:r>
              <a:rPr sz="1400" b="0" i="0" dirty="0" err="1">
                <a:solidFill>
                  <a:srgbClr val="000000"/>
                </a:solidFill>
                <a:latin typeface="Calibri"/>
              </a:rPr>
              <a:t>paralelas</a:t>
            </a:r>
            <a:r>
              <a:rPr sz="1400" b="0" i="0" dirty="0">
                <a:solidFill>
                  <a:srgbClr val="000000"/>
                </a:solidFill>
                <a:latin typeface="Calibri"/>
              </a:rPr>
              <a:t>.</a:t>
            </a:r>
          </a:p>
        </p:txBody>
      </p:sp>
      <p:sp>
        <p:nvSpPr>
          <p:cNvPr id="8" name="Rectangle 7"/>
          <p:cNvSpPr/>
          <p:nvPr/>
        </p:nvSpPr>
        <p:spPr>
          <a:xfrm>
            <a:off x="6263640" y="1170432"/>
            <a:ext cx="5669280" cy="1097280"/>
          </a:xfrm>
          <a:prstGeom prst="rect">
            <a:avLst/>
          </a:prstGeom>
          <a:solidFill>
            <a:srgbClr val="F2F2F2"/>
          </a:solidFill>
          <a:ln w="9525">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263640" y="1170432"/>
            <a:ext cx="5669280" cy="27432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73368" y="1133630"/>
            <a:ext cx="5486400" cy="338554"/>
          </a:xfrm>
          <a:prstGeom prst="rect">
            <a:avLst/>
          </a:prstGeom>
          <a:noFill/>
        </p:spPr>
        <p:txBody>
          <a:bodyPr wrap="square">
            <a:spAutoFit/>
          </a:bodyPr>
          <a:lstStyle/>
          <a:p>
            <a:pPr algn="l"/>
            <a:r>
              <a:rPr sz="1600" b="1" i="0" dirty="0">
                <a:solidFill>
                  <a:srgbClr val="FFFFFF"/>
                </a:solidFill>
                <a:latin typeface="Calibri"/>
              </a:rPr>
              <a:t>V3 · OpenMP</a:t>
            </a:r>
          </a:p>
        </p:txBody>
      </p:sp>
      <p:sp>
        <p:nvSpPr>
          <p:cNvPr id="11" name="TextBox 10"/>
          <p:cNvSpPr txBox="1"/>
          <p:nvPr/>
        </p:nvSpPr>
        <p:spPr>
          <a:xfrm>
            <a:off x="6373368" y="1517904"/>
            <a:ext cx="5486400" cy="523220"/>
          </a:xfrm>
          <a:prstGeom prst="rect">
            <a:avLst/>
          </a:prstGeom>
          <a:noFill/>
        </p:spPr>
        <p:txBody>
          <a:bodyPr wrap="square">
            <a:spAutoFit/>
          </a:bodyPr>
          <a:lstStyle/>
          <a:p>
            <a:pPr algn="l"/>
            <a:r>
              <a:rPr sz="1400" b="0" i="0" dirty="0">
                <a:solidFill>
                  <a:srgbClr val="000000"/>
                </a:solidFill>
                <a:latin typeface="Calibri"/>
              </a:rPr>
              <a:t>Speedup 6.27× con 8 </a:t>
            </a:r>
            <a:r>
              <a:rPr sz="1400" b="0" i="0" dirty="0" err="1">
                <a:solidFill>
                  <a:srgbClr val="000000"/>
                </a:solidFill>
                <a:latin typeface="Calibri"/>
              </a:rPr>
              <a:t>hilos</a:t>
            </a:r>
            <a:r>
              <a:rPr sz="1400" b="0" i="0" dirty="0">
                <a:solidFill>
                  <a:srgbClr val="000000"/>
                </a:solidFill>
                <a:latin typeface="Calibri"/>
              </a:rPr>
              <a:t>. </a:t>
            </a:r>
            <a:r>
              <a:rPr sz="1400" b="0" i="0" dirty="0" err="1">
                <a:solidFill>
                  <a:srgbClr val="000000"/>
                </a:solidFill>
                <a:latin typeface="Calibri"/>
              </a:rPr>
              <a:t>Paralelismo</a:t>
            </a:r>
            <a:r>
              <a:rPr sz="1400" b="0" i="0" dirty="0">
                <a:solidFill>
                  <a:srgbClr val="000000"/>
                </a:solidFill>
                <a:latin typeface="Calibri"/>
              </a:rPr>
              <a:t> TLP </a:t>
            </a:r>
            <a:r>
              <a:rPr sz="1400" b="0" i="0" dirty="0" err="1">
                <a:solidFill>
                  <a:srgbClr val="000000"/>
                </a:solidFill>
                <a:latin typeface="Calibri"/>
              </a:rPr>
              <a:t>eficiente</a:t>
            </a:r>
            <a:r>
              <a:rPr sz="1400" b="0" i="0" dirty="0">
                <a:solidFill>
                  <a:srgbClr val="000000"/>
                </a:solidFill>
                <a:latin typeface="Calibri"/>
              </a:rPr>
              <a:t>. schedule(static) </a:t>
            </a:r>
            <a:r>
              <a:rPr sz="1400" b="0" i="0" dirty="0" err="1">
                <a:solidFill>
                  <a:srgbClr val="000000"/>
                </a:solidFill>
                <a:latin typeface="Calibri"/>
              </a:rPr>
              <a:t>adecuado</a:t>
            </a:r>
            <a:r>
              <a:rPr sz="1400" b="0" i="0" dirty="0">
                <a:solidFill>
                  <a:srgbClr val="000000"/>
                </a:solidFill>
                <a:latin typeface="Calibri"/>
              </a:rPr>
              <a:t> para carga </a:t>
            </a:r>
            <a:r>
              <a:rPr sz="1400" b="0" i="0" dirty="0" err="1">
                <a:solidFill>
                  <a:srgbClr val="000000"/>
                </a:solidFill>
                <a:latin typeface="Calibri"/>
              </a:rPr>
              <a:t>uniforme</a:t>
            </a:r>
            <a:r>
              <a:rPr sz="1400" b="0" i="0" dirty="0">
                <a:solidFill>
                  <a:srgbClr val="000000"/>
                </a:solidFill>
                <a:latin typeface="Calibri"/>
              </a:rPr>
              <a:t>.</a:t>
            </a:r>
          </a:p>
        </p:txBody>
      </p:sp>
      <p:sp>
        <p:nvSpPr>
          <p:cNvPr id="12" name="Rectangle 11"/>
          <p:cNvSpPr/>
          <p:nvPr/>
        </p:nvSpPr>
        <p:spPr>
          <a:xfrm>
            <a:off x="365760" y="2834640"/>
            <a:ext cx="5669280" cy="1097280"/>
          </a:xfrm>
          <a:prstGeom prst="rect">
            <a:avLst/>
          </a:prstGeom>
          <a:solidFill>
            <a:srgbClr val="D6E4F7"/>
          </a:solidFill>
          <a:ln w="9525">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65760" y="2834640"/>
            <a:ext cx="5669280" cy="27432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5488" y="2817911"/>
            <a:ext cx="5486400" cy="338554"/>
          </a:xfrm>
          <a:prstGeom prst="rect">
            <a:avLst/>
          </a:prstGeom>
          <a:noFill/>
        </p:spPr>
        <p:txBody>
          <a:bodyPr wrap="square">
            <a:spAutoFit/>
          </a:bodyPr>
          <a:lstStyle/>
          <a:p>
            <a:pPr algn="l"/>
            <a:r>
              <a:rPr lang="es-ES" sz="1600" b="1" i="0" dirty="0">
                <a:solidFill>
                  <a:srgbClr val="FFFFFF"/>
                </a:solidFill>
                <a:latin typeface="Calibri"/>
              </a:rPr>
              <a:t>V4 · MPI</a:t>
            </a:r>
            <a:endParaRPr sz="1600" b="1" i="0" dirty="0">
              <a:solidFill>
                <a:srgbClr val="FFFFFF"/>
              </a:solidFill>
              <a:latin typeface="Calibri"/>
            </a:endParaRPr>
          </a:p>
        </p:txBody>
      </p:sp>
      <p:sp>
        <p:nvSpPr>
          <p:cNvPr id="15" name="TextBox 14"/>
          <p:cNvSpPr txBox="1"/>
          <p:nvPr/>
        </p:nvSpPr>
        <p:spPr>
          <a:xfrm>
            <a:off x="475488" y="3182112"/>
            <a:ext cx="5486400" cy="523220"/>
          </a:xfrm>
          <a:prstGeom prst="rect">
            <a:avLst/>
          </a:prstGeom>
          <a:noFill/>
        </p:spPr>
        <p:txBody>
          <a:bodyPr wrap="square">
            <a:spAutoFit/>
          </a:bodyPr>
          <a:lstStyle/>
          <a:p>
            <a:pPr algn="l"/>
            <a:r>
              <a:rPr sz="1400" b="0" i="0" dirty="0">
                <a:solidFill>
                  <a:srgbClr val="000000"/>
                </a:solidFill>
                <a:latin typeface="Calibri"/>
              </a:rPr>
              <a:t>Speedup similar a OMP (6.19×) con 8 </a:t>
            </a:r>
            <a:r>
              <a:rPr sz="1400" b="0" i="0" dirty="0" err="1">
                <a:solidFill>
                  <a:srgbClr val="000000"/>
                </a:solidFill>
                <a:latin typeface="Calibri"/>
              </a:rPr>
              <a:t>procesos</a:t>
            </a:r>
            <a:r>
              <a:rPr sz="1400" b="0" i="0" dirty="0">
                <a:solidFill>
                  <a:srgbClr val="000000"/>
                </a:solidFill>
                <a:latin typeface="Calibri"/>
              </a:rPr>
              <a:t>. </a:t>
            </a:r>
            <a:r>
              <a:rPr sz="1400" b="0" i="0" dirty="0" err="1">
                <a:solidFill>
                  <a:srgbClr val="000000"/>
                </a:solidFill>
                <a:latin typeface="Calibri"/>
              </a:rPr>
              <a:t>Escalable</a:t>
            </a:r>
            <a:r>
              <a:rPr sz="1400" b="0" i="0" dirty="0">
                <a:solidFill>
                  <a:srgbClr val="000000"/>
                </a:solidFill>
                <a:latin typeface="Calibri"/>
              </a:rPr>
              <a:t> a </a:t>
            </a:r>
            <a:r>
              <a:rPr sz="1400" b="0" i="0" dirty="0" err="1">
                <a:solidFill>
                  <a:srgbClr val="000000"/>
                </a:solidFill>
                <a:latin typeface="Calibri"/>
              </a:rPr>
              <a:t>múltiples</a:t>
            </a:r>
            <a:r>
              <a:rPr sz="1400" b="0" i="0" dirty="0">
                <a:solidFill>
                  <a:srgbClr val="000000"/>
                </a:solidFill>
                <a:latin typeface="Calibri"/>
              </a:rPr>
              <a:t> </a:t>
            </a:r>
            <a:r>
              <a:rPr sz="1400" b="0" i="0" dirty="0" err="1">
                <a:solidFill>
                  <a:srgbClr val="000000"/>
                </a:solidFill>
                <a:latin typeface="Calibri"/>
              </a:rPr>
              <a:t>nodos</a:t>
            </a:r>
            <a:r>
              <a:rPr sz="1400" b="0" i="0" dirty="0">
                <a:solidFill>
                  <a:srgbClr val="000000"/>
                </a:solidFill>
                <a:latin typeface="Calibri"/>
              </a:rPr>
              <a:t>; la </a:t>
            </a:r>
            <a:r>
              <a:rPr sz="1400" b="0" i="0" dirty="0" err="1">
                <a:solidFill>
                  <a:srgbClr val="000000"/>
                </a:solidFill>
                <a:latin typeface="Calibri"/>
              </a:rPr>
              <a:t>sobrecarga</a:t>
            </a:r>
            <a:r>
              <a:rPr sz="1400" b="0" i="0" dirty="0">
                <a:solidFill>
                  <a:srgbClr val="000000"/>
                </a:solidFill>
                <a:latin typeface="Calibri"/>
              </a:rPr>
              <a:t> de </a:t>
            </a:r>
            <a:r>
              <a:rPr sz="1400" b="0" i="0" dirty="0" err="1">
                <a:solidFill>
                  <a:srgbClr val="000000"/>
                </a:solidFill>
                <a:latin typeface="Calibri"/>
              </a:rPr>
              <a:t>comunicación</a:t>
            </a:r>
            <a:r>
              <a:rPr sz="1400" b="0" i="0" dirty="0">
                <a:solidFill>
                  <a:srgbClr val="000000"/>
                </a:solidFill>
                <a:latin typeface="Calibri"/>
              </a:rPr>
              <a:t> </a:t>
            </a:r>
            <a:r>
              <a:rPr sz="1400" b="0" i="0" dirty="0" err="1">
                <a:solidFill>
                  <a:srgbClr val="000000"/>
                </a:solidFill>
                <a:latin typeface="Calibri"/>
              </a:rPr>
              <a:t>limita</a:t>
            </a:r>
            <a:r>
              <a:rPr sz="1400" b="0" i="0" dirty="0">
                <a:solidFill>
                  <a:srgbClr val="000000"/>
                </a:solidFill>
                <a:latin typeface="Calibri"/>
              </a:rPr>
              <a:t> </a:t>
            </a:r>
            <a:r>
              <a:rPr sz="1400" b="0" i="0" dirty="0" err="1">
                <a:solidFill>
                  <a:srgbClr val="000000"/>
                </a:solidFill>
                <a:latin typeface="Calibri"/>
              </a:rPr>
              <a:t>más</a:t>
            </a:r>
            <a:r>
              <a:rPr sz="1400" b="0" i="0" dirty="0">
                <a:solidFill>
                  <a:srgbClr val="000000"/>
                </a:solidFill>
                <a:latin typeface="Calibri"/>
              </a:rPr>
              <a:t> </a:t>
            </a:r>
            <a:r>
              <a:rPr sz="1400" b="0" i="0" dirty="0" err="1">
                <a:solidFill>
                  <a:srgbClr val="000000"/>
                </a:solidFill>
                <a:latin typeface="Calibri"/>
              </a:rPr>
              <a:t>que</a:t>
            </a:r>
            <a:r>
              <a:rPr sz="1400" b="0" i="0" dirty="0">
                <a:solidFill>
                  <a:srgbClr val="000000"/>
                </a:solidFill>
                <a:latin typeface="Calibri"/>
              </a:rPr>
              <a:t> OMP.</a:t>
            </a:r>
          </a:p>
        </p:txBody>
      </p:sp>
      <p:sp>
        <p:nvSpPr>
          <p:cNvPr id="16" name="Rectangle 15"/>
          <p:cNvSpPr/>
          <p:nvPr/>
        </p:nvSpPr>
        <p:spPr>
          <a:xfrm>
            <a:off x="6263640" y="2834640"/>
            <a:ext cx="5669280" cy="1097280"/>
          </a:xfrm>
          <a:prstGeom prst="rect">
            <a:avLst/>
          </a:prstGeom>
          <a:solidFill>
            <a:srgbClr val="F2F2F2"/>
          </a:solidFill>
          <a:ln w="9525">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263640" y="2834640"/>
            <a:ext cx="5669280" cy="27432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55080" y="2806982"/>
            <a:ext cx="5486400" cy="338554"/>
          </a:xfrm>
          <a:prstGeom prst="rect">
            <a:avLst/>
          </a:prstGeom>
          <a:noFill/>
        </p:spPr>
        <p:txBody>
          <a:bodyPr wrap="square">
            <a:spAutoFit/>
          </a:bodyPr>
          <a:lstStyle/>
          <a:p>
            <a:pPr algn="l"/>
            <a:r>
              <a:rPr sz="1600" b="1" i="0" dirty="0">
                <a:solidFill>
                  <a:srgbClr val="FFFFFF"/>
                </a:solidFill>
                <a:latin typeface="Calibri"/>
              </a:rPr>
              <a:t>V5 · MPI + OpenMP</a:t>
            </a:r>
          </a:p>
        </p:txBody>
      </p:sp>
      <p:sp>
        <p:nvSpPr>
          <p:cNvPr id="19" name="TextBox 18"/>
          <p:cNvSpPr txBox="1"/>
          <p:nvPr/>
        </p:nvSpPr>
        <p:spPr>
          <a:xfrm>
            <a:off x="6373368" y="3182112"/>
            <a:ext cx="5486400" cy="523220"/>
          </a:xfrm>
          <a:prstGeom prst="rect">
            <a:avLst/>
          </a:prstGeom>
          <a:noFill/>
        </p:spPr>
        <p:txBody>
          <a:bodyPr wrap="square">
            <a:spAutoFit/>
          </a:bodyPr>
          <a:lstStyle/>
          <a:p>
            <a:pPr algn="l"/>
            <a:r>
              <a:rPr sz="1400" b="0" i="0" dirty="0">
                <a:solidFill>
                  <a:srgbClr val="000000"/>
                </a:solidFill>
                <a:latin typeface="Calibri"/>
              </a:rPr>
              <a:t>Mejor CPU local: 10.32×. </a:t>
            </a:r>
            <a:r>
              <a:rPr sz="1400" b="0" i="0" dirty="0" err="1">
                <a:solidFill>
                  <a:srgbClr val="000000"/>
                </a:solidFill>
                <a:latin typeface="Calibri"/>
              </a:rPr>
              <a:t>Combina</a:t>
            </a:r>
            <a:r>
              <a:rPr sz="1400" b="0" i="0" dirty="0">
                <a:solidFill>
                  <a:srgbClr val="000000"/>
                </a:solidFill>
                <a:latin typeface="Calibri"/>
              </a:rPr>
              <a:t> DLP + TLP. En </a:t>
            </a:r>
            <a:r>
              <a:rPr sz="1400" b="0" i="0" dirty="0" err="1">
                <a:solidFill>
                  <a:srgbClr val="000000"/>
                </a:solidFill>
                <a:latin typeface="Calibri"/>
              </a:rPr>
              <a:t>clúster</a:t>
            </a:r>
            <a:r>
              <a:rPr sz="1400" b="0" i="0" dirty="0">
                <a:solidFill>
                  <a:srgbClr val="000000"/>
                </a:solidFill>
                <a:latin typeface="Calibri"/>
              </a:rPr>
              <a:t> con VMs </a:t>
            </a:r>
            <a:r>
              <a:rPr sz="1400" b="0" i="0" dirty="0" err="1">
                <a:solidFill>
                  <a:srgbClr val="000000"/>
                </a:solidFill>
                <a:latin typeface="Calibri"/>
              </a:rPr>
              <a:t>el</a:t>
            </a:r>
            <a:r>
              <a:rPr sz="1400" b="0" i="0" dirty="0">
                <a:solidFill>
                  <a:srgbClr val="000000"/>
                </a:solidFill>
                <a:latin typeface="Calibri"/>
              </a:rPr>
              <a:t> oversubscription </a:t>
            </a:r>
            <a:r>
              <a:rPr sz="1400" b="0" i="0" dirty="0" err="1">
                <a:solidFill>
                  <a:srgbClr val="000000"/>
                </a:solidFill>
                <a:latin typeface="Calibri"/>
              </a:rPr>
              <a:t>puede</a:t>
            </a:r>
            <a:r>
              <a:rPr sz="1400" b="0" i="0" dirty="0">
                <a:solidFill>
                  <a:srgbClr val="000000"/>
                </a:solidFill>
                <a:latin typeface="Calibri"/>
              </a:rPr>
              <a:t> </a:t>
            </a:r>
            <a:r>
              <a:rPr sz="1400" b="0" i="0" dirty="0" err="1">
                <a:solidFill>
                  <a:srgbClr val="000000"/>
                </a:solidFill>
                <a:latin typeface="Calibri"/>
              </a:rPr>
              <a:t>invertir</a:t>
            </a:r>
            <a:r>
              <a:rPr sz="1400" b="0" i="0" dirty="0">
                <a:solidFill>
                  <a:srgbClr val="000000"/>
                </a:solidFill>
                <a:latin typeface="Calibri"/>
              </a:rPr>
              <a:t> la </a:t>
            </a:r>
            <a:r>
              <a:rPr sz="1400" b="0" i="0" dirty="0" err="1">
                <a:solidFill>
                  <a:srgbClr val="000000"/>
                </a:solidFill>
                <a:latin typeface="Calibri"/>
              </a:rPr>
              <a:t>ganancia</a:t>
            </a:r>
            <a:r>
              <a:rPr sz="1400" b="0" i="0" dirty="0">
                <a:solidFill>
                  <a:srgbClr val="000000"/>
                </a:solidFill>
                <a:latin typeface="Calibri"/>
              </a:rPr>
              <a:t>.</a:t>
            </a:r>
          </a:p>
        </p:txBody>
      </p:sp>
      <p:sp>
        <p:nvSpPr>
          <p:cNvPr id="20" name="Rectangle 19"/>
          <p:cNvSpPr/>
          <p:nvPr/>
        </p:nvSpPr>
        <p:spPr>
          <a:xfrm>
            <a:off x="365760" y="4498848"/>
            <a:ext cx="5669280" cy="1081004"/>
          </a:xfrm>
          <a:prstGeom prst="rect">
            <a:avLst/>
          </a:prstGeom>
          <a:solidFill>
            <a:srgbClr val="D6E4F7"/>
          </a:solidFill>
          <a:ln w="9525">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65760" y="4498848"/>
            <a:ext cx="5669280" cy="27432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75488" y="4488215"/>
            <a:ext cx="5486400" cy="338554"/>
          </a:xfrm>
          <a:prstGeom prst="rect">
            <a:avLst/>
          </a:prstGeom>
          <a:noFill/>
        </p:spPr>
        <p:txBody>
          <a:bodyPr wrap="square">
            <a:spAutoFit/>
          </a:bodyPr>
          <a:lstStyle/>
          <a:p>
            <a:pPr algn="l"/>
            <a:r>
              <a:rPr sz="1600" b="1" i="0" dirty="0">
                <a:solidFill>
                  <a:srgbClr val="FFFFFF"/>
                </a:solidFill>
                <a:latin typeface="Calibri"/>
              </a:rPr>
              <a:t>V6 · CUDA</a:t>
            </a:r>
          </a:p>
        </p:txBody>
      </p:sp>
      <p:sp>
        <p:nvSpPr>
          <p:cNvPr id="23" name="TextBox 22"/>
          <p:cNvSpPr txBox="1"/>
          <p:nvPr/>
        </p:nvSpPr>
        <p:spPr>
          <a:xfrm>
            <a:off x="475488" y="4846320"/>
            <a:ext cx="5486400" cy="523220"/>
          </a:xfrm>
          <a:prstGeom prst="rect">
            <a:avLst/>
          </a:prstGeom>
          <a:noFill/>
        </p:spPr>
        <p:txBody>
          <a:bodyPr wrap="square">
            <a:spAutoFit/>
          </a:bodyPr>
          <a:lstStyle/>
          <a:p>
            <a:pPr algn="l"/>
            <a:r>
              <a:rPr sz="1400" b="0" i="0" dirty="0" err="1">
                <a:solidFill>
                  <a:srgbClr val="000000"/>
                </a:solidFill>
                <a:latin typeface="Calibri"/>
              </a:rPr>
              <a:t>Aceleración</a:t>
            </a:r>
            <a:r>
              <a:rPr sz="1400" b="0" i="0" dirty="0">
                <a:solidFill>
                  <a:srgbClr val="000000"/>
                </a:solidFill>
                <a:latin typeface="Calibri"/>
              </a:rPr>
              <a:t> 106×. El </a:t>
            </a:r>
            <a:r>
              <a:rPr sz="1400" b="0" i="0" dirty="0" err="1">
                <a:solidFill>
                  <a:srgbClr val="000000"/>
                </a:solidFill>
                <a:latin typeface="Calibri"/>
              </a:rPr>
              <a:t>paralelismo</a:t>
            </a:r>
            <a:r>
              <a:rPr sz="1400" b="0" i="0" dirty="0">
                <a:solidFill>
                  <a:srgbClr val="000000"/>
                </a:solidFill>
                <a:latin typeface="Calibri"/>
              </a:rPr>
              <a:t> </a:t>
            </a:r>
            <a:r>
              <a:rPr sz="1400" b="0" i="0" dirty="0" err="1">
                <a:solidFill>
                  <a:srgbClr val="000000"/>
                </a:solidFill>
                <a:latin typeface="Calibri"/>
              </a:rPr>
              <a:t>masivo</a:t>
            </a:r>
            <a:r>
              <a:rPr sz="1400" b="0" i="0" dirty="0">
                <a:solidFill>
                  <a:srgbClr val="000000"/>
                </a:solidFill>
                <a:latin typeface="Calibri"/>
              </a:rPr>
              <a:t> de GPU </a:t>
            </a:r>
            <a:r>
              <a:rPr sz="1400" b="0" i="0" dirty="0" err="1">
                <a:solidFill>
                  <a:srgbClr val="000000"/>
                </a:solidFill>
                <a:latin typeface="Calibri"/>
              </a:rPr>
              <a:t>supera</a:t>
            </a:r>
            <a:r>
              <a:rPr sz="1400" b="0" i="0" dirty="0">
                <a:solidFill>
                  <a:srgbClr val="000000"/>
                </a:solidFill>
                <a:latin typeface="Calibri"/>
              </a:rPr>
              <a:t> con </a:t>
            </a:r>
            <a:r>
              <a:rPr sz="1400" b="0" i="0" dirty="0" err="1">
                <a:solidFill>
                  <a:srgbClr val="000000"/>
                </a:solidFill>
                <a:latin typeface="Calibri"/>
              </a:rPr>
              <a:t>creces</a:t>
            </a:r>
            <a:r>
              <a:rPr sz="1400" b="0" i="0" dirty="0">
                <a:solidFill>
                  <a:srgbClr val="000000"/>
                </a:solidFill>
                <a:latin typeface="Calibri"/>
              </a:rPr>
              <a:t> </a:t>
            </a:r>
            <a:r>
              <a:rPr sz="1400" b="0" i="0" dirty="0" err="1">
                <a:solidFill>
                  <a:srgbClr val="000000"/>
                </a:solidFill>
                <a:latin typeface="Calibri"/>
              </a:rPr>
              <a:t>cualquier</a:t>
            </a:r>
            <a:r>
              <a:rPr sz="1400" b="0" i="0" dirty="0">
                <a:solidFill>
                  <a:srgbClr val="000000"/>
                </a:solidFill>
                <a:latin typeface="Calibri"/>
              </a:rPr>
              <a:t> </a:t>
            </a:r>
            <a:r>
              <a:rPr sz="1400" b="0" i="0" dirty="0" err="1">
                <a:solidFill>
                  <a:srgbClr val="000000"/>
                </a:solidFill>
                <a:latin typeface="Calibri"/>
              </a:rPr>
              <a:t>solución</a:t>
            </a:r>
            <a:r>
              <a:rPr sz="1400" b="0" i="0" dirty="0">
                <a:solidFill>
                  <a:srgbClr val="000000"/>
                </a:solidFill>
                <a:latin typeface="Calibri"/>
              </a:rPr>
              <a:t> CPU para </a:t>
            </a:r>
            <a:r>
              <a:rPr sz="1400" b="0" i="0" dirty="0" err="1">
                <a:solidFill>
                  <a:srgbClr val="000000"/>
                </a:solidFill>
                <a:latin typeface="Calibri"/>
              </a:rPr>
              <a:t>este</a:t>
            </a:r>
            <a:r>
              <a:rPr sz="1400" b="0" i="0" dirty="0">
                <a:solidFill>
                  <a:srgbClr val="000000"/>
                </a:solidFill>
                <a:latin typeface="Calibri"/>
              </a:rPr>
              <a:t> </a:t>
            </a:r>
            <a:r>
              <a:rPr sz="1400" b="0" i="0" dirty="0" err="1">
                <a:solidFill>
                  <a:srgbClr val="000000"/>
                </a:solidFill>
                <a:latin typeface="Calibri"/>
              </a:rPr>
              <a:t>tipo</a:t>
            </a:r>
            <a:r>
              <a:rPr sz="1400" b="0" i="0" dirty="0">
                <a:solidFill>
                  <a:srgbClr val="000000"/>
                </a:solidFill>
                <a:latin typeface="Calibri"/>
              </a:rPr>
              <a:t> de </a:t>
            </a:r>
            <a:r>
              <a:rPr sz="1400" b="0" i="0" dirty="0" err="1">
                <a:solidFill>
                  <a:srgbClr val="000000"/>
                </a:solidFill>
                <a:latin typeface="Calibri"/>
              </a:rPr>
              <a:t>problema</a:t>
            </a:r>
            <a:r>
              <a:rPr sz="1400" b="0" i="0" dirty="0">
                <a:solidFill>
                  <a:srgbClr val="000000"/>
                </a:solidFill>
                <a:latin typeface="Calibri"/>
              </a:rPr>
              <a:t>.</a:t>
            </a:r>
          </a:p>
        </p:txBody>
      </p:sp>
      <p:sp>
        <p:nvSpPr>
          <p:cNvPr id="24" name="Rectangle 23"/>
          <p:cNvSpPr/>
          <p:nvPr/>
        </p:nvSpPr>
        <p:spPr>
          <a:xfrm>
            <a:off x="6263640" y="4498848"/>
            <a:ext cx="5669280" cy="1097280"/>
          </a:xfrm>
          <a:prstGeom prst="rect">
            <a:avLst/>
          </a:prstGeom>
          <a:solidFill>
            <a:srgbClr val="F2F2F2"/>
          </a:solidFill>
          <a:ln w="9525">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263640" y="4498848"/>
            <a:ext cx="5669280" cy="27432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55080" y="4462272"/>
            <a:ext cx="5486400" cy="338554"/>
          </a:xfrm>
          <a:prstGeom prst="rect">
            <a:avLst/>
          </a:prstGeom>
          <a:noFill/>
        </p:spPr>
        <p:txBody>
          <a:bodyPr wrap="square">
            <a:spAutoFit/>
          </a:bodyPr>
          <a:lstStyle/>
          <a:p>
            <a:pPr algn="l"/>
            <a:r>
              <a:rPr sz="1600" b="1" i="0" dirty="0" err="1">
                <a:solidFill>
                  <a:srgbClr val="FFFFFF"/>
                </a:solidFill>
                <a:latin typeface="Calibri"/>
              </a:rPr>
              <a:t>Lección</a:t>
            </a:r>
            <a:r>
              <a:rPr sz="1600" b="1" i="0" dirty="0">
                <a:solidFill>
                  <a:srgbClr val="FFFFFF"/>
                </a:solidFill>
                <a:latin typeface="Calibri"/>
              </a:rPr>
              <a:t> general</a:t>
            </a:r>
          </a:p>
        </p:txBody>
      </p:sp>
      <p:sp>
        <p:nvSpPr>
          <p:cNvPr id="27" name="TextBox 26"/>
          <p:cNvSpPr txBox="1"/>
          <p:nvPr/>
        </p:nvSpPr>
        <p:spPr>
          <a:xfrm>
            <a:off x="6373368" y="4846320"/>
            <a:ext cx="5486400" cy="523220"/>
          </a:xfrm>
          <a:prstGeom prst="rect">
            <a:avLst/>
          </a:prstGeom>
          <a:noFill/>
        </p:spPr>
        <p:txBody>
          <a:bodyPr wrap="square">
            <a:spAutoFit/>
          </a:bodyPr>
          <a:lstStyle/>
          <a:p>
            <a:pPr algn="l"/>
            <a:r>
              <a:rPr sz="1400" b="0" i="0" dirty="0">
                <a:solidFill>
                  <a:srgbClr val="000000"/>
                </a:solidFill>
                <a:latin typeface="Calibri"/>
              </a:rPr>
              <a:t>Más </a:t>
            </a:r>
            <a:r>
              <a:rPr sz="1400" b="0" i="0" dirty="0" err="1">
                <a:solidFill>
                  <a:srgbClr val="000000"/>
                </a:solidFill>
                <a:latin typeface="Calibri"/>
              </a:rPr>
              <a:t>paralelismo</a:t>
            </a:r>
            <a:r>
              <a:rPr sz="1400" b="0" i="0" dirty="0">
                <a:solidFill>
                  <a:srgbClr val="000000"/>
                </a:solidFill>
                <a:latin typeface="Calibri"/>
              </a:rPr>
              <a:t> ≠ </a:t>
            </a:r>
            <a:r>
              <a:rPr sz="1400" b="0" i="0" dirty="0" err="1">
                <a:solidFill>
                  <a:srgbClr val="000000"/>
                </a:solidFill>
                <a:latin typeface="Calibri"/>
              </a:rPr>
              <a:t>más</a:t>
            </a:r>
            <a:r>
              <a:rPr sz="1400" b="0" i="0" dirty="0">
                <a:solidFill>
                  <a:srgbClr val="000000"/>
                </a:solidFill>
                <a:latin typeface="Calibri"/>
              </a:rPr>
              <a:t> </a:t>
            </a:r>
            <a:r>
              <a:rPr sz="1400" b="0" i="0" dirty="0" err="1">
                <a:solidFill>
                  <a:srgbClr val="000000"/>
                </a:solidFill>
                <a:latin typeface="Calibri"/>
              </a:rPr>
              <a:t>velocidad</a:t>
            </a:r>
            <a:r>
              <a:rPr sz="1400" b="0" i="0" dirty="0">
                <a:solidFill>
                  <a:srgbClr val="000000"/>
                </a:solidFill>
                <a:latin typeface="Calibri"/>
              </a:rPr>
              <a:t> </a:t>
            </a:r>
            <a:r>
              <a:rPr sz="1400" b="0" i="0" dirty="0" err="1">
                <a:solidFill>
                  <a:srgbClr val="000000"/>
                </a:solidFill>
                <a:latin typeface="Calibri"/>
              </a:rPr>
              <a:t>siempre</a:t>
            </a:r>
            <a:r>
              <a:rPr sz="1400" b="0" i="0" dirty="0">
                <a:solidFill>
                  <a:srgbClr val="000000"/>
                </a:solidFill>
                <a:latin typeface="Calibri"/>
              </a:rPr>
              <a:t>. La </a:t>
            </a:r>
            <a:r>
              <a:rPr sz="1400" b="0" i="0" dirty="0" err="1">
                <a:solidFill>
                  <a:srgbClr val="000000"/>
                </a:solidFill>
                <a:latin typeface="Calibri"/>
              </a:rPr>
              <a:t>plataforma</a:t>
            </a:r>
            <a:r>
              <a:rPr sz="1400" b="0" i="0" dirty="0">
                <a:solidFill>
                  <a:srgbClr val="000000"/>
                </a:solidFill>
                <a:latin typeface="Calibri"/>
              </a:rPr>
              <a:t>, </a:t>
            </a:r>
            <a:r>
              <a:rPr sz="1400" b="0" i="0" dirty="0" err="1">
                <a:solidFill>
                  <a:srgbClr val="000000"/>
                </a:solidFill>
                <a:latin typeface="Calibri"/>
              </a:rPr>
              <a:t>el</a:t>
            </a:r>
            <a:r>
              <a:rPr sz="1400" b="0" i="0" dirty="0">
                <a:solidFill>
                  <a:srgbClr val="000000"/>
                </a:solidFill>
                <a:latin typeface="Calibri"/>
              </a:rPr>
              <a:t> ancho de </a:t>
            </a:r>
            <a:r>
              <a:rPr sz="1400" b="0" i="0" dirty="0" err="1">
                <a:solidFill>
                  <a:srgbClr val="000000"/>
                </a:solidFill>
                <a:latin typeface="Calibri"/>
              </a:rPr>
              <a:t>banda</a:t>
            </a:r>
            <a:r>
              <a:rPr sz="1400" b="0" i="0" dirty="0">
                <a:solidFill>
                  <a:srgbClr val="000000"/>
                </a:solidFill>
                <a:latin typeface="Calibri"/>
              </a:rPr>
              <a:t> de memoria y </a:t>
            </a:r>
            <a:r>
              <a:rPr sz="1400" b="0" i="0" dirty="0" err="1">
                <a:solidFill>
                  <a:srgbClr val="000000"/>
                </a:solidFill>
                <a:latin typeface="Calibri"/>
              </a:rPr>
              <a:t>los</a:t>
            </a:r>
            <a:r>
              <a:rPr sz="1400" b="0" i="0" dirty="0">
                <a:solidFill>
                  <a:srgbClr val="000000"/>
                </a:solidFill>
                <a:latin typeface="Calibri"/>
              </a:rPr>
              <a:t> </a:t>
            </a:r>
            <a:r>
              <a:rPr sz="1400" b="0" i="0" dirty="0" err="1">
                <a:solidFill>
                  <a:srgbClr val="000000"/>
                </a:solidFill>
                <a:latin typeface="Calibri"/>
              </a:rPr>
              <a:t>costes</a:t>
            </a:r>
            <a:r>
              <a:rPr sz="1400" b="0" i="0" dirty="0">
                <a:solidFill>
                  <a:srgbClr val="000000"/>
                </a:solidFill>
                <a:latin typeface="Calibri"/>
              </a:rPr>
              <a:t> de </a:t>
            </a:r>
            <a:r>
              <a:rPr sz="1400" b="0" i="0" dirty="0" err="1">
                <a:solidFill>
                  <a:srgbClr val="000000"/>
                </a:solidFill>
                <a:latin typeface="Calibri"/>
              </a:rPr>
              <a:t>coordinación</a:t>
            </a:r>
            <a:r>
              <a:rPr sz="1400" b="0" i="0" dirty="0">
                <a:solidFill>
                  <a:srgbClr val="000000"/>
                </a:solidFill>
                <a:latin typeface="Calibri"/>
              </a:rPr>
              <a:t> son </a:t>
            </a:r>
            <a:r>
              <a:rPr sz="1400" b="0" i="0" dirty="0" err="1">
                <a:solidFill>
                  <a:srgbClr val="000000"/>
                </a:solidFill>
                <a:latin typeface="Calibri"/>
              </a:rPr>
              <a:t>determinantes</a:t>
            </a:r>
            <a:r>
              <a:rPr sz="1400" b="0" i="0" dirty="0">
                <a:solidFill>
                  <a:srgbClr val="000000"/>
                </a:solidFill>
                <a:latin typeface="Calibri"/>
              </a:rPr>
              <a:t>.</a:t>
            </a:r>
          </a:p>
        </p:txBody>
      </p:sp>
      <p:sp>
        <p:nvSpPr>
          <p:cNvPr id="28" name="Rectangle 27"/>
          <p:cNvSpPr/>
          <p:nvPr/>
        </p:nvSpPr>
        <p:spPr>
          <a:xfrm>
            <a:off x="411480" y="5877032"/>
            <a:ext cx="11430000" cy="41148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11480" y="5909036"/>
            <a:ext cx="11247120" cy="307777"/>
          </a:xfrm>
          <a:prstGeom prst="rect">
            <a:avLst/>
          </a:prstGeom>
          <a:noFill/>
        </p:spPr>
        <p:txBody>
          <a:bodyPr wrap="square">
            <a:spAutoFit/>
          </a:bodyPr>
          <a:lstStyle/>
          <a:p>
            <a:pPr algn="ctr"/>
            <a:r>
              <a:rPr sz="1400" b="1" i="0" dirty="0">
                <a:solidFill>
                  <a:srgbClr val="FFFFFF"/>
                </a:solidFill>
                <a:latin typeface="Calibri"/>
              </a:rPr>
              <a:t>El Juego de la Vida </a:t>
            </a:r>
            <a:r>
              <a:rPr sz="1400" b="1" i="0" dirty="0" err="1">
                <a:solidFill>
                  <a:srgbClr val="FFFFFF"/>
                </a:solidFill>
                <a:latin typeface="Calibri"/>
              </a:rPr>
              <a:t>demuestra</a:t>
            </a:r>
            <a:r>
              <a:rPr sz="1400" b="1" i="0" dirty="0">
                <a:solidFill>
                  <a:srgbClr val="FFFFFF"/>
                </a:solidFill>
                <a:latin typeface="Calibri"/>
              </a:rPr>
              <a:t>, </a:t>
            </a:r>
            <a:r>
              <a:rPr sz="1400" b="1" i="0" dirty="0" err="1">
                <a:solidFill>
                  <a:srgbClr val="FFFFFF"/>
                </a:solidFill>
                <a:latin typeface="Calibri"/>
              </a:rPr>
              <a:t>en</a:t>
            </a:r>
            <a:r>
              <a:rPr sz="1400" b="1" i="0" dirty="0">
                <a:solidFill>
                  <a:srgbClr val="FFFFFF"/>
                </a:solidFill>
                <a:latin typeface="Calibri"/>
              </a:rPr>
              <a:t> un </a:t>
            </a:r>
            <a:r>
              <a:rPr sz="1400" b="1" i="0" dirty="0" err="1">
                <a:solidFill>
                  <a:srgbClr val="FFFFFF"/>
                </a:solidFill>
                <a:latin typeface="Calibri"/>
              </a:rPr>
              <a:t>problema</a:t>
            </a:r>
            <a:r>
              <a:rPr sz="1400" b="1" i="0" dirty="0">
                <a:solidFill>
                  <a:srgbClr val="FFFFFF"/>
                </a:solidFill>
                <a:latin typeface="Calibri"/>
              </a:rPr>
              <a:t> </a:t>
            </a:r>
            <a:r>
              <a:rPr sz="1400" b="1" i="0" dirty="0" err="1">
                <a:solidFill>
                  <a:srgbClr val="FFFFFF"/>
                </a:solidFill>
                <a:latin typeface="Calibri"/>
              </a:rPr>
              <a:t>sencillo</a:t>
            </a:r>
            <a:r>
              <a:rPr sz="1400" b="1" i="0" dirty="0">
                <a:solidFill>
                  <a:srgbClr val="FFFFFF"/>
                </a:solidFill>
                <a:latin typeface="Calibri"/>
              </a:rPr>
              <a:t>, </a:t>
            </a:r>
            <a:r>
              <a:rPr sz="1400" b="1" i="0" dirty="0" err="1">
                <a:solidFill>
                  <a:srgbClr val="FFFFFF"/>
                </a:solidFill>
                <a:latin typeface="Calibri"/>
              </a:rPr>
              <a:t>todos</a:t>
            </a:r>
            <a:r>
              <a:rPr sz="1400" b="1" i="0" dirty="0">
                <a:solidFill>
                  <a:srgbClr val="FFFFFF"/>
                </a:solidFill>
                <a:latin typeface="Calibri"/>
              </a:rPr>
              <a:t> </a:t>
            </a:r>
            <a:r>
              <a:rPr sz="1400" b="1" i="0" dirty="0" err="1">
                <a:solidFill>
                  <a:srgbClr val="FFFFFF"/>
                </a:solidFill>
                <a:latin typeface="Calibri"/>
              </a:rPr>
              <a:t>los</a:t>
            </a:r>
            <a:r>
              <a:rPr sz="1400" b="1" i="0" dirty="0">
                <a:solidFill>
                  <a:srgbClr val="FFFFFF"/>
                </a:solidFill>
                <a:latin typeface="Calibri"/>
              </a:rPr>
              <a:t> </a:t>
            </a:r>
            <a:r>
              <a:rPr sz="1400" b="1" i="0" dirty="0" err="1">
                <a:solidFill>
                  <a:srgbClr val="FFFFFF"/>
                </a:solidFill>
                <a:latin typeface="Calibri"/>
              </a:rPr>
              <a:t>niveles</a:t>
            </a:r>
            <a:r>
              <a:rPr sz="1400" b="1" i="0" dirty="0">
                <a:solidFill>
                  <a:srgbClr val="FFFFFF"/>
                </a:solidFill>
                <a:latin typeface="Calibri"/>
              </a:rPr>
              <a:t> de </a:t>
            </a:r>
            <a:r>
              <a:rPr sz="1400" b="1" i="0" dirty="0" err="1">
                <a:solidFill>
                  <a:srgbClr val="FFFFFF"/>
                </a:solidFill>
                <a:latin typeface="Calibri"/>
              </a:rPr>
              <a:t>paralelismo</a:t>
            </a:r>
            <a:r>
              <a:rPr sz="1400" b="1" i="0" dirty="0">
                <a:solidFill>
                  <a:srgbClr val="FFFFFF"/>
                </a:solidFill>
                <a:latin typeface="Calibri"/>
              </a:rPr>
              <a:t>: memoria · </a:t>
            </a:r>
            <a:r>
              <a:rPr sz="1400" b="1" i="0" dirty="0" err="1">
                <a:solidFill>
                  <a:srgbClr val="FFFFFF"/>
                </a:solidFill>
                <a:latin typeface="Calibri"/>
              </a:rPr>
              <a:t>hilos</a:t>
            </a:r>
            <a:r>
              <a:rPr sz="1400" b="1" i="0" dirty="0">
                <a:solidFill>
                  <a:srgbClr val="FFFFFF"/>
                </a:solidFill>
                <a:latin typeface="Calibri"/>
              </a:rPr>
              <a:t> · </a:t>
            </a:r>
            <a:r>
              <a:rPr sz="1400" b="1" i="0" dirty="0" err="1">
                <a:solidFill>
                  <a:srgbClr val="FFFFFF"/>
                </a:solidFill>
                <a:latin typeface="Calibri"/>
              </a:rPr>
              <a:t>procesos</a:t>
            </a:r>
            <a:r>
              <a:rPr sz="1400" b="1" i="0" dirty="0">
                <a:solidFill>
                  <a:srgbClr val="FFFFFF"/>
                </a:solidFill>
                <a:latin typeface="Calibri"/>
              </a:rPr>
              <a:t> · GPU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207</TotalTime>
  <Words>7186</Words>
  <Application>Microsoft Office PowerPoint</Application>
  <PresentationFormat>Personalizado</PresentationFormat>
  <Paragraphs>723</Paragraphs>
  <Slides>18</Slides>
  <Notes>17</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18</vt:i4>
      </vt:variant>
    </vt:vector>
  </HeadingPairs>
  <TitlesOfParts>
    <vt:vector size="23" baseType="lpstr">
      <vt:lpstr>Aptos</vt:lpstr>
      <vt:lpstr>Arial</vt:lpstr>
      <vt:lpstr>Calibri</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Aaron López Leal</cp:lastModifiedBy>
  <cp:revision>8</cp:revision>
  <dcterms:created xsi:type="dcterms:W3CDTF">2013-01-27T09:14:16Z</dcterms:created>
  <dcterms:modified xsi:type="dcterms:W3CDTF">2026-05-10T07:16:31Z</dcterms:modified>
  <cp:category/>
</cp:coreProperties>
</file>